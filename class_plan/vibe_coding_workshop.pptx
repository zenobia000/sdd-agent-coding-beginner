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047923" cy="274320"/>
          </a:xfrm>
          <a:prstGeom prst="rect">
            <a:avLst/>
          </a:prstGeom>
          <a:solidFill>
            <a:srgbClr val="F9D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923" y="0"/>
            <a:ext cx="3047923" cy="274320"/>
          </a:xfrm>
          <a:prstGeom prst="rect">
            <a:avLst/>
          </a:prstGeom>
          <a:solidFill>
            <a:srgbClr val="DDCC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847" y="0"/>
            <a:ext cx="3047923" cy="274320"/>
          </a:xfrm>
          <a:prstGeom prst="rect">
            <a:avLst/>
          </a:prstGeom>
          <a:solidFill>
            <a:srgbClr val="FDF0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771" y="0"/>
            <a:ext cx="3047923" cy="274320"/>
          </a:xfrm>
          <a:prstGeom prst="rect">
            <a:avLst/>
          </a:prstGeom>
          <a:solidFill>
            <a:srgbClr val="CCE6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3047923" cy="274320"/>
          </a:xfrm>
          <a:prstGeom prst="rect">
            <a:avLst/>
          </a:prstGeom>
          <a:solidFill>
            <a:srgbClr val="F9D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047923" y="6583680"/>
            <a:ext cx="3047923" cy="274320"/>
          </a:xfrm>
          <a:prstGeom prst="rect">
            <a:avLst/>
          </a:prstGeom>
          <a:solidFill>
            <a:srgbClr val="DDCC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095847" y="6583680"/>
            <a:ext cx="3047923" cy="274320"/>
          </a:xfrm>
          <a:prstGeom prst="rect">
            <a:avLst/>
          </a:prstGeom>
          <a:solidFill>
            <a:srgbClr val="FDF0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143771" y="6583680"/>
            <a:ext cx="3047923" cy="274320"/>
          </a:xfrm>
          <a:prstGeom prst="rect">
            <a:avLst/>
          </a:prstGeom>
          <a:solidFill>
            <a:srgbClr val="CCE6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10972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VIBE CODING · ONE-DAY WORKSHOP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1691640"/>
            <a:ext cx="10698480" cy="10972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6800" b="1" spc="-300">
                <a:solidFill>
                  <a:srgbClr val="111111"/>
                </a:solidFill>
                <a:latin typeface="Microsoft JhengHei"/>
              </a:rPr>
              <a:t>用三個免費工具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651760"/>
            <a:ext cx="10698480" cy="10972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6800" b="1" spc="-300">
                <a:solidFill>
                  <a:srgbClr val="111111"/>
                </a:solidFill>
                <a:latin typeface="Microsoft JhengHei"/>
              </a:rPr>
              <a:t>把你腦中的想法做成可用的小專案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31520" y="429768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731520" y="457200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STAGE 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892040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 spc="-50">
                <a:solidFill>
                  <a:srgbClr val="111111"/>
                </a:solidFill>
                <a:latin typeface="Microsoft JhengHei"/>
              </a:rPr>
              <a:t>Google AI Studio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59" y="457200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STAGE 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0559" y="4892040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 spc="-50">
                <a:solidFill>
                  <a:srgbClr val="111111"/>
                </a:solidFill>
                <a:latin typeface="Microsoft JhengHei"/>
              </a:rPr>
              <a:t>Antigravity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0" y="457200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STAGE 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0" y="4892040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 spc="-50">
                <a:solidFill>
                  <a:srgbClr val="111111"/>
                </a:solidFill>
                <a:latin typeface="Microsoft JhengHei"/>
              </a:rPr>
              <a:t>Gemini CLI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5943600"/>
            <a:ext cx="106984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200">
                <a:solidFill>
                  <a:srgbClr val="8A8A8A"/>
                </a:solidFill>
                <a:latin typeface="Consolas"/>
              </a:rPr>
              <a:t>[ 講師 ] · [ 日期 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M0 · THE HONEST QUESTION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4400" b="1" spc="-150">
                <a:solidFill>
                  <a:srgbClr val="111111"/>
                </a:solidFill>
                <a:latin typeface="Microsoft JhengHei"/>
              </a:rPr>
              <a:t>你是不是也這樣？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31520" y="256032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31520" y="2788920"/>
            <a:ext cx="1069848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0" spc="-30">
                <a:solidFill>
                  <a:srgbClr val="3A3A3A"/>
                </a:solidFill>
                <a:latin typeface="Microsoft JhengHei"/>
              </a:rPr>
              <a:t>「ChatGPT 問過、Gemini 問過，但我還是不會做出任何東西。」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731520" y="3611879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31520" y="3840479"/>
            <a:ext cx="1069848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0" spc="-30">
                <a:solidFill>
                  <a:srgbClr val="3A3A3A"/>
                </a:solidFill>
                <a:latin typeface="Microsoft JhengHei"/>
              </a:rPr>
              <a:t>「我有很多想法，但不會寫程式，也不想學。」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31520" y="466344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31520" y="4892040"/>
            <a:ext cx="1069848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0" spc="-30">
                <a:solidFill>
                  <a:srgbClr val="3A3A3A"/>
                </a:solidFill>
                <a:latin typeface="Microsoft JhengHei"/>
              </a:rPr>
              <a:t>「聽說 Vibe Coding 很紅，但那是工程師的事吧？」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31520" y="571500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M0 · OPENING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02 / 64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047923" cy="274320"/>
          </a:xfrm>
          <a:prstGeom prst="rect">
            <a:avLst/>
          </a:prstGeom>
          <a:solidFill>
            <a:srgbClr val="F9D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923" y="0"/>
            <a:ext cx="3047923" cy="274320"/>
          </a:xfrm>
          <a:prstGeom prst="rect">
            <a:avLst/>
          </a:prstGeom>
          <a:solidFill>
            <a:srgbClr val="DDCC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847" y="0"/>
            <a:ext cx="3047923" cy="274320"/>
          </a:xfrm>
          <a:prstGeom prst="rect">
            <a:avLst/>
          </a:prstGeom>
          <a:solidFill>
            <a:srgbClr val="FDF0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771" y="0"/>
            <a:ext cx="3047923" cy="274320"/>
          </a:xfrm>
          <a:prstGeom prst="rect">
            <a:avLst/>
          </a:prstGeom>
          <a:solidFill>
            <a:srgbClr val="CCE6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0972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TODAY'S PROMISE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554480"/>
            <a:ext cx="1069848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b="0" spc="-30">
                <a:solidFill>
                  <a:srgbClr val="8A8A8A"/>
                </a:solidFill>
                <a:latin typeface="Microsoft JhengHei"/>
              </a:rPr>
              <a:t>今天結束前，你會做出一個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377440"/>
            <a:ext cx="10698480" cy="10972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9000" b="1" spc="-350">
                <a:solidFill>
                  <a:srgbClr val="111111"/>
                </a:solidFill>
                <a:latin typeface="Microsoft JhengHei"/>
              </a:rPr>
              <a:t>可以打開來用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429000"/>
            <a:ext cx="10698480" cy="10972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9000" b="1" spc="-350">
                <a:solidFill>
                  <a:srgbClr val="111111"/>
                </a:solidFill>
                <a:latin typeface="Microsoft JhengHei"/>
              </a:rPr>
              <a:t>可以秀給朋友看的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480560"/>
            <a:ext cx="10698480" cy="10972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9000" b="1" spc="-350">
                <a:solidFill>
                  <a:srgbClr val="111111"/>
                </a:solidFill>
                <a:latin typeface="Microsoft JhengHei"/>
              </a:rPr>
              <a:t>小  專  案。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31520" y="576072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M0 · OPENING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03 / 64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M0 · THE JOURNEY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4400" b="1" spc="-150">
                <a:solidFill>
                  <a:srgbClr val="111111"/>
                </a:solidFill>
                <a:latin typeface="Microsoft JhengHei"/>
              </a:rPr>
              <a:t>三個工具  ·  一條線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65960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8A8A8A"/>
                </a:solidFill>
                <a:latin typeface="Microsoft JhengHei"/>
              </a:rPr>
              <a:t>同一個專案，三個工具輪流接棒。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834640"/>
            <a:ext cx="3383280" cy="27432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E8E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05840" y="3154680"/>
            <a:ext cx="1280160" cy="347472"/>
          </a:xfrm>
          <a:prstGeom prst="roundRect">
            <a:avLst>
              <a:gd name="adj" fmla="val 50000"/>
            </a:avLst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8288" bIns="18288"/>
          <a:lstStyle/>
          <a:p>
            <a:pPr algn="ctr"/>
            <a:r>
              <a:rPr sz="1000" b="1" spc="200">
                <a:solidFill>
                  <a:srgbClr val="FFFFFF"/>
                </a:solidFill>
                <a:latin typeface="Consolas"/>
              </a:rPr>
              <a:t>早上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794760"/>
            <a:ext cx="292608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b="1" spc="-80">
                <a:solidFill>
                  <a:srgbClr val="111111"/>
                </a:solidFill>
                <a:latin typeface="Microsoft JhengHei"/>
              </a:rPr>
              <a:t>AI Studio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526280"/>
            <a:ext cx="292608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-10">
                <a:solidFill>
                  <a:srgbClr val="8A8A8A"/>
                </a:solidFill>
                <a:latin typeface="Microsoft JhengHei"/>
              </a:rPr>
              <a:t>測點子 · 寫 prompt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937760"/>
            <a:ext cx="29260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300">
                <a:solidFill>
                  <a:srgbClr val="8A8A8A"/>
                </a:solidFill>
                <a:latin typeface="Consolas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51960" y="4023360"/>
            <a:ext cx="2286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2200" b="0">
                <a:solidFill>
                  <a:srgbClr val="111111"/>
                </a:solidFill>
                <a:latin typeface="Microsoft JhengHei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80559" y="2834640"/>
            <a:ext cx="3383280" cy="27432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E8E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754879" y="3154680"/>
            <a:ext cx="1280160" cy="347472"/>
          </a:xfrm>
          <a:prstGeom prst="roundRect">
            <a:avLst>
              <a:gd name="adj" fmla="val 50000"/>
            </a:avLst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8288" bIns="18288"/>
          <a:lstStyle/>
          <a:p>
            <a:pPr algn="ctr"/>
            <a:r>
              <a:rPr sz="1000" b="1" spc="200">
                <a:solidFill>
                  <a:srgbClr val="FFFFFF"/>
                </a:solidFill>
                <a:latin typeface="Consolas"/>
              </a:rPr>
              <a:t>下午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79" y="3794760"/>
            <a:ext cx="292608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b="1" spc="-80">
                <a:solidFill>
                  <a:srgbClr val="111111"/>
                </a:solidFill>
                <a:latin typeface="Microsoft JhengHei"/>
              </a:rPr>
              <a:t>Antigravity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79" y="4526280"/>
            <a:ext cx="292608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-10">
                <a:solidFill>
                  <a:srgbClr val="8A8A8A"/>
                </a:solidFill>
                <a:latin typeface="Microsoft JhengHei"/>
              </a:rPr>
              <a:t>做出來 · Vibe Coding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54879" y="4937760"/>
            <a:ext cx="29260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300">
                <a:solidFill>
                  <a:srgbClr val="8A8A8A"/>
                </a:solidFill>
                <a:latin typeface="Consolas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00999" y="4023360"/>
            <a:ext cx="2286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2200" b="0">
                <a:solidFill>
                  <a:srgbClr val="111111"/>
                </a:solidFill>
                <a:latin typeface="Microsoft JhengHei"/>
              </a:rP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0" y="2834640"/>
            <a:ext cx="3383280" cy="27432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E8E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503920" y="3154680"/>
            <a:ext cx="1280160" cy="347472"/>
          </a:xfrm>
          <a:prstGeom prst="roundRect">
            <a:avLst>
              <a:gd name="adj" fmla="val 50000"/>
            </a:avLst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8288" bIns="18288"/>
          <a:lstStyle/>
          <a:p>
            <a:pPr algn="ctr"/>
            <a:r>
              <a:rPr sz="1000" b="1" spc="200">
                <a:solidFill>
                  <a:srgbClr val="FFFFFF"/>
                </a:solidFill>
                <a:latin typeface="Consolas"/>
              </a:rPr>
              <a:t>傍晚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20" y="3794760"/>
            <a:ext cx="292608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b="1" spc="-80">
                <a:solidFill>
                  <a:srgbClr val="111111"/>
                </a:solidFill>
                <a:latin typeface="Microsoft JhengHei"/>
              </a:rPr>
              <a:t>Gemini CLI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0" y="4526280"/>
            <a:ext cx="292608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-10">
                <a:solidFill>
                  <a:srgbClr val="8A8A8A"/>
                </a:solidFill>
                <a:latin typeface="Microsoft JhengHei"/>
              </a:rPr>
              <a:t>自動化 · 下指令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03920" y="4937760"/>
            <a:ext cx="29260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300">
                <a:solidFill>
                  <a:srgbClr val="8A8A8A"/>
                </a:solidFill>
                <a:latin typeface="Consolas"/>
              </a:rPr>
              <a:t>03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M0 · OPENING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04 / 64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M0 · SCHEDULE &amp; RULES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4000" b="1" spc="-130">
                <a:solidFill>
                  <a:srgbClr val="111111"/>
                </a:solidFill>
                <a:latin typeface="Microsoft JhengHei"/>
              </a:rPr>
              <a:t>今日時程  ·  三個規則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31520" y="2286000"/>
            <a:ext cx="621792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31520" y="2423160"/>
            <a:ext cx="914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100">
                <a:solidFill>
                  <a:srgbClr val="111111"/>
                </a:solidFill>
                <a:latin typeface="Consolas"/>
              </a:rPr>
              <a:t>09:00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91640" y="2423160"/>
            <a:ext cx="7315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spc="200">
                <a:solidFill>
                  <a:srgbClr val="8A8A8A"/>
                </a:solidFill>
                <a:latin typeface="Consolas"/>
              </a:rPr>
              <a:t>M0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68880" y="2377440"/>
            <a:ext cx="41148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-20">
                <a:solidFill>
                  <a:srgbClr val="111111"/>
                </a:solidFill>
                <a:latin typeface="Microsoft JhengHei"/>
              </a:rPr>
              <a:t>開場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31520" y="2834640"/>
            <a:ext cx="621792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31520" y="2971800"/>
            <a:ext cx="914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100">
                <a:solidFill>
                  <a:srgbClr val="111111"/>
                </a:solidFill>
                <a:latin typeface="Consolas"/>
              </a:rPr>
              <a:t>09:30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91640" y="2971800"/>
            <a:ext cx="7315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spc="200">
                <a:solidFill>
                  <a:srgbClr val="8A8A8A"/>
                </a:solidFill>
                <a:latin typeface="Consolas"/>
              </a:rPr>
              <a:t>M1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0" y="2926080"/>
            <a:ext cx="41148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-20">
                <a:solidFill>
                  <a:srgbClr val="111111"/>
                </a:solidFill>
                <a:latin typeface="Microsoft JhengHei"/>
              </a:rPr>
              <a:t>找痛點（你今天要做什麼）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31520" y="3383280"/>
            <a:ext cx="621792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731520" y="3520440"/>
            <a:ext cx="914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100">
                <a:solidFill>
                  <a:srgbClr val="111111"/>
                </a:solidFill>
                <a:latin typeface="Consolas"/>
              </a:rPr>
              <a:t>11:00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3520440"/>
            <a:ext cx="7315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spc="200">
                <a:solidFill>
                  <a:srgbClr val="8A8A8A"/>
                </a:solidFill>
                <a:latin typeface="Consolas"/>
              </a:rPr>
              <a:t>M2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68880" y="3474720"/>
            <a:ext cx="41148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-20">
                <a:solidFill>
                  <a:srgbClr val="111111"/>
                </a:solidFill>
                <a:latin typeface="Microsoft JhengHei"/>
              </a:rPr>
              <a:t>STRIKE 戰法 × AI Studio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31520" y="3931920"/>
            <a:ext cx="621792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731520" y="4069080"/>
            <a:ext cx="914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100">
                <a:solidFill>
                  <a:srgbClr val="111111"/>
                </a:solidFill>
                <a:latin typeface="Consolas"/>
              </a:rPr>
              <a:t>13:30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1640" y="4069080"/>
            <a:ext cx="7315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spc="200">
                <a:solidFill>
                  <a:srgbClr val="8A8A8A"/>
                </a:solidFill>
                <a:latin typeface="Consolas"/>
              </a:rPr>
              <a:t>M3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468880" y="4023360"/>
            <a:ext cx="41148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-20">
                <a:solidFill>
                  <a:srgbClr val="111111"/>
                </a:solidFill>
                <a:latin typeface="Microsoft JhengHei"/>
              </a:rPr>
              <a:t>Antigravity Vibe Coding ⭐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31520" y="4480560"/>
            <a:ext cx="621792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731520" y="4617720"/>
            <a:ext cx="914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100">
                <a:solidFill>
                  <a:srgbClr val="111111"/>
                </a:solidFill>
                <a:latin typeface="Consolas"/>
              </a:rPr>
              <a:t>15:40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91640" y="4617720"/>
            <a:ext cx="7315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spc="200">
                <a:solidFill>
                  <a:srgbClr val="8A8A8A"/>
                </a:solidFill>
                <a:latin typeface="Consolas"/>
              </a:rPr>
              <a:t>M4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468880" y="4572000"/>
            <a:ext cx="41148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-20">
                <a:solidFill>
                  <a:srgbClr val="111111"/>
                </a:solidFill>
                <a:latin typeface="Microsoft JhengHei"/>
              </a:rPr>
              <a:t>Gemini CLI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731520" y="5029200"/>
            <a:ext cx="621792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731520" y="5166360"/>
            <a:ext cx="914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100">
                <a:solidFill>
                  <a:srgbClr val="111111"/>
                </a:solidFill>
                <a:latin typeface="Consolas"/>
              </a:rPr>
              <a:t>16:40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691640" y="5166360"/>
            <a:ext cx="7315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spc="200">
                <a:solidFill>
                  <a:srgbClr val="8A8A8A"/>
                </a:solidFill>
                <a:latin typeface="Consolas"/>
              </a:rPr>
              <a:t>M5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468880" y="5120640"/>
            <a:ext cx="41148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-20">
                <a:solidFill>
                  <a:srgbClr val="111111"/>
                </a:solidFill>
                <a:latin typeface="Microsoft JhengHei"/>
              </a:rPr>
              <a:t>部署 + 成果展示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7498079" y="2286000"/>
            <a:ext cx="393192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7498079" y="242316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3 RULES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98079" y="2926080"/>
            <a:ext cx="7315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200">
                <a:solidFill>
                  <a:srgbClr val="8A8A8A"/>
                </a:solidFill>
                <a:latin typeface="Consolas"/>
              </a:rPr>
              <a:t>01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98079" y="3246120"/>
            <a:ext cx="3931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spc="-20">
                <a:solidFill>
                  <a:srgbClr val="111111"/>
                </a:solidFill>
                <a:latin typeface="Microsoft JhengHei"/>
              </a:rPr>
              <a:t>不會的直接舉手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98079" y="3794760"/>
            <a:ext cx="7315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200">
                <a:solidFill>
                  <a:srgbClr val="8A8A8A"/>
                </a:solidFill>
                <a:latin typeface="Consolas"/>
              </a:rPr>
              <a:t>02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98079" y="4114800"/>
            <a:ext cx="3931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spc="-20">
                <a:solidFill>
                  <a:srgbClr val="111111"/>
                </a:solidFill>
                <a:latin typeface="Microsoft JhengHei"/>
              </a:rPr>
              <a:t>做錯沒關係，AI 陪你改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98079" y="4663440"/>
            <a:ext cx="7315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200">
                <a:solidFill>
                  <a:srgbClr val="8A8A8A"/>
                </a:solidFill>
                <a:latin typeface="Consolas"/>
              </a:rPr>
              <a:t>03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98079" y="4983480"/>
            <a:ext cx="3931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spc="-20">
                <a:solidFill>
                  <a:srgbClr val="111111"/>
                </a:solidFill>
                <a:latin typeface="Microsoft JhengHei"/>
              </a:rPr>
              <a:t>下課前能對朋友秀一個東西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M0 · OPENING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05 / 64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91840"/>
            <a:ext cx="3047923" cy="137160"/>
          </a:xfrm>
          <a:prstGeom prst="rect">
            <a:avLst/>
          </a:prstGeom>
          <a:solidFill>
            <a:srgbClr val="F9D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923" y="3291840"/>
            <a:ext cx="3047923" cy="137160"/>
          </a:xfrm>
          <a:prstGeom prst="rect">
            <a:avLst/>
          </a:prstGeom>
          <a:solidFill>
            <a:srgbClr val="DDCC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847" y="3291840"/>
            <a:ext cx="3047923" cy="137160"/>
          </a:xfrm>
          <a:prstGeom prst="rect">
            <a:avLst/>
          </a:prstGeom>
          <a:solidFill>
            <a:srgbClr val="FDF0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771" y="3291840"/>
            <a:ext cx="3047923" cy="137160"/>
          </a:xfrm>
          <a:prstGeom prst="rect">
            <a:avLst/>
          </a:prstGeom>
          <a:solidFill>
            <a:srgbClr val="CCE6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0972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250">
                <a:solidFill>
                  <a:srgbClr val="8A8A8A"/>
                </a:solidFill>
                <a:latin typeface="Consolas"/>
              </a:rPr>
              <a:t>MODULE M1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463040"/>
            <a:ext cx="1097280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300">
                <a:solidFill>
                  <a:srgbClr val="8A8A8A"/>
                </a:solidFill>
                <a:latin typeface="Consolas"/>
              </a:rPr>
              <a:t>M1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920240"/>
            <a:ext cx="10972800" cy="12801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800" b="1" spc="-350">
                <a:solidFill>
                  <a:srgbClr val="111111"/>
                </a:solidFill>
                <a:latin typeface="Microsoft JhengHei"/>
              </a:rPr>
              <a:t>找痛點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840480"/>
            <a:ext cx="10972800" cy="1463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600" b="0" spc="-40">
                <a:solidFill>
                  <a:srgbClr val="3A3A3A"/>
                </a:solidFill>
                <a:latin typeface="Microsoft JhengHei"/>
              </a:rPr>
              <a:t>做得出來，不等於做得對。</a:t>
            </a:r>
          </a:p>
          <a:p>
            <a:pPr algn="l">
              <a:lnSpc>
                <a:spcPct val="140000"/>
              </a:lnSpc>
            </a:pPr>
            <a:r>
              <a:rPr sz="2600" b="0" spc="-40">
                <a:solidFill>
                  <a:srgbClr val="3A3A3A"/>
                </a:solidFill>
                <a:latin typeface="Microsoft JhengHei"/>
              </a:rPr>
              <a:t>選對題目，是今天最重要的決定。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M1 · PAIN DISCOVERY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06 / 64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M1 · THE MOST COMMON MISTAKE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4000" b="1" spc="-130">
                <a:solidFill>
                  <a:srgbClr val="111111"/>
                </a:solidFill>
                <a:latin typeface="Microsoft JhengHei"/>
              </a:rPr>
              <a:t>新手最容易犯的錯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286000"/>
            <a:ext cx="5212080" cy="35661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E8E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2468880"/>
            <a:ext cx="73152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800" b="1" spc="-50">
                <a:solidFill>
                  <a:srgbClr val="B45309"/>
                </a:solidFill>
                <a:latin typeface="Microsoft JhengHei"/>
              </a:rPr>
              <a:t>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3246120"/>
            <a:ext cx="457200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800" b="1" spc="-80">
                <a:solidFill>
                  <a:srgbClr val="111111"/>
                </a:solidFill>
                <a:latin typeface="Microsoft JhengHei"/>
              </a:rPr>
              <a:t>產品思維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051560" y="3931920"/>
            <a:ext cx="457200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051560" y="406908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-20">
                <a:solidFill>
                  <a:srgbClr val="3A3A3A"/>
                </a:solidFill>
                <a:latin typeface="Microsoft JhengHei"/>
              </a:rPr>
              <a:t>先想「我要做什麼產品」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709160"/>
            <a:ext cx="4572000" cy="10058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 spc="-10">
                <a:solidFill>
                  <a:srgbClr val="8A8A8A"/>
                </a:solidFill>
                <a:latin typeface="Microsoft JhengHei"/>
              </a:rPr>
              <a:t>空想，容易越想越大</a:t>
            </a:r>
          </a:p>
          <a:p>
            <a:pPr algn="l">
              <a:lnSpc>
                <a:spcPct val="150000"/>
              </a:lnSpc>
            </a:pPr>
            <a:r>
              <a:rPr sz="1500" b="0" spc="-10">
                <a:solidFill>
                  <a:srgbClr val="8A8A8A"/>
                </a:solidFill>
                <a:latin typeface="Microsoft JhengHei"/>
              </a:rPr>
              <a:t>做不完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2286000"/>
            <a:ext cx="5212080" cy="35661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E8E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73152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800" b="1" spc="-50">
                <a:solidFill>
                  <a:srgbClr val="156B4A"/>
                </a:solidFill>
                <a:latin typeface="Microsoft JhengHei"/>
              </a:rPr>
              <a:t>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3246120"/>
            <a:ext cx="457200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800" b="1" spc="-80">
                <a:solidFill>
                  <a:srgbClr val="111111"/>
                </a:solidFill>
                <a:latin typeface="Microsoft JhengHei"/>
              </a:rPr>
              <a:t>痛點思維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583680" y="3931920"/>
            <a:ext cx="457200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583680" y="406908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-20">
                <a:solidFill>
                  <a:srgbClr val="3A3A3A"/>
                </a:solidFill>
                <a:latin typeface="Microsoft JhengHei"/>
              </a:rPr>
              <a:t>先找「有什麼事讓我煩」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4709160"/>
            <a:ext cx="4572000" cy="10058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 spc="-10">
                <a:solidFill>
                  <a:srgbClr val="8A8A8A"/>
                </a:solidFill>
                <a:latin typeface="Microsoft JhengHei"/>
              </a:rPr>
              <a:t>具體、有人受苦</a:t>
            </a:r>
          </a:p>
          <a:p>
            <a:pPr algn="l">
              <a:lnSpc>
                <a:spcPct val="150000"/>
              </a:lnSpc>
            </a:pPr>
            <a:r>
              <a:rPr sz="1500" b="0" spc="-10">
                <a:solidFill>
                  <a:srgbClr val="8A8A8A"/>
                </a:solidFill>
                <a:latin typeface="Microsoft JhengHei"/>
              </a:rPr>
              <a:t>做完就有用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M1 · PAIN DISCOVERY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07 / 64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M1 · FOUR PHYSICS CHECKS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800" b="1" spc="-130">
                <a:solidFill>
                  <a:srgbClr val="111111"/>
                </a:solidFill>
                <a:latin typeface="Microsoft JhengHei"/>
              </a:rPr>
              <a:t>一個好痛點的四個物理量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65960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-20">
                <a:solidFill>
                  <a:srgbClr val="8A8A8A"/>
                </a:solidFill>
                <a:latin typeface="Microsoft JhengHei"/>
              </a:rPr>
              <a:t>初學者第一個專案：① + ③ 過關就行。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606040"/>
            <a:ext cx="5212080" cy="15544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E8E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834640"/>
            <a:ext cx="9144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250">
                <a:solidFill>
                  <a:srgbClr val="8A8A8A"/>
                </a:solidFill>
                <a:latin typeface="Consolas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20040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 spc="-50">
                <a:solidFill>
                  <a:srgbClr val="111111"/>
                </a:solidFill>
                <a:latin typeface="Microsoft JhengHei"/>
              </a:rPr>
              <a:t>具體的人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703320"/>
            <a:ext cx="45720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-10">
                <a:solidFill>
                  <a:srgbClr val="8A8A8A"/>
                </a:solidFill>
                <a:latin typeface="Microsoft JhengHei"/>
              </a:rPr>
              <a:t>能說出一個真人的名字（自己算）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2606040"/>
            <a:ext cx="5212080" cy="15544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E8E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2834640"/>
            <a:ext cx="9144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250">
                <a:solidFill>
                  <a:srgbClr val="8A8A8A"/>
                </a:solidFill>
                <a:latin typeface="Consolas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320040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 spc="-50">
                <a:solidFill>
                  <a:srgbClr val="111111"/>
                </a:solidFill>
                <a:latin typeface="Microsoft JhengHei"/>
              </a:rPr>
              <a:t>正在付錢的痛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3703320"/>
            <a:ext cx="45720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-10">
                <a:solidFill>
                  <a:srgbClr val="8A8A8A"/>
                </a:solidFill>
                <a:latin typeface="Microsoft JhengHei"/>
              </a:rPr>
              <a:t>他現在花錢、花時間、花精力在解決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389120"/>
            <a:ext cx="5212080" cy="15544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E8E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4617720"/>
            <a:ext cx="9144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250">
                <a:solidFill>
                  <a:srgbClr val="8A8A8A"/>
                </a:solidFill>
                <a:latin typeface="Consolas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" y="498348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 spc="-50">
                <a:solidFill>
                  <a:srgbClr val="111111"/>
                </a:solidFill>
                <a:latin typeface="Microsoft JhengHei"/>
              </a:rPr>
              <a:t>手工可交付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" y="5486400"/>
            <a:ext cx="45720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-10">
                <a:solidFill>
                  <a:srgbClr val="8A8A8A"/>
                </a:solidFill>
                <a:latin typeface="Microsoft JhengHei"/>
              </a:rPr>
              <a:t>不寫程式，你今晚能幫他做一次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63640" y="4389120"/>
            <a:ext cx="5212080" cy="15544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E8E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0" y="4617720"/>
            <a:ext cx="9144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250">
                <a:solidFill>
                  <a:srgbClr val="8A8A8A"/>
                </a:solidFill>
                <a:latin typeface="Consolas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0" y="498348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 spc="-50">
                <a:solidFill>
                  <a:srgbClr val="111111"/>
                </a:solidFill>
                <a:latin typeface="Microsoft JhengHei"/>
              </a:rPr>
              <a:t>收款管道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0" y="5486400"/>
            <a:ext cx="45720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-10">
                <a:solidFill>
                  <a:srgbClr val="8A8A8A"/>
                </a:solidFill>
                <a:latin typeface="Microsoft JhengHei"/>
              </a:rPr>
              <a:t>他願意付錢你收得到（之後再說）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M1 · PAIN DISCOVERY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08 / 64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M1 · WHAT DOES CONCRETE MEAN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800" b="1" spc="-130">
                <a:solidFill>
                  <a:srgbClr val="111111"/>
                </a:solidFill>
                <a:latin typeface="Microsoft JhengHei"/>
              </a:rPr>
              <a:t>範例：什麼叫「具體」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28600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B45309"/>
                </a:solidFill>
                <a:latin typeface="Consolas"/>
              </a:rPr>
              <a:t>× VAGUE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63640" y="228600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156B4A"/>
                </a:solidFill>
                <a:latin typeface="Consolas"/>
              </a:rPr>
              <a:t>✓ CONCRETE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731520" y="283464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31520" y="3017520"/>
            <a:ext cx="521208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8A8A8A"/>
                </a:solidFill>
                <a:latin typeface="Microsoft JhengHei"/>
              </a:rPr>
              <a:t>年輕人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63640" y="3017520"/>
            <a:ext cx="521208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111111"/>
                </a:solidFill>
                <a:latin typeface="Microsoft JhengHei"/>
              </a:rPr>
              <a:t>我朋友阿明，28 歲，每週三晚上要做財報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31520" y="3749039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731520" y="3931919"/>
            <a:ext cx="521208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8A8A8A"/>
                </a:solidFill>
                <a:latin typeface="Microsoft JhengHei"/>
              </a:rPr>
              <a:t>小企業老闆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63640" y="3931919"/>
            <a:ext cx="521208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111111"/>
                </a:solidFill>
                <a:latin typeface="Microsoft JhengHei"/>
              </a:rPr>
              <a:t>我認識的王太太，開早餐店，每天晚上手動記帳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31520" y="466344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731520" y="4846320"/>
            <a:ext cx="521208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8A8A8A"/>
                </a:solidFill>
                <a:latin typeface="Microsoft JhengHei"/>
              </a:rPr>
              <a:t>想學英文的人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63640" y="4846320"/>
            <a:ext cx="521208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111111"/>
                </a:solidFill>
                <a:latin typeface="Microsoft JhengHei"/>
              </a:rPr>
              <a:t>我表弟，下個月要考多益 750 分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731520" y="557784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731520" y="5760720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2000" b="1" spc="-30">
                <a:solidFill>
                  <a:srgbClr val="111111"/>
                </a:solidFill>
                <a:latin typeface="Microsoft JhengHei"/>
              </a:rPr>
              <a:t>痛點不抽象，不然沒辦法驗證。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M1 · PAIN DISCOVERY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09 / 64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M1 · THE MAGIC PROMPT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600" b="1" spc="-130">
                <a:solidFill>
                  <a:srgbClr val="111111"/>
                </a:solidFill>
                <a:latin typeface="Microsoft JhengHei"/>
              </a:rPr>
              <a:t>找痛點的魔法 Prompt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20240"/>
            <a:ext cx="106984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150">
                <a:solidFill>
                  <a:srgbClr val="8A8A8A"/>
                </a:solidFill>
                <a:latin typeface="Consolas"/>
              </a:rPr>
              <a:t>複製貼上到 ChatGPT / Claude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377440"/>
            <a:ext cx="10698480" cy="3931920"/>
          </a:xfrm>
          <a:prstGeom prst="roundRect">
            <a:avLst>
              <a:gd name="adj" fmla="val 3000"/>
            </a:avLst>
          </a:prstGeom>
          <a:solidFill>
            <a:srgbClr val="FAFAFA"/>
          </a:solidFill>
          <a:ln w="9525"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0" bIns="182880"/>
          <a:lstStyle/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>你是一位痛點結構化教練。我腦中有一些模糊的工作 / 生活痛點。</a:t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>請用蘇格拉底式提問（一次一題）引導我整理出 3 個具體痛點，</a:t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>每個痛點包含：</a:t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>  - 誰遇到（具體的人）</a:t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>  - 情境（什麼時候）</a:t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>  - 現行解法（現在怎麼處理）</a:t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>  - 不滿（哪裡煩）</a:t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>規則：一次一題，我回答後再問下一題；</a:t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>      我回答太抽象時請直接指出；</a:t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>      不要評分或建議產品。</a:t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>開始問我第一題吧。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M1 · PAIN DISCOVERY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10 / 64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640080"/>
            <a:ext cx="1188720" cy="347472"/>
          </a:xfrm>
          <a:prstGeom prst="roundRect">
            <a:avLst>
              <a:gd name="adj" fmla="val 50000"/>
            </a:avLst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8288" bIns="18288"/>
          <a:lstStyle/>
          <a:p>
            <a:pPr algn="ctr"/>
            <a:r>
              <a:rPr sz="1000" b="1" spc="200">
                <a:solidFill>
                  <a:srgbClr val="FFFFFF"/>
                </a:solidFill>
                <a:latin typeface="Consolas"/>
              </a:rPr>
              <a:t>HANDS-ON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4000" b="1" spc="-130">
                <a:solidFill>
                  <a:srgbClr val="111111"/>
                </a:solidFill>
                <a:latin typeface="Microsoft JhengHei"/>
              </a:rPr>
              <a:t>實作 1：找出你的 3 個痛點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31520" y="2194560"/>
            <a:ext cx="10698480" cy="0"/>
          </a:xfrm>
          <a:prstGeom prst="line">
            <a:avLst/>
          </a:prstGeom>
          <a:ln w="12700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14400" y="2514600"/>
            <a:ext cx="10332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>01   打開 ChatGPT / Claude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971800"/>
            <a:ext cx="10332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>02   複製上一張的 Prompt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429000"/>
            <a:ext cx="10332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>03   跟它對話 15-20 分鐘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886200"/>
            <a:ext cx="10332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>04   產出 3 個具體痛點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343400"/>
            <a:ext cx="10332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800600"/>
            <a:ext cx="10332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>助教會巡場，卡住就舉手。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31520" y="562356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731520" y="5760720"/>
            <a:ext cx="2743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50">
                <a:solidFill>
                  <a:srgbClr val="8A8A8A"/>
                </a:solidFill>
                <a:latin typeface="Consolas"/>
              </a:rPr>
              <a:t>Duration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5989320"/>
            <a:ext cx="106984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1" spc="-30">
                <a:solidFill>
                  <a:srgbClr val="111111"/>
                </a:solidFill>
                <a:latin typeface="Microsoft JhengHei"/>
              </a:rPr>
              <a:t>25 分鐘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M1 · PAIN DISCOVERY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11 / 64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640080"/>
            <a:ext cx="1188720" cy="347472"/>
          </a:xfrm>
          <a:prstGeom prst="roundRect">
            <a:avLst>
              <a:gd name="adj" fmla="val 50000"/>
            </a:avLst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8288" bIns="18288"/>
          <a:lstStyle/>
          <a:p>
            <a:pPr algn="ctr"/>
            <a:r>
              <a:rPr sz="1000" b="1" spc="200">
                <a:solidFill>
                  <a:srgbClr val="FFFFFF"/>
                </a:solidFill>
                <a:latin typeface="Consolas"/>
              </a:rPr>
              <a:t>HANDS-ON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4000" b="1" spc="-130">
                <a:solidFill>
                  <a:srgbClr val="111111"/>
                </a:solidFill>
                <a:latin typeface="Microsoft JhengHei"/>
              </a:rPr>
              <a:t>實作 2：物理量檢驗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011680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8A8A8A"/>
                </a:solidFill>
                <a:latin typeface="Microsoft JhengHei"/>
              </a:rPr>
              <a:t>挑出你要做的那一個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651760"/>
            <a:ext cx="10698480" cy="3017520"/>
          </a:xfrm>
          <a:prstGeom prst="roundRect">
            <a:avLst>
              <a:gd name="adj" fmla="val 3000"/>
            </a:avLst>
          </a:prstGeom>
          <a:solidFill>
            <a:srgbClr val="FAFAFA"/>
          </a:solidFill>
          <a:ln w="9525"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0" bIns="182880"/>
          <a:lstStyle/>
          <a:p>
            <a:pPr algn="l">
              <a:lnSpc>
                <a:spcPct val="130000"/>
              </a:lnSpc>
            </a:pPr>
            <a:r>
              <a:rPr sz="1600">
                <a:solidFill>
                  <a:srgbClr val="111111"/>
                </a:solidFill>
                <a:latin typeface="Consolas"/>
              </a:rPr>
              <a:t>痛點 A   □ 具體的人    □ 付錢的痛    □ 手工可交付    □ 收款</a:t>
            </a:r>
          </a:p>
          <a:p>
            <a:pPr algn="l">
              <a:lnSpc>
                <a:spcPct val="130000"/>
              </a:lnSpc>
            </a:pPr>
            <a:r>
              <a:rPr sz="1600">
                <a:solidFill>
                  <a:srgbClr val="111111"/>
                </a:solidFill>
                <a:latin typeface="Consolas"/>
              </a:rPr>
              <a:t>痛點 B   □ 具體的人    □ 付錢的痛    □ 手工可交付    □ 收款</a:t>
            </a:r>
          </a:p>
          <a:p>
            <a:pPr algn="l">
              <a:lnSpc>
                <a:spcPct val="130000"/>
              </a:lnSpc>
            </a:pPr>
            <a:r>
              <a:rPr sz="1600">
                <a:solidFill>
                  <a:srgbClr val="111111"/>
                </a:solidFill>
                <a:latin typeface="Consolas"/>
              </a:rPr>
              <a:t>痛點 C   □ 具體的人    □ 付錢的痛    □ 手工可交付    □ 收款</a:t>
            </a:r>
          </a:p>
          <a:p>
            <a:pPr algn="l">
              <a:lnSpc>
                <a:spcPct val="130000"/>
              </a:lnSpc>
            </a:pPr>
            <a:r>
              <a:rPr sz="1600">
                <a:solidFill>
                  <a:srgbClr val="111111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600">
                <a:solidFill>
                  <a:srgbClr val="111111"/>
                </a:solidFill>
                <a:latin typeface="Consolas"/>
              </a:rPr>
              <a:t>選 ① + ③ 最紮實的那個  =  今天的題目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731520" y="562356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31520" y="5760720"/>
            <a:ext cx="2743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50">
                <a:solidFill>
                  <a:srgbClr val="8A8A8A"/>
                </a:solidFill>
                <a:latin typeface="Consolas"/>
              </a:rPr>
              <a:t>Duration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89320"/>
            <a:ext cx="106984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1" spc="-30">
                <a:solidFill>
                  <a:srgbClr val="111111"/>
                </a:solidFill>
                <a:latin typeface="Microsoft JhengHei"/>
              </a:rPr>
              <a:t>15 分鐘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M1 · PAIN DISCOVERY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12 / 64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640080"/>
            <a:ext cx="1188720" cy="347472"/>
          </a:xfrm>
          <a:prstGeom prst="roundRect">
            <a:avLst>
              <a:gd name="adj" fmla="val 50000"/>
            </a:avLst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8288" bIns="18288"/>
          <a:lstStyle/>
          <a:p>
            <a:pPr algn="ctr"/>
            <a:r>
              <a:rPr sz="1000" b="1" spc="200">
                <a:solidFill>
                  <a:srgbClr val="FFFFFF"/>
                </a:solidFill>
                <a:latin typeface="Consolas"/>
              </a:rPr>
              <a:t>HANDS-ON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800" b="1" spc="-130">
                <a:solidFill>
                  <a:srgbClr val="111111"/>
                </a:solidFill>
                <a:latin typeface="Microsoft JhengHei"/>
              </a:rPr>
              <a:t>把題目變成一句話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011680"/>
            <a:ext cx="106984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150">
                <a:solidFill>
                  <a:srgbClr val="8A8A8A"/>
                </a:solidFill>
                <a:latin typeface="Consolas"/>
              </a:rPr>
              <a:t>用這個句型：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468880"/>
            <a:ext cx="10698480" cy="3291840"/>
          </a:xfrm>
          <a:prstGeom prst="roundRect">
            <a:avLst>
              <a:gd name="adj" fmla="val 3000"/>
            </a:avLst>
          </a:prstGeom>
          <a:solidFill>
            <a:srgbClr val="FAFAFA"/>
          </a:solidFill>
          <a:ln w="9525"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0" bIns="182880"/>
          <a:lstStyle/>
          <a:p>
            <a:pPr algn="l">
              <a:lnSpc>
                <a:spcPct val="130000"/>
              </a:lnSpc>
            </a:pPr>
            <a:r>
              <a:rPr sz="1400">
                <a:solidFill>
                  <a:srgbClr val="111111"/>
                </a:solidFill>
                <a:latin typeface="Consolas"/>
              </a:rPr>
              <a:t>我要做 _______________，</a:t>
            </a:r>
          </a:p>
          <a:p>
            <a:pPr algn="l">
              <a:lnSpc>
                <a:spcPct val="130000"/>
              </a:lnSpc>
            </a:pPr>
            <a:r>
              <a:rPr sz="1400">
                <a:solidFill>
                  <a:srgbClr val="111111"/>
                </a:solidFill>
                <a:latin typeface="Consolas"/>
              </a:rPr>
              <a:t>給 _______________ 用，</a:t>
            </a:r>
          </a:p>
          <a:p>
            <a:pPr algn="l">
              <a:lnSpc>
                <a:spcPct val="130000"/>
              </a:lnSpc>
            </a:pPr>
            <a:r>
              <a:rPr sz="1400">
                <a:solidFill>
                  <a:srgbClr val="111111"/>
                </a:solidFill>
                <a:latin typeface="Consolas"/>
              </a:rPr>
              <a:t>解決 _______________ 問題，</a:t>
            </a:r>
          </a:p>
          <a:p>
            <a:pPr algn="l">
              <a:lnSpc>
                <a:spcPct val="130000"/>
              </a:lnSpc>
            </a:pPr>
            <a:r>
              <a:rPr sz="1400">
                <a:solidFill>
                  <a:srgbClr val="111111"/>
                </a:solidFill>
                <a:latin typeface="Consolas"/>
              </a:rPr>
              <a:t>核心功能是 _______________。</a:t>
            </a:r>
          </a:p>
          <a:p>
            <a:pPr algn="l">
              <a:lnSpc>
                <a:spcPct val="130000"/>
              </a:lnSpc>
            </a:pPr>
            <a:r>
              <a:rPr sz="1400">
                <a:solidFill>
                  <a:srgbClr val="111111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400">
                <a:solidFill>
                  <a:srgbClr val="111111"/>
                </a:solidFill>
                <a:latin typeface="Consolas"/>
              </a:rPr>
              <a:t>範例：</a:t>
            </a:r>
          </a:p>
          <a:p>
            <a:pPr algn="l">
              <a:lnSpc>
                <a:spcPct val="130000"/>
              </a:lnSpc>
            </a:pPr>
            <a:r>
              <a:rPr sz="1400">
                <a:solidFill>
                  <a:srgbClr val="111111"/>
                </a:solidFill>
                <a:latin typeface="Consolas"/>
              </a:rPr>
              <a:t>  我要做一個新聞摘要工具，</a:t>
            </a:r>
          </a:p>
          <a:p>
            <a:pPr algn="l">
              <a:lnSpc>
                <a:spcPct val="130000"/>
              </a:lnSpc>
            </a:pPr>
            <a:r>
              <a:rPr sz="1400">
                <a:solidFill>
                  <a:srgbClr val="111111"/>
                </a:solidFill>
                <a:latin typeface="Consolas"/>
              </a:rPr>
              <a:t>  給自己用，</a:t>
            </a:r>
          </a:p>
          <a:p>
            <a:pPr algn="l">
              <a:lnSpc>
                <a:spcPct val="130000"/>
              </a:lnSpc>
            </a:pPr>
            <a:r>
              <a:rPr sz="1400">
                <a:solidFill>
                  <a:srgbClr val="111111"/>
                </a:solidFill>
                <a:latin typeface="Consolas"/>
              </a:rPr>
              <a:t>  解決每天花 30 分鐘讀新聞只記得 10% 的問題，</a:t>
            </a:r>
          </a:p>
          <a:p>
            <a:pPr algn="l">
              <a:lnSpc>
                <a:spcPct val="130000"/>
              </a:lnSpc>
            </a:pPr>
            <a:r>
              <a:rPr sz="1400">
                <a:solidFill>
                  <a:srgbClr val="111111"/>
                </a:solidFill>
                <a:latin typeface="Consolas"/>
              </a:rPr>
              <a:t>  核心功能是貼新聞就出 3 句重點。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731520" y="585216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31520" y="5989320"/>
            <a:ext cx="106984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 spc="150">
                <a:solidFill>
                  <a:srgbClr val="8A8A8A"/>
                </a:solidFill>
                <a:latin typeface="Consolas"/>
              </a:rPr>
              <a:t>15 分鐘  ·  下午 Antigravity 直接用這句話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M1 · PAIN DISCOVERY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13 / 64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047923" cy="228600"/>
          </a:xfrm>
          <a:prstGeom prst="rect">
            <a:avLst/>
          </a:prstGeom>
          <a:solidFill>
            <a:srgbClr val="F9D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923" y="0"/>
            <a:ext cx="3047923" cy="228600"/>
          </a:xfrm>
          <a:prstGeom prst="rect">
            <a:avLst/>
          </a:prstGeom>
          <a:solidFill>
            <a:srgbClr val="DDCC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847" y="0"/>
            <a:ext cx="3047923" cy="228600"/>
          </a:xfrm>
          <a:prstGeom prst="rect">
            <a:avLst/>
          </a:prstGeom>
          <a:solidFill>
            <a:srgbClr val="FDF0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771" y="0"/>
            <a:ext cx="3047923" cy="228600"/>
          </a:xfrm>
          <a:prstGeom prst="rect">
            <a:avLst/>
          </a:prstGeom>
          <a:solidFill>
            <a:srgbClr val="CCE6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37160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CHECKPOINT 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737360"/>
            <a:ext cx="10698480" cy="1371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200" b="1" spc="-250">
                <a:solidFill>
                  <a:srgbClr val="111111"/>
                </a:solidFill>
                <a:latin typeface="Microsoft JhengHei"/>
              </a:rPr>
              <a:t>CP1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108960"/>
            <a:ext cx="1069848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400" b="0" spc="-30">
                <a:solidFill>
                  <a:srgbClr val="3A3A3A"/>
                </a:solidFill>
                <a:latin typeface="Microsoft JhengHei"/>
              </a:rPr>
              <a:t>你能寫出這句話嗎？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31520" y="3931920"/>
            <a:ext cx="10698480" cy="0"/>
          </a:xfrm>
          <a:prstGeom prst="line">
            <a:avLst/>
          </a:prstGeom>
          <a:ln w="12700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731520" y="4160520"/>
            <a:ext cx="10698480" cy="1371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600" b="1" spc="-40">
                <a:solidFill>
                  <a:srgbClr val="111111"/>
                </a:solidFill>
                <a:latin typeface="Microsoft JhengHei"/>
              </a:rPr>
              <a:t>「我今天要做 ___，給 ___ 用，</a:t>
            </a:r>
          </a:p>
          <a:p>
            <a:pPr algn="l">
              <a:lnSpc>
                <a:spcPct val="150000"/>
              </a:lnSpc>
            </a:pPr>
            <a:r>
              <a:rPr sz="2600" b="1" spc="-40">
                <a:solidFill>
                  <a:srgbClr val="111111"/>
                </a:solidFill>
                <a:latin typeface="Microsoft JhengHei"/>
              </a:rPr>
              <a:t>解決 ___ 問題。」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852160"/>
            <a:ext cx="106984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100">
                <a:solidFill>
                  <a:srgbClr val="8A8A8A"/>
                </a:solidFill>
                <a:latin typeface="Consolas"/>
              </a:rPr>
              <a:t>寫得出來 → 過關    ·    寫不出來 → 舉手，我們一起再拆一次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M1 · PAIN DISCOVERY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14 / 64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91840"/>
            <a:ext cx="3047923" cy="137160"/>
          </a:xfrm>
          <a:prstGeom prst="rect">
            <a:avLst/>
          </a:prstGeom>
          <a:solidFill>
            <a:srgbClr val="F9D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923" y="3291840"/>
            <a:ext cx="3047923" cy="137160"/>
          </a:xfrm>
          <a:prstGeom prst="rect">
            <a:avLst/>
          </a:prstGeom>
          <a:solidFill>
            <a:srgbClr val="DDCC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847" y="3291840"/>
            <a:ext cx="3047923" cy="137160"/>
          </a:xfrm>
          <a:prstGeom prst="rect">
            <a:avLst/>
          </a:prstGeom>
          <a:solidFill>
            <a:srgbClr val="FDF0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771" y="3291840"/>
            <a:ext cx="3047923" cy="137160"/>
          </a:xfrm>
          <a:prstGeom prst="rect">
            <a:avLst/>
          </a:prstGeom>
          <a:solidFill>
            <a:srgbClr val="CCE6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0972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250">
                <a:solidFill>
                  <a:srgbClr val="8A8A8A"/>
                </a:solidFill>
                <a:latin typeface="Consolas"/>
              </a:rPr>
              <a:t>MODULE M2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463040"/>
            <a:ext cx="1097280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300">
                <a:solidFill>
                  <a:srgbClr val="8A8A8A"/>
                </a:solidFill>
                <a:latin typeface="Consolas"/>
              </a:rPr>
              <a:t>M2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920240"/>
            <a:ext cx="10972800" cy="12801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800" b="1" spc="-350">
                <a:solidFill>
                  <a:srgbClr val="111111"/>
                </a:solidFill>
                <a:latin typeface="Microsoft JhengHei"/>
              </a:rPr>
              <a:t>STRIKE 提示詞戰法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840480"/>
            <a:ext cx="10972800" cy="1463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600" b="0" spc="-40">
                <a:solidFill>
                  <a:srgbClr val="3A3A3A"/>
                </a:solidFill>
                <a:latin typeface="Microsoft JhengHei"/>
              </a:rPr>
              <a:t>不是 AI 變聰明了。</a:t>
            </a:r>
          </a:p>
          <a:p>
            <a:pPr algn="l">
              <a:lnSpc>
                <a:spcPct val="140000"/>
              </a:lnSpc>
            </a:pPr>
            <a:r>
              <a:rPr sz="2600" b="0" spc="-40">
                <a:solidFill>
                  <a:srgbClr val="3A3A3A"/>
                </a:solidFill>
                <a:latin typeface="Microsoft JhengHei"/>
              </a:rPr>
              <a:t>是你把需求講清楚了。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M2 · STRIKE × AI STUDIO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15 / 64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M2 · LIVE COMPARISON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1" spc="-120">
                <a:solidFill>
                  <a:srgbClr val="111111"/>
                </a:solidFill>
                <a:latin typeface="Microsoft JhengHei"/>
              </a:rPr>
              <a:t>現場對比：一句話  vs  完整 STRIKE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20240"/>
            <a:ext cx="106984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150">
                <a:solidFill>
                  <a:srgbClr val="8A8A8A"/>
                </a:solidFill>
                <a:latin typeface="Consolas"/>
              </a:rPr>
              <a:t>題目：會議記錄整理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4688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B45309"/>
                </a:solidFill>
                <a:latin typeface="Consolas"/>
              </a:rPr>
              <a:t>A · ONE-LINER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834640"/>
            <a:ext cx="5349240" cy="640080"/>
          </a:xfrm>
          <a:prstGeom prst="roundRect">
            <a:avLst>
              <a:gd name="adj" fmla="val 3000"/>
            </a:avLst>
          </a:prstGeom>
          <a:solidFill>
            <a:srgbClr val="FAFAFA"/>
          </a:solidFill>
          <a:ln w="9525"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0" bIns="182880"/>
          <a:lstStyle/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>"幫我整理會議記錄"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63640" y="24688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156B4A"/>
                </a:solidFill>
                <a:latin typeface="Consolas"/>
              </a:rPr>
              <a:t>B · FULL STRIKE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2834640"/>
            <a:ext cx="5349240" cy="3108960"/>
          </a:xfrm>
          <a:prstGeom prst="roundRect">
            <a:avLst>
              <a:gd name="adj" fmla="val 3000"/>
            </a:avLst>
          </a:prstGeom>
          <a:solidFill>
            <a:srgbClr val="FAFAFA"/>
          </a:solidFill>
          <a:ln w="9525"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0" bIns="182880"/>
          <a:lstStyle/>
          <a:p>
            <a:pPr algn="l">
              <a:lnSpc>
                <a:spcPct val="130000"/>
              </a:lnSpc>
            </a:pPr>
            <a:r>
              <a:rPr sz="1100">
                <a:solidFill>
                  <a:srgbClr val="111111"/>
                </a:solidFill>
                <a:latin typeface="Consolas"/>
              </a:rPr>
              <a:t>【S】我是 PM，剛結束 Q2 跨部門規劃會議</a:t>
            </a:r>
          </a:p>
          <a:p>
            <a:pPr algn="l">
              <a:lnSpc>
                <a:spcPct val="130000"/>
              </a:lnSpc>
            </a:pPr>
            <a:r>
              <a:rPr sz="1100">
                <a:solidFill>
                  <a:srgbClr val="111111"/>
                </a:solidFill>
                <a:latin typeface="Consolas"/>
              </a:rPr>
              <a:t>【T】將逐字稿整理成結構化會議紀錄</a:t>
            </a:r>
          </a:p>
          <a:p>
            <a:pPr algn="l">
              <a:lnSpc>
                <a:spcPct val="130000"/>
              </a:lnSpc>
            </a:pPr>
            <a:r>
              <a:rPr sz="1100">
                <a:solidFill>
                  <a:srgbClr val="111111"/>
                </a:solidFill>
                <a:latin typeface="Consolas"/>
              </a:rPr>
              <a:t>【R】你是資深 PM，擅長提取關鍵決策</a:t>
            </a:r>
          </a:p>
          <a:p>
            <a:pPr algn="l">
              <a:lnSpc>
                <a:spcPct val="130000"/>
              </a:lnSpc>
            </a:pPr>
            <a:r>
              <a:rPr sz="1100">
                <a:solidFill>
                  <a:srgbClr val="111111"/>
                </a:solidFill>
                <a:latin typeface="Consolas"/>
              </a:rPr>
              <a:t>【I】[貼上 45 分鐘逐字稿]</a:t>
            </a:r>
          </a:p>
          <a:p>
            <a:pPr algn="l">
              <a:lnSpc>
                <a:spcPct val="130000"/>
              </a:lnSpc>
            </a:pPr>
            <a:r>
              <a:rPr sz="1100">
                <a:solidFill>
                  <a:srgbClr val="111111"/>
                </a:solidFill>
                <a:latin typeface="Consolas"/>
              </a:rPr>
              <a:t>【K】四區塊：摘要/決議/待辦(含負責人)/未解議題</a:t>
            </a:r>
          </a:p>
          <a:p>
            <a:pPr algn="l">
              <a:lnSpc>
                <a:spcPct val="130000"/>
              </a:lnSpc>
            </a:pPr>
            <a:r>
              <a:rPr sz="1100">
                <a:solidFill>
                  <a:srgbClr val="111111"/>
                </a:solidFill>
                <a:latin typeface="Consolas"/>
              </a:rPr>
              <a:t>       300-500 字</a:t>
            </a:r>
          </a:p>
          <a:p>
            <a:pPr algn="l">
              <a:lnSpc>
                <a:spcPct val="130000"/>
              </a:lnSpc>
            </a:pPr>
            <a:r>
              <a:rPr sz="1100">
                <a:solidFill>
                  <a:srgbClr val="111111"/>
                </a:solidFill>
                <a:latin typeface="Consolas"/>
              </a:rPr>
              <a:t>【E】## Q2 規劃會議  日期:...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126480"/>
            <a:ext cx="106984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 spc="100">
                <a:solidFill>
                  <a:srgbClr val="8A8A8A"/>
                </a:solidFill>
                <a:latin typeface="Consolas"/>
              </a:rPr>
              <a:t>→ 現場開 AI Studio 跑，3 分鐘後比產出。這是今天第一個 AHA moment。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M2 · STRIKE × AI STUDIO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16 / 64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M2 · 10 COMMON TRAPS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1" spc="-120">
                <a:solidFill>
                  <a:srgbClr val="111111"/>
                </a:solidFill>
                <a:latin typeface="Microsoft JhengHei"/>
              </a:rPr>
              <a:t>你不是不會用 AI，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8308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1" spc="-120">
                <a:solidFill>
                  <a:srgbClr val="111111"/>
                </a:solidFill>
                <a:latin typeface="Microsoft JhengHei"/>
              </a:rPr>
              <a:t>是沒想清楚要什麼。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063240"/>
            <a:ext cx="521208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50">
                <a:solidFill>
                  <a:srgbClr val="3A3A3A"/>
                </a:solidFill>
                <a:latin typeface="Consolas"/>
              </a:rPr>
              <a:t>01  提示不夠精準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63640" y="3063240"/>
            <a:ext cx="521208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50">
                <a:solidFill>
                  <a:srgbClr val="3A3A3A"/>
                </a:solidFill>
                <a:latin typeface="Consolas"/>
              </a:rPr>
              <a:t>06  缺少具體範例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566160"/>
            <a:ext cx="521208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50">
                <a:solidFill>
                  <a:srgbClr val="3A3A3A"/>
                </a:solidFill>
                <a:latin typeface="Consolas"/>
              </a:rPr>
              <a:t>02  缺乏條理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63640" y="3566160"/>
            <a:ext cx="521208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50">
                <a:solidFill>
                  <a:srgbClr val="3A3A3A"/>
                </a:solidFill>
                <a:latin typeface="Consolas"/>
              </a:rPr>
              <a:t>07  忽略限制條件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069080"/>
            <a:ext cx="521208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50">
                <a:solidFill>
                  <a:srgbClr val="3A3A3A"/>
                </a:solidFill>
                <a:latin typeface="Consolas"/>
              </a:rPr>
              <a:t>03  缺乏背景資訊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63640" y="4069080"/>
            <a:ext cx="521208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50">
                <a:solidFill>
                  <a:srgbClr val="3A3A3A"/>
                </a:solidFill>
                <a:latin typeface="Consolas"/>
              </a:rPr>
              <a:t>08  過於冗長或簡略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572000"/>
            <a:ext cx="521208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50">
                <a:solidFill>
                  <a:srgbClr val="3A3A3A"/>
                </a:solidFill>
                <a:latin typeface="Consolas"/>
              </a:rPr>
              <a:t>04  目標不夠明確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63640" y="4572000"/>
            <a:ext cx="521208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50">
                <a:solidFill>
                  <a:srgbClr val="3A3A3A"/>
                </a:solidFill>
                <a:latin typeface="Consolas"/>
              </a:rPr>
              <a:t>09  語言不一致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5074920"/>
            <a:ext cx="521208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50">
                <a:solidFill>
                  <a:srgbClr val="3A3A3A"/>
                </a:solidFill>
                <a:latin typeface="Consolas"/>
              </a:rPr>
              <a:t>05  提示過於模糊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63640" y="5074920"/>
            <a:ext cx="521208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50">
                <a:solidFill>
                  <a:srgbClr val="3A3A3A"/>
                </a:solidFill>
                <a:latin typeface="Consolas"/>
              </a:rPr>
              <a:t>10  缺乏驗證與反饋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731520" y="5669280"/>
            <a:ext cx="10698480" cy="0"/>
          </a:xfrm>
          <a:prstGeom prst="line">
            <a:avLst/>
          </a:prstGeom>
          <a:ln w="12700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731520" y="5806440"/>
            <a:ext cx="1069848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2200" b="1" spc="-30">
                <a:solidFill>
                  <a:srgbClr val="111111"/>
                </a:solidFill>
                <a:latin typeface="Microsoft JhengHei"/>
              </a:rPr>
              <a:t>AI 產出品質  =  你定義問題的能力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M2 · STRIKE × AI STUDIO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17 / 64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M2 · THE CORE FRAMEWORK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4400" b="1" spc="-150">
                <a:solidFill>
                  <a:srgbClr val="111111"/>
                </a:solidFill>
                <a:latin typeface="Microsoft JhengHei"/>
              </a:rPr>
              <a:t>STRIKE 六字訣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20240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-20">
                <a:solidFill>
                  <a:srgbClr val="8A8A8A"/>
                </a:solidFill>
                <a:latin typeface="Microsoft JhengHei"/>
              </a:rPr>
              <a:t>Prompt 工程的核心框架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560320"/>
            <a:ext cx="3520440" cy="14173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E8E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606040"/>
            <a:ext cx="914400" cy="10972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5200" b="1" spc="-250">
                <a:solidFill>
                  <a:srgbClr val="111111"/>
                </a:solidFill>
                <a:latin typeface="Microsoft JhengHei"/>
              </a:rPr>
              <a:t>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2788920"/>
            <a:ext cx="219456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00">
                <a:solidFill>
                  <a:srgbClr val="8A8A8A"/>
                </a:solidFill>
                <a:latin typeface="Consolas"/>
              </a:rPr>
              <a:t>Situation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11680" y="3063240"/>
            <a:ext cx="219456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spc="-30">
                <a:solidFill>
                  <a:srgbClr val="111111"/>
                </a:solidFill>
                <a:latin typeface="Microsoft JhengHei"/>
              </a:rPr>
              <a:t>情境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11680" y="3474720"/>
            <a:ext cx="21945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-10">
                <a:solidFill>
                  <a:srgbClr val="8A8A8A"/>
                </a:solidFill>
                <a:latin typeface="Microsoft JhengHei"/>
              </a:rPr>
              <a:t>交代背景，讓 AI 不用猜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34840" y="2560320"/>
            <a:ext cx="3520440" cy="14173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E8E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63440" y="2606040"/>
            <a:ext cx="914400" cy="10972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5200" b="1" spc="-250">
                <a:solidFill>
                  <a:srgbClr val="111111"/>
                </a:solidFill>
                <a:latin typeface="Microsoft JhengHei"/>
              </a:rPr>
              <a:t>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15000" y="2788920"/>
            <a:ext cx="219456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00">
                <a:solidFill>
                  <a:srgbClr val="8A8A8A"/>
                </a:solidFill>
                <a:latin typeface="Consolas"/>
              </a:rPr>
              <a:t>Task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15000" y="3063240"/>
            <a:ext cx="219456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spc="-30">
                <a:solidFill>
                  <a:srgbClr val="111111"/>
                </a:solidFill>
                <a:latin typeface="Microsoft JhengHei"/>
              </a:rPr>
              <a:t>任務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15000" y="3474720"/>
            <a:ext cx="21945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-10">
                <a:solidFill>
                  <a:srgbClr val="8A8A8A"/>
                </a:solidFill>
                <a:latin typeface="Microsoft JhengHei"/>
              </a:rPr>
              <a:t>明確說做什麼、產出什麼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38160" y="2560320"/>
            <a:ext cx="3520440" cy="14173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E8E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66760" y="2606040"/>
            <a:ext cx="914400" cy="10972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5200" b="1" spc="-250">
                <a:solidFill>
                  <a:srgbClr val="111111"/>
                </a:solidFill>
                <a:latin typeface="Microsoft JhengHei"/>
              </a:rPr>
              <a:t>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18320" y="2788920"/>
            <a:ext cx="219456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00">
                <a:solidFill>
                  <a:srgbClr val="8A8A8A"/>
                </a:solidFill>
                <a:latin typeface="Consolas"/>
              </a:rPr>
              <a:t>Role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18320" y="3063240"/>
            <a:ext cx="219456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spc="-30">
                <a:solidFill>
                  <a:srgbClr val="111111"/>
                </a:solidFill>
                <a:latin typeface="Microsoft JhengHei"/>
              </a:rPr>
              <a:t>角色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18320" y="3474720"/>
            <a:ext cx="21945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-10">
                <a:solidFill>
                  <a:srgbClr val="8A8A8A"/>
                </a:solidFill>
                <a:latin typeface="Microsoft JhengHei"/>
              </a:rPr>
              <a:t>指定 AI 扮演的專業身分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4206240"/>
            <a:ext cx="3520440" cy="14173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E8E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" y="4251960"/>
            <a:ext cx="914400" cy="10972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5200" b="1" spc="-250">
                <a:solidFill>
                  <a:srgbClr val="111111"/>
                </a:solidFill>
                <a:latin typeface="Microsoft JhengHei"/>
              </a:rPr>
              <a:t>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11680" y="4434840"/>
            <a:ext cx="219456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00">
                <a:solidFill>
                  <a:srgbClr val="8A8A8A"/>
                </a:solidFill>
                <a:latin typeface="Consolas"/>
              </a:rPr>
              <a:t>Input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11680" y="4709160"/>
            <a:ext cx="219456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spc="-30">
                <a:solidFill>
                  <a:srgbClr val="111111"/>
                </a:solidFill>
                <a:latin typeface="Microsoft JhengHei"/>
              </a:rPr>
              <a:t>輸入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011680" y="5120640"/>
            <a:ext cx="21945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-10">
                <a:solidFill>
                  <a:srgbClr val="8A8A8A"/>
                </a:solidFill>
                <a:latin typeface="Microsoft JhengHei"/>
              </a:rPr>
              <a:t>餵資料，不讓 AI 瞎猜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434840" y="4206240"/>
            <a:ext cx="3520440" cy="14173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E8E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663440" y="4251960"/>
            <a:ext cx="914400" cy="10972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5200" b="1" spc="-250">
                <a:solidFill>
                  <a:srgbClr val="111111"/>
                </a:solidFill>
                <a:latin typeface="Microsoft JhengHei"/>
              </a:rPr>
              <a:t>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715000" y="4434840"/>
            <a:ext cx="219456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00">
                <a:solidFill>
                  <a:srgbClr val="8A8A8A"/>
                </a:solidFill>
                <a:latin typeface="Consolas"/>
              </a:rPr>
              <a:t>KPI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715000" y="4709160"/>
            <a:ext cx="219456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spc="-30">
                <a:solidFill>
                  <a:srgbClr val="111111"/>
                </a:solidFill>
                <a:latin typeface="Microsoft JhengHei"/>
              </a:rPr>
              <a:t>驗收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715000" y="5120640"/>
            <a:ext cx="21945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-10">
                <a:solidFill>
                  <a:srgbClr val="8A8A8A"/>
                </a:solidFill>
                <a:latin typeface="Microsoft JhengHei"/>
              </a:rPr>
              <a:t>定義什麼叫「夠好」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138160" y="4206240"/>
            <a:ext cx="3520440" cy="14173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E8E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66760" y="4251960"/>
            <a:ext cx="914400" cy="10972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5200" b="1" spc="-250">
                <a:solidFill>
                  <a:srgbClr val="111111"/>
                </a:solidFill>
                <a:latin typeface="Microsoft JhengHei"/>
              </a:rPr>
              <a:t>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18320" y="4434840"/>
            <a:ext cx="219456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00">
                <a:solidFill>
                  <a:srgbClr val="8A8A8A"/>
                </a:solidFill>
                <a:latin typeface="Consolas"/>
              </a:rPr>
              <a:t>Example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418320" y="4709160"/>
            <a:ext cx="219456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spc="-30">
                <a:solidFill>
                  <a:srgbClr val="111111"/>
                </a:solidFill>
                <a:latin typeface="Microsoft JhengHei"/>
              </a:rPr>
              <a:t>範例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418320" y="5120640"/>
            <a:ext cx="21945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-10">
                <a:solidFill>
                  <a:srgbClr val="8A8A8A"/>
                </a:solidFill>
                <a:latin typeface="Microsoft JhengHei"/>
              </a:rPr>
              <a:t>給樣本，鎖定輸出方向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M2 · STRIKE × AI STUDIO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18 / 64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M2 · WRITE WELL (1/2) — S / T / 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800" b="1" spc="-130">
                <a:solidFill>
                  <a:srgbClr val="111111"/>
                </a:solidFill>
                <a:latin typeface="Microsoft JhengHei"/>
              </a:rPr>
              <a:t>每格怎麼寫好（一）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31520" y="210312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31520" y="2240280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spc="-30">
                <a:solidFill>
                  <a:srgbClr val="111111"/>
                </a:solidFill>
                <a:latin typeface="Microsoft JhengHei"/>
              </a:rPr>
              <a:t>S  情境定場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743200"/>
            <a:ext cx="1069848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30">
                <a:solidFill>
                  <a:srgbClr val="B45309"/>
                </a:solidFill>
                <a:latin typeface="Consolas"/>
              </a:rPr>
              <a:t>❌  空泛：「我想要...」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108960"/>
            <a:ext cx="1069848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30">
                <a:solidFill>
                  <a:srgbClr val="156B4A"/>
                </a:solidFill>
                <a:latin typeface="Consolas"/>
              </a:rPr>
              <a:t>✅  具體：「我是消費品行銷經理，準備 Q2 檢討會議」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31520" y="3520439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31520" y="3657599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spc="-30">
                <a:solidFill>
                  <a:srgbClr val="111111"/>
                </a:solidFill>
                <a:latin typeface="Microsoft JhengHei"/>
              </a:rPr>
              <a:t>T  任務定向（動詞 + 產出物，一個 prompt 一件事）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160519"/>
            <a:ext cx="1069848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30">
                <a:solidFill>
                  <a:srgbClr val="B45309"/>
                </a:solidFill>
                <a:latin typeface="Consolas"/>
              </a:rPr>
              <a:t>❌  「整理一下」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526279"/>
            <a:ext cx="1069848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30">
                <a:solidFill>
                  <a:srgbClr val="156B4A"/>
                </a:solidFill>
                <a:latin typeface="Consolas"/>
              </a:rPr>
              <a:t>✅  「整理成三段摘要，含待辦清單和負責人」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31520" y="493776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731520" y="5074920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spc="-30">
                <a:solidFill>
                  <a:srgbClr val="111111"/>
                </a:solidFill>
                <a:latin typeface="Microsoft JhengHei"/>
              </a:rPr>
              <a:t>R  角色定級（決定 AI 的專業天花板）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5577840"/>
            <a:ext cx="1069848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30">
                <a:solidFill>
                  <a:srgbClr val="B45309"/>
                </a:solidFill>
                <a:latin typeface="Consolas"/>
              </a:rPr>
              <a:t>❌  「你是助理」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5943600"/>
            <a:ext cx="1069848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30">
                <a:solidFill>
                  <a:srgbClr val="156B4A"/>
                </a:solidFill>
                <a:latin typeface="Consolas"/>
              </a:rPr>
              <a:t>✅  「你是資深社群媒體分析師」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M2 · STRIKE × AI STUDIO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19 / 64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M2 · WRITE WELL (2/2) — I / K / 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800" b="1" spc="-130">
                <a:solidFill>
                  <a:srgbClr val="111111"/>
                </a:solidFill>
                <a:latin typeface="Microsoft JhengHei"/>
              </a:rPr>
              <a:t>每格怎麼寫好（二）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31520" y="210312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31520" y="2240280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spc="-30">
                <a:solidFill>
                  <a:srgbClr val="111111"/>
                </a:solidFill>
                <a:latin typeface="Microsoft JhengHei"/>
              </a:rPr>
              <a:t>I  輸入定料（AI 沒資料就瞎猜）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743200"/>
            <a:ext cx="1069848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30">
                <a:solidFill>
                  <a:srgbClr val="156B4A"/>
                </a:solidFill>
                <a:latin typeface="Consolas"/>
              </a:rPr>
              <a:t>✅  「以下是我方 Q2 貼文數據：[貼上數據]」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31520" y="320040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31520" y="3337560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spc="-30">
                <a:solidFill>
                  <a:srgbClr val="111111"/>
                </a:solidFill>
                <a:latin typeface="Microsoft JhengHei"/>
              </a:rPr>
              <a:t>K  標準定規（定義什麼叫「夠好」）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840480"/>
            <a:ext cx="1069848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30">
                <a:solidFill>
                  <a:srgbClr val="156B4A"/>
                </a:solidFill>
                <a:latin typeface="Consolas"/>
              </a:rPr>
              <a:t>✅  格式：表格  |  字數：800 內  |  語氣：中立  |  禁止：推測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31520" y="4297679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31520" y="4434839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spc="-30">
                <a:solidFill>
                  <a:srgbClr val="111111"/>
                </a:solidFill>
                <a:latin typeface="Microsoft JhengHei"/>
              </a:rPr>
              <a:t>E  範例定調（一個範例省三輪來回）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937759"/>
            <a:ext cx="1069848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30">
                <a:solidFill>
                  <a:srgbClr val="156B4A"/>
                </a:solidFill>
                <a:latin typeface="Consolas"/>
              </a:rPr>
              <a:t>✅  「參考這份過去的成功範本：[貼上]」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31520" y="5486400"/>
            <a:ext cx="10698480" cy="0"/>
          </a:xfrm>
          <a:prstGeom prst="line">
            <a:avLst/>
          </a:prstGeom>
          <a:ln w="12700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731520" y="5669280"/>
            <a:ext cx="1069848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2200" b="1" spc="-30">
                <a:solidFill>
                  <a:srgbClr val="111111"/>
                </a:solidFill>
                <a:latin typeface="Microsoft JhengHei"/>
              </a:rPr>
              <a:t>沒有 E 沒關係。沒有 T + K + I？那 AI 一定瞎掰。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M2 · STRIKE × AI STUDIO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20 / 64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047923" cy="228600"/>
          </a:xfrm>
          <a:prstGeom prst="rect">
            <a:avLst/>
          </a:prstGeom>
          <a:solidFill>
            <a:srgbClr val="F9D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923" y="0"/>
            <a:ext cx="3047923" cy="228600"/>
          </a:xfrm>
          <a:prstGeom prst="rect">
            <a:avLst/>
          </a:prstGeom>
          <a:solidFill>
            <a:srgbClr val="DDCC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847" y="0"/>
            <a:ext cx="3047923" cy="228600"/>
          </a:xfrm>
          <a:prstGeom prst="rect">
            <a:avLst/>
          </a:prstGeom>
          <a:solidFill>
            <a:srgbClr val="FDF0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771" y="0"/>
            <a:ext cx="3047923" cy="228600"/>
          </a:xfrm>
          <a:prstGeom prst="rect">
            <a:avLst/>
          </a:prstGeom>
          <a:solidFill>
            <a:srgbClr val="CCE6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18872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M2 · MVP FORMULA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600200"/>
            <a:ext cx="1069848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b="0" spc="-30">
                <a:solidFill>
                  <a:srgbClr val="8A8A8A"/>
                </a:solidFill>
                <a:latin typeface="Microsoft JhengHei"/>
              </a:rPr>
              <a:t>趕時間？救命組合。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331720"/>
            <a:ext cx="10698480" cy="1463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0" b="1" spc="-500">
                <a:solidFill>
                  <a:srgbClr val="111111"/>
                </a:solidFill>
                <a:latin typeface="Microsoft JhengHei"/>
              </a:rPr>
              <a:t>T  +  K  +  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886200"/>
            <a:ext cx="1069848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2200" b="0" spc="-30">
                <a:solidFill>
                  <a:srgbClr val="3A3A3A"/>
                </a:solidFill>
                <a:latin typeface="Microsoft JhengHei"/>
              </a:rPr>
              <a:t>任務  ·  驗收  ·  輸入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31520" y="484632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31520" y="5029200"/>
            <a:ext cx="3520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 spc="150">
                <a:solidFill>
                  <a:srgbClr val="8A8A8A"/>
                </a:solidFill>
                <a:latin typeface="Consolas"/>
              </a:rPr>
              <a:t>STRIKE 全寫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5349240"/>
            <a:ext cx="35204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3600" b="1" spc="-120">
                <a:solidFill>
                  <a:srgbClr val="111111"/>
                </a:solidFill>
                <a:latin typeface="Microsoft JhengHei"/>
              </a:rPr>
              <a:t>100%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5943600"/>
            <a:ext cx="3520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300" b="0" spc="-10">
                <a:solidFill>
                  <a:srgbClr val="8A8A8A"/>
                </a:solidFill>
                <a:latin typeface="Microsoft JhengHei"/>
              </a:rPr>
              <a:t>滿分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34840" y="5029200"/>
            <a:ext cx="3520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 spc="150">
                <a:solidFill>
                  <a:srgbClr val="8A8A8A"/>
                </a:solidFill>
                <a:latin typeface="Consolas"/>
              </a:rPr>
              <a:t>T + K + 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34840" y="5349240"/>
            <a:ext cx="35204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3600" b="1" spc="-120">
                <a:solidFill>
                  <a:srgbClr val="111111"/>
                </a:solidFill>
                <a:latin typeface="Microsoft JhengHei"/>
              </a:rPr>
              <a:t>80%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34840" y="5943600"/>
            <a:ext cx="3520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300" b="0" spc="-10">
                <a:solidFill>
                  <a:srgbClr val="8A8A8A"/>
                </a:solidFill>
                <a:latin typeface="Microsoft JhengHei"/>
              </a:rPr>
              <a:t>可用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8160" y="5029200"/>
            <a:ext cx="3520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 spc="150">
                <a:solidFill>
                  <a:srgbClr val="8A8A8A"/>
                </a:solidFill>
                <a:latin typeface="Consolas"/>
              </a:rPr>
              <a:t>都沒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8160" y="5349240"/>
            <a:ext cx="35204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3600" b="1" spc="-120">
                <a:solidFill>
                  <a:srgbClr val="111111"/>
                </a:solidFill>
                <a:latin typeface="Microsoft JhengHei"/>
              </a:rPr>
              <a:t>10%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38160" y="5943600"/>
            <a:ext cx="3520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300" b="0" spc="-10">
                <a:solidFill>
                  <a:srgbClr val="8A8A8A"/>
                </a:solidFill>
                <a:latin typeface="Microsoft JhengHei"/>
              </a:rPr>
              <a:t>運氣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M2 · STRIKE × AI STUDIO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21 / 64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M2 · THREE ATTACK LEVELS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4000" b="1" spc="-130">
                <a:solidFill>
                  <a:srgbClr val="111111"/>
                </a:solidFill>
                <a:latin typeface="Microsoft JhengHei"/>
              </a:rPr>
              <a:t>三層進攻策略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65960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-20">
                <a:solidFill>
                  <a:srgbClr val="8A8A8A"/>
                </a:solidFill>
                <a:latin typeface="Microsoft JhengHei"/>
              </a:rPr>
              <a:t>配對今天三個工具。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31520" y="256032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31520" y="2697480"/>
            <a:ext cx="109728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1" spc="-100">
                <a:solidFill>
                  <a:srgbClr val="111111"/>
                </a:solidFill>
                <a:latin typeface="Microsoft JhengHei"/>
              </a:rPr>
              <a:t>L1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2788920"/>
            <a:ext cx="27432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 spc="-40">
                <a:solidFill>
                  <a:srgbClr val="111111"/>
                </a:solidFill>
                <a:latin typeface="Microsoft JhengHei"/>
              </a:rPr>
              <a:t>試探射擊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11680" y="3246120"/>
            <a:ext cx="27432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00">
                <a:solidFill>
                  <a:srgbClr val="8A8A8A"/>
                </a:solidFill>
                <a:latin typeface="Consolas"/>
              </a:rPr>
              <a:t>Recon Fire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37760" y="2834640"/>
            <a:ext cx="3840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-10">
                <a:solidFill>
                  <a:srgbClr val="3A3A3A"/>
                </a:solidFill>
                <a:latin typeface="Microsoft JhengHei"/>
              </a:rPr>
              <a:t>一句話丟出去，看 AI 能做什麼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0" y="2834640"/>
            <a:ext cx="26517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spc="100">
                <a:solidFill>
                  <a:srgbClr val="8A8A8A"/>
                </a:solidFill>
                <a:latin typeface="Consolas"/>
              </a:rPr>
              <a:t>→ AI Studio 快速驗證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31520" y="3611879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731520" y="3749039"/>
            <a:ext cx="109728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1" spc="-100">
                <a:solidFill>
                  <a:srgbClr val="111111"/>
                </a:solidFill>
                <a:latin typeface="Microsoft JhengHei"/>
              </a:rPr>
              <a:t>L2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11680" y="3840479"/>
            <a:ext cx="27432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 spc="-40">
                <a:solidFill>
                  <a:srgbClr val="111111"/>
                </a:solidFill>
                <a:latin typeface="Microsoft JhengHei"/>
              </a:rPr>
              <a:t>精準打擊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11680" y="4297679"/>
            <a:ext cx="27432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00">
                <a:solidFill>
                  <a:srgbClr val="8A8A8A"/>
                </a:solidFill>
                <a:latin typeface="Consolas"/>
              </a:rPr>
              <a:t>Precision Strike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37760" y="3886199"/>
            <a:ext cx="3840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-10">
                <a:solidFill>
                  <a:srgbClr val="3A3A3A"/>
                </a:solidFill>
                <a:latin typeface="Microsoft JhengHei"/>
              </a:rPr>
              <a:t>完整 STRIKE 六要素，一次到位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69680" y="3886199"/>
            <a:ext cx="26517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spc="100">
                <a:solidFill>
                  <a:srgbClr val="8A8A8A"/>
                </a:solidFill>
                <a:latin typeface="Consolas"/>
              </a:rPr>
              <a:t>→ PRD / Antigravity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31520" y="466344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731520" y="4800600"/>
            <a:ext cx="109728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1" spc="-100">
                <a:solidFill>
                  <a:srgbClr val="111111"/>
                </a:solidFill>
                <a:latin typeface="Microsoft JhengHei"/>
              </a:rPr>
              <a:t>L3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11680" y="4892040"/>
            <a:ext cx="27432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 spc="-40">
                <a:solidFill>
                  <a:srgbClr val="111111"/>
                </a:solidFill>
                <a:latin typeface="Microsoft JhengHei"/>
              </a:rPr>
              <a:t>鏈式攻擊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011680" y="5349240"/>
            <a:ext cx="27432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00">
                <a:solidFill>
                  <a:srgbClr val="8A8A8A"/>
                </a:solidFill>
                <a:latin typeface="Consolas"/>
              </a:rPr>
              <a:t>Chain Attack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37760" y="4937760"/>
            <a:ext cx="3840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-10">
                <a:solidFill>
                  <a:srgbClr val="3A3A3A"/>
                </a:solidFill>
                <a:latin typeface="Microsoft JhengHei"/>
              </a:rPr>
              <a:t>複雜任務拆 3-5 步，前一步 → 下一步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69680" y="4937760"/>
            <a:ext cx="26517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spc="100">
                <a:solidFill>
                  <a:srgbClr val="8A8A8A"/>
                </a:solidFill>
                <a:latin typeface="Consolas"/>
              </a:rPr>
              <a:t>→ Gemini CLI 管道 &amp; 迭代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31520" y="576072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731520" y="5897880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300" b="0" spc="100">
                <a:solidFill>
                  <a:srgbClr val="8A8A8A"/>
                </a:solidFill>
                <a:latin typeface="Consolas"/>
              </a:rPr>
              <a:t>三變數快篩：歧義度  ·  風險度  ·  自動化度  →  10 秒決定打法。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M2 · STRIKE × AI STUDIO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22 / 64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M2 · THE TOOL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4400" b="1" spc="-150">
                <a:solidFill>
                  <a:srgbClr val="111111"/>
                </a:solidFill>
                <a:latin typeface="Microsoft JhengHei"/>
              </a:rPr>
              <a:t>Google AI Studio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65960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8A8A8A"/>
                </a:solidFill>
                <a:latin typeface="Microsoft JhengHei"/>
              </a:rPr>
              <a:t>瀏覽器裡的 AI 實驗場。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31520" y="265176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31520" y="2834640"/>
            <a:ext cx="7315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200">
                <a:solidFill>
                  <a:srgbClr val="8A8A8A"/>
                </a:solidFill>
                <a:latin typeface="Consolas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2788920"/>
            <a:ext cx="36576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spc="-30">
                <a:solidFill>
                  <a:srgbClr val="111111"/>
                </a:solidFill>
                <a:latin typeface="Microsoft JhengHei"/>
              </a:rPr>
              <a:t>零安裝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0" y="2834640"/>
            <a:ext cx="5760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spc="-20">
                <a:solidFill>
                  <a:srgbClr val="3A3A3A"/>
                </a:solidFill>
                <a:latin typeface="Microsoft JhengHei"/>
              </a:rPr>
              <a:t>免費，直接用 Gemini 最新模型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31520" y="333756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731520" y="3520440"/>
            <a:ext cx="7315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200">
                <a:solidFill>
                  <a:srgbClr val="8A8A8A"/>
                </a:solidFill>
                <a:latin typeface="Consolas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45920" y="3474720"/>
            <a:ext cx="36576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spc="-30">
                <a:solidFill>
                  <a:srgbClr val="111111"/>
                </a:solidFill>
                <a:latin typeface="Microsoft JhengHei"/>
              </a:rPr>
              <a:t>System Instruction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0" y="3520440"/>
            <a:ext cx="5760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spc="-20">
                <a:solidFill>
                  <a:srgbClr val="3A3A3A"/>
                </a:solidFill>
                <a:latin typeface="Microsoft JhengHei"/>
              </a:rPr>
              <a:t>放 S + R + K（設一次用多次）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31520" y="402336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731520" y="4206240"/>
            <a:ext cx="7315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200">
                <a:solidFill>
                  <a:srgbClr val="8A8A8A"/>
                </a:solidFill>
                <a:latin typeface="Consolas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45920" y="4160520"/>
            <a:ext cx="36576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spc="-30">
                <a:solidFill>
                  <a:srgbClr val="111111"/>
                </a:solidFill>
                <a:latin typeface="Microsoft JhengHei"/>
              </a:rPr>
              <a:t>Prompt 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0" y="4206240"/>
            <a:ext cx="5760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spc="-20">
                <a:solidFill>
                  <a:srgbClr val="3A3A3A"/>
                </a:solidFill>
                <a:latin typeface="Microsoft JhengHei"/>
              </a:rPr>
              <a:t>每次放 T + I + E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31520" y="470916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731520" y="4892040"/>
            <a:ext cx="7315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200">
                <a:solidFill>
                  <a:srgbClr val="8A8A8A"/>
                </a:solidFill>
                <a:latin typeface="Consolas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4846320"/>
            <a:ext cx="36576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spc="-30">
                <a:solidFill>
                  <a:srgbClr val="111111"/>
                </a:solidFill>
                <a:latin typeface="Microsoft JhengHei"/>
              </a:rPr>
              <a:t>Compare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0" y="4892040"/>
            <a:ext cx="5760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spc="-20">
                <a:solidFill>
                  <a:srgbClr val="3A3A3A"/>
                </a:solidFill>
                <a:latin typeface="Microsoft JhengHei"/>
              </a:rPr>
              <a:t>同一 prompt 比兩個模型 / 兩種寫法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731520" y="571500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731520" y="5852160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1" spc="100">
                <a:solidFill>
                  <a:srgbClr val="111111"/>
                </a:solidFill>
                <a:latin typeface="Consolas"/>
              </a:rPr>
              <a:t>aistudio.google.com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M2 · STRIKE × AI STUDIO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23 / 64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640080"/>
            <a:ext cx="1188720" cy="347472"/>
          </a:xfrm>
          <a:prstGeom prst="roundRect">
            <a:avLst>
              <a:gd name="adj" fmla="val 50000"/>
            </a:avLst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8288" bIns="18288"/>
          <a:lstStyle/>
          <a:p>
            <a:pPr algn="ctr"/>
            <a:r>
              <a:rPr sz="1000" b="1" spc="200">
                <a:solidFill>
                  <a:srgbClr val="FFFFFF"/>
                </a:solidFill>
                <a:latin typeface="Consolas"/>
              </a:rPr>
              <a:t>HANDS-ON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800" b="1" spc="-130">
                <a:solidFill>
                  <a:srgbClr val="111111"/>
                </a:solidFill>
                <a:latin typeface="Microsoft JhengHei"/>
              </a:rPr>
              <a:t>實作 1：STRIKE 填空套版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194560"/>
            <a:ext cx="10698480" cy="3383280"/>
          </a:xfrm>
          <a:prstGeom prst="roundRect">
            <a:avLst>
              <a:gd name="adj" fmla="val 3000"/>
            </a:avLst>
          </a:prstGeom>
          <a:solidFill>
            <a:srgbClr val="FAFAFA"/>
          </a:solidFill>
          <a:ln w="9525"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0" bIns="182880"/>
          <a:lstStyle/>
          <a:p>
            <a:pPr algn="l">
              <a:lnSpc>
                <a:spcPct val="130000"/>
              </a:lnSpc>
            </a:pPr>
            <a:r>
              <a:rPr sz="1500">
                <a:solidFill>
                  <a:srgbClr val="111111"/>
                </a:solidFill>
                <a:latin typeface="Consolas"/>
              </a:rPr>
              <a:t>【S】我是 _____________ ，正在 _____________ 。</a:t>
            </a:r>
          </a:p>
          <a:p>
            <a:pPr algn="l">
              <a:lnSpc>
                <a:spcPct val="130000"/>
              </a:lnSpc>
            </a:pPr>
            <a:r>
              <a:rPr sz="1500">
                <a:solidFill>
                  <a:srgbClr val="111111"/>
                </a:solidFill>
                <a:latin typeface="Consolas"/>
              </a:rPr>
              <a:t>【T】請 [動詞] 一份 [產出物]</a:t>
            </a:r>
          </a:p>
          <a:p>
            <a:pPr algn="l">
              <a:lnSpc>
                <a:spcPct val="130000"/>
              </a:lnSpc>
            </a:pPr>
            <a:r>
              <a:rPr sz="1500">
                <a:solidFill>
                  <a:srgbClr val="111111"/>
                </a:solidFill>
                <a:latin typeface="Consolas"/>
              </a:rPr>
              <a:t>【R】你是 _____________（專業身分）</a:t>
            </a:r>
          </a:p>
          <a:p>
            <a:pPr algn="l">
              <a:lnSpc>
                <a:spcPct val="130000"/>
              </a:lnSpc>
            </a:pPr>
            <a:r>
              <a:rPr sz="1500">
                <a:solidFill>
                  <a:srgbClr val="111111"/>
                </a:solidFill>
                <a:latin typeface="Consolas"/>
              </a:rPr>
              <a:t>【I】[貼上你的資料 / 痛點描述]</a:t>
            </a:r>
          </a:p>
          <a:p>
            <a:pPr algn="l">
              <a:lnSpc>
                <a:spcPct val="130000"/>
              </a:lnSpc>
            </a:pPr>
            <a:r>
              <a:rPr sz="1500">
                <a:solidFill>
                  <a:srgbClr val="111111"/>
                </a:solidFill>
                <a:latin typeface="Consolas"/>
              </a:rPr>
              <a:t>【K】格式：___ ；字數：___ ；禁止：___</a:t>
            </a:r>
          </a:p>
          <a:p>
            <a:pPr algn="l">
              <a:lnSpc>
                <a:spcPct val="130000"/>
              </a:lnSpc>
            </a:pPr>
            <a:r>
              <a:rPr sz="1500">
                <a:solidFill>
                  <a:srgbClr val="111111"/>
                </a:solidFill>
                <a:latin typeface="Consolas"/>
              </a:rPr>
              <a:t>【E】參考格式：___</a:t>
            </a:r>
          </a:p>
          <a:p>
            <a:pPr algn="l">
              <a:lnSpc>
                <a:spcPct val="130000"/>
              </a:lnSpc>
            </a:pPr>
            <a:r>
              <a:rPr sz="1500">
                <a:solidFill>
                  <a:srgbClr val="111111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500">
                <a:solidFill>
                  <a:srgbClr val="111111"/>
                </a:solidFill>
                <a:latin typeface="Consolas"/>
              </a:rPr>
              <a:t>在 AI Studio 測 3 次，每次只改一格，看產出變化。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31520" y="571500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31520" y="5852160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300" b="0" spc="150">
                <a:solidFill>
                  <a:srgbClr val="8A8A8A"/>
                </a:solidFill>
                <a:latin typeface="Consolas"/>
              </a:rPr>
              <a:t>25 分鐘  ·  關鍵：一次只改一格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M2 · STRIKE × AI STUDIO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24 / 64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640080"/>
            <a:ext cx="1188720" cy="347472"/>
          </a:xfrm>
          <a:prstGeom prst="roundRect">
            <a:avLst>
              <a:gd name="adj" fmla="val 50000"/>
            </a:avLst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8288" bIns="18288"/>
          <a:lstStyle/>
          <a:p>
            <a:pPr algn="ctr"/>
            <a:r>
              <a:rPr sz="1000" b="1" spc="200">
                <a:solidFill>
                  <a:srgbClr val="FFFFFF"/>
                </a:solidFill>
                <a:latin typeface="Consolas"/>
              </a:rPr>
              <a:t>HANDS-ON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1" spc="-120">
                <a:solidFill>
                  <a:srgbClr val="111111"/>
                </a:solidFill>
                <a:latin typeface="Microsoft JhengHei"/>
              </a:rPr>
              <a:t>實作 2：用 STRIKE 寫出你的 PRD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057400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-20">
                <a:solidFill>
                  <a:srgbClr val="8A8A8A"/>
                </a:solidFill>
                <a:latin typeface="Microsoft JhengHei"/>
              </a:rPr>
              <a:t>PRD 本身就是一份 L2 精準打擊。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606040"/>
            <a:ext cx="10698480" cy="3108960"/>
          </a:xfrm>
          <a:prstGeom prst="roundRect">
            <a:avLst>
              <a:gd name="adj" fmla="val 3000"/>
            </a:avLst>
          </a:prstGeom>
          <a:solidFill>
            <a:srgbClr val="FAFAFA"/>
          </a:solidFill>
          <a:ln w="9525"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0" bIns="182880"/>
          <a:lstStyle/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>跟 AI 說：</a:t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>"基於上面 STRIKE，請幫我寫一份產品規格文件（PRD）：</a:t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>  ① 產品一句話（S + T）</a:t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>  ② 目標使用者（S）</a:t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>  ③ 功能清單（T 拆成 5 項以內）</a:t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>  ④ 輸入 / 輸出範例（I + E）</a:t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>  ⑤ 驗收標準（K：介面、技術限制、不做的事）"</a:t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>把產出複製到共用文件，下午丟進 Antigravity。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731520" y="585216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31520" y="5989320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300" b="0" spc="150">
                <a:solidFill>
                  <a:srgbClr val="8A8A8A"/>
                </a:solidFill>
                <a:latin typeface="Consolas"/>
              </a:rPr>
              <a:t>20 分鐘  ·  砍得狠，下午才做得成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M2 · STRIKE × AI STUDIO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25 / 64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M2 · DEFENSE &amp; RECAP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000" b="1" spc="-100">
                <a:solidFill>
                  <a:srgbClr val="111111"/>
                </a:solidFill>
                <a:latin typeface="Microsoft JhengHei"/>
              </a:rPr>
              <a:t>AI 會一本正經地胡說八道。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91640"/>
            <a:ext cx="1069848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000" b="1" spc="-100">
                <a:solidFill>
                  <a:srgbClr val="111111"/>
                </a:solidFill>
                <a:latin typeface="Microsoft JhengHei"/>
              </a:rPr>
              <a:t>三句話救你。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834640"/>
            <a:ext cx="3520440" cy="1371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E8E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3154680"/>
            <a:ext cx="32004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700" b="1" spc="-30">
                <a:solidFill>
                  <a:srgbClr val="111111"/>
                </a:solidFill>
                <a:latin typeface="Microsoft JhengHei"/>
              </a:rPr>
              <a:t>「為什麼？」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3703320"/>
            <a:ext cx="3200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 spc="-10">
                <a:solidFill>
                  <a:srgbClr val="8A8A8A"/>
                </a:solidFill>
                <a:latin typeface="Microsoft JhengHei"/>
              </a:rPr>
              <a:t>逼它交代推理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34840" y="2834640"/>
            <a:ext cx="3520440" cy="1371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E8E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63440" y="3154680"/>
            <a:ext cx="32004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700" b="1" spc="-30">
                <a:solidFill>
                  <a:srgbClr val="111111"/>
                </a:solidFill>
                <a:latin typeface="Microsoft JhengHei"/>
              </a:rPr>
              <a:t>「還有其他方案嗎？」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3703320"/>
            <a:ext cx="3200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 spc="-10">
                <a:solidFill>
                  <a:srgbClr val="8A8A8A"/>
                </a:solidFill>
                <a:latin typeface="Microsoft JhengHei"/>
              </a:rPr>
              <a:t>打破第一直覺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38160" y="2834640"/>
            <a:ext cx="3520440" cy="1371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E8E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66760" y="3154680"/>
            <a:ext cx="32004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700" b="1" spc="-30">
                <a:solidFill>
                  <a:srgbClr val="111111"/>
                </a:solidFill>
                <a:latin typeface="Microsoft JhengHei"/>
              </a:rPr>
              <a:t>「幫我找出這段的漏洞」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66760" y="3703320"/>
            <a:ext cx="3200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 spc="-10">
                <a:solidFill>
                  <a:srgbClr val="8A8A8A"/>
                </a:solidFill>
                <a:latin typeface="Microsoft JhengHei"/>
              </a:rPr>
              <a:t>讓 AI 自攻自己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31520" y="4572000"/>
            <a:ext cx="10698480" cy="0"/>
          </a:xfrm>
          <a:prstGeom prst="line">
            <a:avLst/>
          </a:prstGeom>
          <a:ln w="6350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31520" y="470916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M2 RECAP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074920"/>
            <a:ext cx="1069848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-10">
                <a:solidFill>
                  <a:srgbClr val="3A3A3A"/>
                </a:solidFill>
                <a:latin typeface="Microsoft JhengHei"/>
              </a:rPr>
              <a:t>·  STRIKE 六字訣：S / T / R / I / K / 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394959"/>
            <a:ext cx="1069848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-10">
                <a:solidFill>
                  <a:srgbClr val="3A3A3A"/>
                </a:solidFill>
                <a:latin typeface="Microsoft JhengHei"/>
              </a:rPr>
              <a:t>·  救命組合：T + K + I（80% 可用）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5715000"/>
            <a:ext cx="1069848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-10">
                <a:solidFill>
                  <a:srgbClr val="3A3A3A"/>
                </a:solidFill>
                <a:latin typeface="Microsoft JhengHei"/>
              </a:rPr>
              <a:t>·  打法選擇：L1 試探 · L2 精準 · L3 鏈式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6035040"/>
            <a:ext cx="1069848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-10">
                <a:solidFill>
                  <a:srgbClr val="3A3A3A"/>
                </a:solidFill>
                <a:latin typeface="Microsoft JhengHei"/>
              </a:rPr>
              <a:t>·  你手上有一份 PRD，下午變成可運行的東西。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M2 · STRIKE × AI STUDIO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26 / 64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91840"/>
            <a:ext cx="3047923" cy="137160"/>
          </a:xfrm>
          <a:prstGeom prst="rect">
            <a:avLst/>
          </a:prstGeom>
          <a:solidFill>
            <a:srgbClr val="F9D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923" y="3291840"/>
            <a:ext cx="3047923" cy="137160"/>
          </a:xfrm>
          <a:prstGeom prst="rect">
            <a:avLst/>
          </a:prstGeom>
          <a:solidFill>
            <a:srgbClr val="DDCC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847" y="3291840"/>
            <a:ext cx="3047923" cy="137160"/>
          </a:xfrm>
          <a:prstGeom prst="rect">
            <a:avLst/>
          </a:prstGeom>
          <a:solidFill>
            <a:srgbClr val="FDF0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771" y="3291840"/>
            <a:ext cx="3047923" cy="137160"/>
          </a:xfrm>
          <a:prstGeom prst="rect">
            <a:avLst/>
          </a:prstGeom>
          <a:solidFill>
            <a:srgbClr val="CCE6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0972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250">
                <a:solidFill>
                  <a:srgbClr val="8A8A8A"/>
                </a:solidFill>
                <a:latin typeface="Consolas"/>
              </a:rPr>
              <a:t>MODULE M3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463040"/>
            <a:ext cx="1097280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300">
                <a:solidFill>
                  <a:srgbClr val="8A8A8A"/>
                </a:solidFill>
                <a:latin typeface="Consolas"/>
              </a:rPr>
              <a:t>M3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920240"/>
            <a:ext cx="10972800" cy="12801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800" b="1" spc="-350">
                <a:solidFill>
                  <a:srgbClr val="111111"/>
                </a:solidFill>
                <a:latin typeface="Microsoft JhengHei"/>
              </a:rPr>
              <a:t>Antigravity · Vibe Coding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840480"/>
            <a:ext cx="10972800" cy="1463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600" b="0" spc="-40">
                <a:solidFill>
                  <a:srgbClr val="3A3A3A"/>
                </a:solidFill>
                <a:latin typeface="Microsoft JhengHei"/>
              </a:rPr>
              <a:t>你描述需求  ·  AI 負責寫程式碼。</a:t>
            </a:r>
          </a:p>
          <a:p>
            <a:pPr algn="l">
              <a:lnSpc>
                <a:spcPct val="140000"/>
              </a:lnSpc>
            </a:pPr>
            <a:r>
              <a:rPr sz="2600" b="0" spc="-40">
                <a:solidFill>
                  <a:srgbClr val="3A3A3A"/>
                </a:solidFill>
                <a:latin typeface="Microsoft JhengHei"/>
              </a:rPr>
              <a:t>這是今天的主場。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M3 · ANTIGRAVITY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27 / 64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M3 · DEFINITION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4000" b="1" spc="-130">
                <a:solidFill>
                  <a:srgbClr val="111111"/>
                </a:solidFill>
                <a:latin typeface="Microsoft JhengHei"/>
              </a:rPr>
              <a:t>什麼是 Vibe Coding？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65960"/>
            <a:ext cx="1069848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8A8A8A"/>
                </a:solidFill>
                <a:latin typeface="Microsoft JhengHei"/>
              </a:rPr>
              <a:t>不寫程式碼，用自然語言描述你要什麼。AI 把你的想法變成可運行的產品。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31520" y="2926080"/>
            <a:ext cx="10698480" cy="0"/>
          </a:xfrm>
          <a:prstGeom prst="line">
            <a:avLst/>
          </a:prstGeom>
          <a:ln w="6350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31520" y="306324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156B4A"/>
                </a:solidFill>
                <a:latin typeface="Consolas"/>
              </a:rPr>
              <a:t>✓ YOUR JOB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63640" y="306324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B45309"/>
                </a:solidFill>
                <a:latin typeface="Consolas"/>
              </a:rPr>
              <a:t>× NOT YOUR JOB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566160"/>
            <a:ext cx="52120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1" spc="-30">
                <a:solidFill>
                  <a:srgbClr val="111111"/>
                </a:solidFill>
                <a:latin typeface="Microsoft JhengHei"/>
              </a:rPr>
              <a:t>定義問題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63640" y="3566160"/>
            <a:ext cx="52120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0" spc="-30">
                <a:solidFill>
                  <a:srgbClr val="8A8A8A"/>
                </a:solidFill>
                <a:latin typeface="Microsoft JhengHei"/>
              </a:rPr>
              <a:t>寫程式碼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069080"/>
            <a:ext cx="52120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1" spc="-30">
                <a:solidFill>
                  <a:srgbClr val="111111"/>
                </a:solidFill>
                <a:latin typeface="Microsoft JhengHei"/>
              </a:rPr>
              <a:t>描述需求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63640" y="4069080"/>
            <a:ext cx="52120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0" spc="-30">
                <a:solidFill>
                  <a:srgbClr val="8A8A8A"/>
                </a:solidFill>
                <a:latin typeface="Microsoft JhengHei"/>
              </a:rPr>
              <a:t>記語法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572000"/>
            <a:ext cx="52120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1" spc="-30">
                <a:solidFill>
                  <a:srgbClr val="111111"/>
                </a:solidFill>
                <a:latin typeface="Microsoft JhengHei"/>
              </a:rPr>
              <a:t>驗證結果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63640" y="4572000"/>
            <a:ext cx="52120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0" spc="-30">
                <a:solidFill>
                  <a:srgbClr val="8A8A8A"/>
                </a:solidFill>
                <a:latin typeface="Microsoft JhengHei"/>
              </a:rPr>
              <a:t>除 bug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5074920"/>
            <a:ext cx="52120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1" spc="-30">
                <a:solidFill>
                  <a:srgbClr val="111111"/>
                </a:solidFill>
                <a:latin typeface="Microsoft JhengHei"/>
              </a:rPr>
              <a:t>修正方向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5074920"/>
            <a:ext cx="52120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0" spc="-30">
                <a:solidFill>
                  <a:srgbClr val="8A8A8A"/>
                </a:solidFill>
                <a:latin typeface="Microsoft JhengHei"/>
              </a:rPr>
              <a:t>看 stack trace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M3 · ANTIGRAVITY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28 / 64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M3 · THE TOOL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4400" b="1" spc="-150">
                <a:solidFill>
                  <a:srgbClr val="111111"/>
                </a:solidFill>
                <a:latin typeface="Microsoft JhengHei"/>
              </a:rPr>
              <a:t>Antigravity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65960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8A8A8A"/>
                </a:solidFill>
                <a:latin typeface="Microsoft JhengHei"/>
              </a:rPr>
              <a:t>Agent-first IDE。不是自動補全，是整個專案都幫你做。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31520" y="283464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31520" y="3017520"/>
            <a:ext cx="53035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1" spc="-30">
                <a:solidFill>
                  <a:srgbClr val="111111"/>
                </a:solidFill>
                <a:latin typeface="Microsoft JhengHei"/>
              </a:rPr>
              <a:t>你是任務管理者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63640" y="3017520"/>
            <a:ext cx="53035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0" spc="-30">
                <a:solidFill>
                  <a:srgbClr val="3A3A3A"/>
                </a:solidFill>
                <a:latin typeface="Microsoft JhengHei"/>
              </a:rPr>
              <a:t>AI 是開發者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31520" y="361188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31520" y="3794760"/>
            <a:ext cx="53035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1" spc="-30">
                <a:solidFill>
                  <a:srgbClr val="111111"/>
                </a:solidFill>
                <a:latin typeface="Microsoft JhengHei"/>
              </a:rPr>
              <a:t>你描述需求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63640" y="3794760"/>
            <a:ext cx="53035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0" spc="-30">
                <a:solidFill>
                  <a:srgbClr val="3A3A3A"/>
                </a:solidFill>
                <a:latin typeface="Microsoft JhengHei"/>
              </a:rPr>
              <a:t>AI 規劃 + 寫程式碼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31520" y="438912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731520" y="4572000"/>
            <a:ext cx="53035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1" spc="-30">
                <a:solidFill>
                  <a:srgbClr val="111111"/>
                </a:solidFill>
                <a:latin typeface="Microsoft JhengHei"/>
              </a:rPr>
              <a:t>你看到每行改動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63640" y="4572000"/>
            <a:ext cx="53035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0" spc="-30">
                <a:solidFill>
                  <a:srgbClr val="3A3A3A"/>
                </a:solidFill>
                <a:latin typeface="Microsoft JhengHei"/>
              </a:rPr>
              <a:t>AI 解釋為什麼這樣寫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31520" y="548640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31520" y="5669280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0" spc="150">
                <a:solidFill>
                  <a:srgbClr val="8A8A8A"/>
                </a:solidFill>
                <a:latin typeface="Consolas"/>
              </a:rPr>
              <a:t>Free · Public Preview  ·  antigravity.google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M3 · ANTIGRAVITY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29 / 64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M3 · THE LOOP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4000" b="1" spc="-130">
                <a:solidFill>
                  <a:srgbClr val="111111"/>
                </a:solidFill>
                <a:latin typeface="Microsoft JhengHei"/>
              </a:rPr>
              <a:t>Vibe Coding 五步流程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31520" y="219456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31520" y="2377440"/>
            <a:ext cx="9144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200">
                <a:solidFill>
                  <a:srgbClr val="8A8A8A"/>
                </a:solidFill>
                <a:latin typeface="Consolas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2331720"/>
            <a:ext cx="32004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 spc="-40">
                <a:solidFill>
                  <a:srgbClr val="111111"/>
                </a:solidFill>
                <a:latin typeface="Microsoft JhengHei"/>
              </a:rPr>
              <a:t>描述需求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0" y="2377440"/>
            <a:ext cx="62179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-20">
                <a:solidFill>
                  <a:srgbClr val="8A8A8A"/>
                </a:solidFill>
                <a:latin typeface="Microsoft JhengHei"/>
              </a:rPr>
              <a:t>用 M2 的 STRIKE（PRD = L2 精準打擊）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31520" y="288036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31520" y="3063240"/>
            <a:ext cx="9144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200">
                <a:solidFill>
                  <a:srgbClr val="8A8A8A"/>
                </a:solidFill>
                <a:latin typeface="Consolas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3017520"/>
            <a:ext cx="32004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 spc="-40">
                <a:solidFill>
                  <a:srgbClr val="111111"/>
                </a:solidFill>
                <a:latin typeface="Microsoft JhengHei"/>
              </a:rPr>
              <a:t>看 AI 規劃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0" y="3063240"/>
            <a:ext cx="62179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-20">
                <a:solidFill>
                  <a:srgbClr val="8A8A8A"/>
                </a:solidFill>
                <a:latin typeface="Microsoft JhengHei"/>
              </a:rPr>
              <a:t>AI 列出：做什麼檔案、用什麼技術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31520" y="356616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731520" y="3749040"/>
            <a:ext cx="9144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200">
                <a:solidFill>
                  <a:srgbClr val="8A8A8A"/>
                </a:solidFill>
                <a:latin typeface="Consolas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3703320"/>
            <a:ext cx="32004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 spc="-40">
                <a:solidFill>
                  <a:srgbClr val="111111"/>
                </a:solidFill>
                <a:latin typeface="Microsoft JhengHei"/>
              </a:rPr>
              <a:t>看程式碼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0" y="3749040"/>
            <a:ext cx="62179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-20">
                <a:solidFill>
                  <a:srgbClr val="8A8A8A"/>
                </a:solidFill>
                <a:latin typeface="Microsoft JhengHei"/>
              </a:rPr>
              <a:t>不用懂，但要看。不懂就問 AI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31520" y="425196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731520" y="4434840"/>
            <a:ext cx="9144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200">
                <a:solidFill>
                  <a:srgbClr val="8A8A8A"/>
                </a:solidFill>
                <a:latin typeface="Consolas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28800" y="4389120"/>
            <a:ext cx="32004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 spc="-40">
                <a:solidFill>
                  <a:srgbClr val="111111"/>
                </a:solidFill>
                <a:latin typeface="Microsoft JhengHei"/>
              </a:rPr>
              <a:t>測試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03520" y="4434840"/>
            <a:ext cx="62179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-20">
                <a:solidFill>
                  <a:srgbClr val="8A8A8A"/>
                </a:solidFill>
                <a:latin typeface="Microsoft JhengHei"/>
              </a:rPr>
              <a:t>跑起來、點一點、貼資料試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31520" y="493776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731520" y="5120640"/>
            <a:ext cx="9144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200">
                <a:solidFill>
                  <a:srgbClr val="8A8A8A"/>
                </a:solidFill>
                <a:latin typeface="Consolas"/>
              </a:rPr>
              <a:t>05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5074920"/>
            <a:ext cx="32004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 spc="-40">
                <a:solidFill>
                  <a:srgbClr val="111111"/>
                </a:solidFill>
                <a:latin typeface="Microsoft JhengHei"/>
              </a:rPr>
              <a:t>自然語言修正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03520" y="5120640"/>
            <a:ext cx="62179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-20">
                <a:solidFill>
                  <a:srgbClr val="8A8A8A"/>
                </a:solidFill>
                <a:latin typeface="Microsoft JhengHei"/>
              </a:rPr>
              <a:t>「太擠」「加匯出」「顏色改深藍」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5989320"/>
            <a:ext cx="106984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300" b="0" spc="150">
                <a:solidFill>
                  <a:srgbClr val="8A8A8A"/>
                </a:solidFill>
                <a:latin typeface="Consolas"/>
              </a:rPr>
              <a:t>↻  回到 03、04 直到滿意。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M3 · ANTIGRAVITY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30 / 64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047923" cy="228600"/>
          </a:xfrm>
          <a:prstGeom prst="rect">
            <a:avLst/>
          </a:prstGeom>
          <a:solidFill>
            <a:srgbClr val="F9D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923" y="0"/>
            <a:ext cx="3047923" cy="228600"/>
          </a:xfrm>
          <a:prstGeom prst="rect">
            <a:avLst/>
          </a:prstGeom>
          <a:solidFill>
            <a:srgbClr val="DDCC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847" y="0"/>
            <a:ext cx="3047923" cy="228600"/>
          </a:xfrm>
          <a:prstGeom prst="rect">
            <a:avLst/>
          </a:prstGeom>
          <a:solidFill>
            <a:srgbClr val="FDF0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771" y="0"/>
            <a:ext cx="3047923" cy="228600"/>
          </a:xfrm>
          <a:prstGeom prst="rect">
            <a:avLst/>
          </a:prstGeom>
          <a:solidFill>
            <a:srgbClr val="CCE6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18872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THE MOST IMPORTANT MINDSET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01168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5000" b="0" spc="-150">
                <a:solidFill>
                  <a:srgbClr val="8A8A8A"/>
                </a:solidFill>
                <a:latin typeface="Microsoft JhengHei"/>
              </a:rPr>
              <a:t>AI 做錯了，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017520"/>
            <a:ext cx="10698480" cy="11887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8000" b="1" spc="-300">
                <a:solidFill>
                  <a:srgbClr val="111111"/>
                </a:solidFill>
                <a:latin typeface="Microsoft JhengHei"/>
              </a:rPr>
              <a:t>不是去改 code，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297680"/>
            <a:ext cx="10698480" cy="11887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8000" b="1" spc="-300">
                <a:solidFill>
                  <a:srgbClr val="111111"/>
                </a:solidFill>
                <a:latin typeface="Microsoft JhengHei"/>
              </a:rPr>
              <a:t>是去改描述。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M3 · ANTIGRAVITY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31 / 64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M3 · HOW TO FIX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800" b="1" spc="-130">
                <a:solidFill>
                  <a:srgbClr val="111111"/>
                </a:solidFill>
                <a:latin typeface="Microsoft JhengHei"/>
              </a:rPr>
              <a:t>自然語言修正範例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28600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B45309"/>
                </a:solidFill>
                <a:latin typeface="Consolas"/>
              </a:rPr>
              <a:t>× DON'T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63640" y="228600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156B4A"/>
                </a:solidFill>
                <a:latin typeface="Consolas"/>
              </a:rPr>
              <a:t>✓ DO THIS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731520" y="283464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31520" y="2999232"/>
            <a:ext cx="52120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-20">
                <a:solidFill>
                  <a:srgbClr val="8A8A8A"/>
                </a:solidFill>
                <a:latin typeface="Microsoft JhengHei"/>
              </a:rPr>
              <a:t>打開 .css 改色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63640" y="2999232"/>
            <a:ext cx="52120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30">
                <a:solidFill>
                  <a:srgbClr val="111111"/>
                </a:solidFill>
                <a:latin typeface="Consolas"/>
              </a:rPr>
              <a:t>「首頁主色改成深藍 #1E40AF」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31520" y="347472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731520" y="3639312"/>
            <a:ext cx="52120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-20">
                <a:solidFill>
                  <a:srgbClr val="8A8A8A"/>
                </a:solidFill>
                <a:latin typeface="Microsoft JhengHei"/>
              </a:rPr>
              <a:t>去修 JS 邏輯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63640" y="3639312"/>
            <a:ext cx="52120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30">
                <a:solidFill>
                  <a:srgbClr val="111111"/>
                </a:solidFill>
                <a:latin typeface="Consolas"/>
              </a:rPr>
              <a:t>「搜尋功能沒動作，請檢查」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31520" y="411480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731520" y="4279392"/>
            <a:ext cx="52120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-20">
                <a:solidFill>
                  <a:srgbClr val="8A8A8A"/>
                </a:solidFill>
                <a:latin typeface="Microsoft JhengHei"/>
              </a:rPr>
              <a:t>自己調排版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63640" y="4279392"/>
            <a:ext cx="52120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30">
                <a:solidFill>
                  <a:srgbClr val="111111"/>
                </a:solidFill>
                <a:latin typeface="Consolas"/>
              </a:rPr>
              <a:t>「卡片間距太擠，間隔加大 30%」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731520" y="4754879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731520" y="4919471"/>
            <a:ext cx="52120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-20">
                <a:solidFill>
                  <a:srgbClr val="8A8A8A"/>
                </a:solidFill>
                <a:latin typeface="Microsoft JhengHei"/>
              </a:rPr>
              <a:t>複製 error 問它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4919471"/>
            <a:ext cx="52120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30">
                <a:solidFill>
                  <a:srgbClr val="111111"/>
                </a:solidFill>
                <a:latin typeface="Consolas"/>
              </a:rPr>
              <a:t>「跑起來白畫面，請幫我找問題」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731520" y="5394960"/>
            <a:ext cx="10698480" cy="0"/>
          </a:xfrm>
          <a:prstGeom prst="line">
            <a:avLst/>
          </a:prstGeom>
          <a:ln w="6350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731520" y="5577840"/>
            <a:ext cx="1069848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2400" b="1" spc="-40">
                <a:solidFill>
                  <a:srgbClr val="111111"/>
                </a:solidFill>
                <a:latin typeface="Microsoft JhengHei"/>
              </a:rPr>
              <a:t>修正方向  ≠  修改程式碼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M3 · ANTIGRAVITY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32 / 64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047923" cy="228600"/>
          </a:xfrm>
          <a:prstGeom prst="rect">
            <a:avLst/>
          </a:prstGeom>
          <a:solidFill>
            <a:srgbClr val="F9D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923" y="0"/>
            <a:ext cx="3047923" cy="228600"/>
          </a:xfrm>
          <a:prstGeom prst="rect">
            <a:avLst/>
          </a:prstGeom>
          <a:solidFill>
            <a:srgbClr val="DDCC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847" y="0"/>
            <a:ext cx="3047923" cy="228600"/>
          </a:xfrm>
          <a:prstGeom prst="rect">
            <a:avLst/>
          </a:prstGeom>
          <a:solidFill>
            <a:srgbClr val="FDF0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771" y="0"/>
            <a:ext cx="3047923" cy="228600"/>
          </a:xfrm>
          <a:prstGeom prst="rect">
            <a:avLst/>
          </a:prstGeom>
          <a:solidFill>
            <a:srgbClr val="CCE6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18872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LIVE DEMO — 15 MIN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828800"/>
            <a:ext cx="10698480" cy="1371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9600" b="1" spc="-400">
                <a:solidFill>
                  <a:srgbClr val="111111"/>
                </a:solidFill>
                <a:latin typeface="Microsoft JhengHei"/>
              </a:rPr>
              <a:t>Demo Time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566160"/>
            <a:ext cx="1069848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>講師把一份 PRD 丟進 Antigravity，全程走完五步流程，現場做出一個小工具。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286000" y="4846320"/>
            <a:ext cx="758952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731520" y="5029200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400" b="0" spc="150">
                <a:solidFill>
                  <a:srgbClr val="8A8A8A"/>
                </a:solidFill>
                <a:latin typeface="Consolas"/>
              </a:rPr>
              <a:t>學員記下：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440680"/>
            <a:ext cx="1069848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400" b="0" spc="-10">
                <a:solidFill>
                  <a:srgbClr val="3A3A3A"/>
                </a:solidFill>
                <a:latin typeface="Microsoft JhengHei"/>
              </a:rPr>
              <a:t>·  AI 怎麼規劃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5760720"/>
            <a:ext cx="1069848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400" b="0" spc="-10">
                <a:solidFill>
                  <a:srgbClr val="3A3A3A"/>
                </a:solidFill>
                <a:latin typeface="Microsoft JhengHei"/>
              </a:rPr>
              <a:t>·  AI 的 code 大概長什麼樣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6080760"/>
            <a:ext cx="1069848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400" b="0" spc="-10">
                <a:solidFill>
                  <a:srgbClr val="3A3A3A"/>
                </a:solidFill>
                <a:latin typeface="Microsoft JhengHei"/>
              </a:rPr>
              <a:t>·  講師怎麼「說話」修正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M3 · ANTIGRAVITY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33 / 64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640080"/>
            <a:ext cx="1188720" cy="347472"/>
          </a:xfrm>
          <a:prstGeom prst="roundRect">
            <a:avLst>
              <a:gd name="adj" fmla="val 50000"/>
            </a:avLst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8288" bIns="18288"/>
          <a:lstStyle/>
          <a:p>
            <a:pPr algn="ctr"/>
            <a:r>
              <a:rPr sz="1000" b="1" spc="200">
                <a:solidFill>
                  <a:srgbClr val="FFFFFF"/>
                </a:solidFill>
                <a:latin typeface="Consolas"/>
              </a:rPr>
              <a:t>HANDS-ON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4000" b="1" spc="-130">
                <a:solidFill>
                  <a:srgbClr val="111111"/>
                </a:solidFill>
                <a:latin typeface="Microsoft JhengHei"/>
              </a:rPr>
              <a:t>實作：你的專案，你來做（第一輪）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31520" y="2194560"/>
            <a:ext cx="10698480" cy="0"/>
          </a:xfrm>
          <a:prstGeom prst="line">
            <a:avLst/>
          </a:prstGeom>
          <a:ln w="12700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14400" y="2514600"/>
            <a:ext cx="10332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>01   打開 Antigravity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971800"/>
            <a:ext cx="10332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>02   建新專案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429000"/>
            <a:ext cx="10332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>03   把你的 PRD 貼到第一個 prompt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886200"/>
            <a:ext cx="10332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>04   讓 AI 規劃 → 看 code → 測試 → 修正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343400"/>
            <a:ext cx="10332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>05   跑到一個「可以看的版本」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800600"/>
            <a:ext cx="10332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5257800"/>
            <a:ext cx="10332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>卡關 2 分鐘以上：舉手。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31520" y="562356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731520" y="5760720"/>
            <a:ext cx="2743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50">
                <a:solidFill>
                  <a:srgbClr val="8A8A8A"/>
                </a:solidFill>
                <a:latin typeface="Consolas"/>
              </a:rPr>
              <a:t>Duration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5989320"/>
            <a:ext cx="106984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1" spc="-30">
                <a:solidFill>
                  <a:srgbClr val="111111"/>
                </a:solidFill>
                <a:latin typeface="Microsoft JhengHei"/>
              </a:rPr>
              <a:t>60 分鐘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M3 · ANTIGRAVITY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34 / 64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M3 · COMMON ISSUES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800" b="1" spc="-130">
                <a:solidFill>
                  <a:srgbClr val="111111"/>
                </a:solidFill>
                <a:latin typeface="Microsoft JhengHei"/>
              </a:rPr>
              <a:t>常見問題  ×  處理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28600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SITUATION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63640" y="228600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RESPONSE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731520" y="283464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31520" y="2971800"/>
            <a:ext cx="52120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-20">
                <a:solidFill>
                  <a:srgbClr val="3A3A3A"/>
                </a:solidFill>
                <a:latin typeface="Microsoft JhengHei"/>
              </a:rPr>
              <a:t>AI 產出的 UI 超醜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63640" y="2971800"/>
            <a:ext cx="52120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30">
                <a:solidFill>
                  <a:srgbClr val="111111"/>
                </a:solidFill>
                <a:latin typeface="Consolas"/>
              </a:rPr>
              <a:t>「介面改得更簡潔現代，用 Tailwind」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31520" y="342900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731520" y="3566160"/>
            <a:ext cx="52120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-20">
                <a:solidFill>
                  <a:srgbClr val="3A3A3A"/>
                </a:solidFill>
                <a:latin typeface="Microsoft JhengHei"/>
              </a:rPr>
              <a:t>功能少了一塊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63640" y="3566160"/>
            <a:ext cx="52120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30">
                <a:solidFill>
                  <a:srgbClr val="111111"/>
                </a:solidFill>
                <a:latin typeface="Consolas"/>
              </a:rPr>
              <a:t>「請加上 XX 功能，規格同 PRD 第 N 項」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31520" y="402336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731520" y="4160520"/>
            <a:ext cx="52120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-20">
                <a:solidFill>
                  <a:srgbClr val="3A3A3A"/>
                </a:solidFill>
                <a:latin typeface="Microsoft JhengHei"/>
              </a:rPr>
              <a:t>跑起來錯誤訊息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63640" y="4160520"/>
            <a:ext cx="52120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30">
                <a:solidFill>
                  <a:srgbClr val="111111"/>
                </a:solidFill>
                <a:latin typeface="Consolas"/>
              </a:rPr>
              <a:t>把訊息貼給 AI，請它修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731520" y="461772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731520" y="4754880"/>
            <a:ext cx="52120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-20">
                <a:solidFill>
                  <a:srgbClr val="3A3A3A"/>
                </a:solidFill>
                <a:latin typeface="Microsoft JhengHei"/>
              </a:rPr>
              <a:t>AI 一直繞圈圈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4754880"/>
            <a:ext cx="52120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30">
                <a:solidFill>
                  <a:srgbClr val="111111"/>
                </a:solidFill>
                <a:latin typeface="Consolas"/>
              </a:rPr>
              <a:t>重開新 chat，重新描述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731520" y="521208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731520" y="5349240"/>
            <a:ext cx="52120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-20">
                <a:solidFill>
                  <a:srgbClr val="3A3A3A"/>
                </a:solidFill>
                <a:latin typeface="Microsoft JhengHei"/>
              </a:rPr>
              <a:t>AI 做太多、加了沒要的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5349240"/>
            <a:ext cx="52120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30">
                <a:solidFill>
                  <a:srgbClr val="111111"/>
                </a:solidFill>
                <a:latin typeface="Consolas"/>
              </a:rPr>
              <a:t>「請砍掉 XX 功能，我只要 YY」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M3 · ANTIGRAVITY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35 / 64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640080"/>
            <a:ext cx="1188720" cy="347472"/>
          </a:xfrm>
          <a:prstGeom prst="roundRect">
            <a:avLst>
              <a:gd name="adj" fmla="val 50000"/>
            </a:avLst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8288" bIns="18288"/>
          <a:lstStyle/>
          <a:p>
            <a:pPr algn="ctr"/>
            <a:r>
              <a:rPr sz="1000" b="1" spc="200">
                <a:solidFill>
                  <a:srgbClr val="FFFFFF"/>
                </a:solidFill>
                <a:latin typeface="Consolas"/>
              </a:rPr>
              <a:t>HANDS-ON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4000" b="1" spc="-130">
                <a:solidFill>
                  <a:srgbClr val="111111"/>
                </a:solidFill>
                <a:latin typeface="Microsoft JhengHei"/>
              </a:rPr>
              <a:t>實作：加一個新功能（第二輪）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31520" y="2194560"/>
            <a:ext cx="10698480" cy="0"/>
          </a:xfrm>
          <a:prstGeom prst="line">
            <a:avLst/>
          </a:prstGeom>
          <a:ln w="12700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14400" y="2514600"/>
            <a:ext cx="10332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>選一個（或你自己想的）：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971800"/>
            <a:ext cx="10332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>□   加匯出 CSV / JSON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429000"/>
            <a:ext cx="10332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>□   加深色主題切換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886200"/>
            <a:ext cx="10332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>□   加歷史紀錄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343400"/>
            <a:ext cx="10332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>□   加搜尋 / 篩選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800600"/>
            <a:ext cx="10332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5257800"/>
            <a:ext cx="10332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>完全用自然語言跟 Antigravity 說。迭代才是 Vibe Coding 的精髓。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31520" y="562356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731520" y="5760720"/>
            <a:ext cx="2743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50">
                <a:solidFill>
                  <a:srgbClr val="8A8A8A"/>
                </a:solidFill>
                <a:latin typeface="Consolas"/>
              </a:rPr>
              <a:t>Duration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5989320"/>
            <a:ext cx="106984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1" spc="-30">
                <a:solidFill>
                  <a:srgbClr val="111111"/>
                </a:solidFill>
                <a:latin typeface="Microsoft JhengHei"/>
              </a:rPr>
              <a:t>20 分鐘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M3 · ANTIGRAVITY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36 / 64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047923" cy="228600"/>
          </a:xfrm>
          <a:prstGeom prst="rect">
            <a:avLst/>
          </a:prstGeom>
          <a:solidFill>
            <a:srgbClr val="F9D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923" y="0"/>
            <a:ext cx="3047923" cy="228600"/>
          </a:xfrm>
          <a:prstGeom prst="rect">
            <a:avLst/>
          </a:prstGeom>
          <a:solidFill>
            <a:srgbClr val="DDCC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847" y="0"/>
            <a:ext cx="3047923" cy="228600"/>
          </a:xfrm>
          <a:prstGeom prst="rect">
            <a:avLst/>
          </a:prstGeom>
          <a:solidFill>
            <a:srgbClr val="FDF0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771" y="0"/>
            <a:ext cx="3047923" cy="228600"/>
          </a:xfrm>
          <a:prstGeom prst="rect">
            <a:avLst/>
          </a:prstGeom>
          <a:solidFill>
            <a:srgbClr val="CCE6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37160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CHECKPOINT 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737360"/>
            <a:ext cx="10698480" cy="1371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200" b="1" spc="-250">
                <a:solidFill>
                  <a:srgbClr val="111111"/>
                </a:solidFill>
                <a:latin typeface="Microsoft JhengHei"/>
              </a:rPr>
              <a:t>CP2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108960"/>
            <a:ext cx="1069848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400" b="0" spc="-30">
                <a:solidFill>
                  <a:srgbClr val="3A3A3A"/>
                </a:solidFill>
                <a:latin typeface="Microsoft JhengHei"/>
              </a:rPr>
              <a:t>打開你的電腦，你能看到……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31520" y="3931920"/>
            <a:ext cx="10698480" cy="0"/>
          </a:xfrm>
          <a:prstGeom prst="line">
            <a:avLst/>
          </a:prstGeom>
          <a:ln w="12700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731520" y="4160520"/>
            <a:ext cx="10698480" cy="1371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600" b="1" spc="-40">
                <a:solidFill>
                  <a:srgbClr val="111111"/>
                </a:solidFill>
                <a:latin typeface="Microsoft JhengHei"/>
              </a:rPr>
              <a:t>□  你的專案跑起來了</a:t>
            </a:r>
          </a:p>
          <a:p>
            <a:pPr algn="l">
              <a:lnSpc>
                <a:spcPct val="150000"/>
              </a:lnSpc>
            </a:pPr>
            <a:r>
              <a:rPr sz="2600" b="1" spc="-40">
                <a:solidFill>
                  <a:srgbClr val="111111"/>
                </a:solidFill>
                <a:latin typeface="Microsoft JhengHei"/>
              </a:rPr>
              <a:t>□  可以貼資料 / 點按鈕試功能</a:t>
            </a:r>
          </a:p>
          <a:p>
            <a:pPr algn="l">
              <a:lnSpc>
                <a:spcPct val="150000"/>
              </a:lnSpc>
            </a:pPr>
            <a:r>
              <a:rPr sz="2600" b="1" spc="-40">
                <a:solidFill>
                  <a:srgbClr val="111111"/>
                </a:solidFill>
                <a:latin typeface="Microsoft JhengHei"/>
              </a:rPr>
              <a:t>□  經過至少一次自然語言修正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852160"/>
            <a:ext cx="106984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100">
                <a:solidFill>
                  <a:srgbClr val="8A8A8A"/>
                </a:solidFill>
                <a:latin typeface="Consolas"/>
              </a:rPr>
              <a:t>寫得出來 → 過關    ·    寫不出來 → 舉手，我們一起再拆一次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M3 · ANTIGRAVITY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37 / 64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M3 · RECAP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4000" b="1" spc="-130">
                <a:solidFill>
                  <a:srgbClr val="111111"/>
                </a:solidFill>
                <a:latin typeface="Microsoft JhengHei"/>
              </a:rPr>
              <a:t>M3 小結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31520" y="228600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31520" y="2423160"/>
            <a:ext cx="1069848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0" spc="-30">
                <a:solidFill>
                  <a:srgbClr val="111111"/>
                </a:solidFill>
                <a:latin typeface="Microsoft JhengHei"/>
              </a:rPr>
              <a:t>·  Vibe Coding = 描述需求比寫 code 重要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731520" y="292608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31520" y="3063240"/>
            <a:ext cx="1069848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0" spc="-30">
                <a:solidFill>
                  <a:srgbClr val="111111"/>
                </a:solidFill>
                <a:latin typeface="Microsoft JhengHei"/>
              </a:rPr>
              <a:t>·  AI 做錯 → 改描述，不是改 code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31520" y="356616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31520" y="3703320"/>
            <a:ext cx="1069848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0" spc="-30">
                <a:solidFill>
                  <a:srgbClr val="111111"/>
                </a:solidFill>
                <a:latin typeface="Microsoft JhengHei"/>
              </a:rPr>
              <a:t>·  迭代才是精髓，一次成功只是運氣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31520" y="420624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31520" y="4343400"/>
            <a:ext cx="1069848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0" spc="-30">
                <a:solidFill>
                  <a:srgbClr val="111111"/>
                </a:solidFill>
                <a:latin typeface="Microsoft JhengHei"/>
              </a:rPr>
              <a:t>·  你已經有一個可運行的小專案了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31520" y="493776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731520" y="5669280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600" b="0" spc="-20">
                <a:solidFill>
                  <a:srgbClr val="3A3A3A"/>
                </a:solidFill>
                <a:latin typeface="Microsoft JhengHei"/>
              </a:rPr>
              <a:t>下一站：我們讓它變得更強 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6035040"/>
            <a:ext cx="106984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 spc="150">
                <a:solidFill>
                  <a:srgbClr val="8A8A8A"/>
                </a:solidFill>
                <a:latin typeface="Consolas"/>
              </a:rPr>
              <a:t>☕  休息 10 分鐘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M3 · ANTIGRAVITY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38 / 64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91840"/>
            <a:ext cx="3047923" cy="137160"/>
          </a:xfrm>
          <a:prstGeom prst="rect">
            <a:avLst/>
          </a:prstGeom>
          <a:solidFill>
            <a:srgbClr val="F9D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923" y="3291840"/>
            <a:ext cx="3047923" cy="137160"/>
          </a:xfrm>
          <a:prstGeom prst="rect">
            <a:avLst/>
          </a:prstGeom>
          <a:solidFill>
            <a:srgbClr val="DDCC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847" y="3291840"/>
            <a:ext cx="3047923" cy="137160"/>
          </a:xfrm>
          <a:prstGeom prst="rect">
            <a:avLst/>
          </a:prstGeom>
          <a:solidFill>
            <a:srgbClr val="FDF0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771" y="3291840"/>
            <a:ext cx="3047923" cy="137160"/>
          </a:xfrm>
          <a:prstGeom prst="rect">
            <a:avLst/>
          </a:prstGeom>
          <a:solidFill>
            <a:srgbClr val="CCE6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0972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250">
                <a:solidFill>
                  <a:srgbClr val="8A8A8A"/>
                </a:solidFill>
                <a:latin typeface="Consolas"/>
              </a:rPr>
              <a:t>MODULE M4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463040"/>
            <a:ext cx="1097280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300">
                <a:solidFill>
                  <a:srgbClr val="8A8A8A"/>
                </a:solidFill>
                <a:latin typeface="Consolas"/>
              </a:rPr>
              <a:t>M4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920240"/>
            <a:ext cx="10972800" cy="12801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800" b="1" spc="-350">
                <a:solidFill>
                  <a:srgbClr val="111111"/>
                </a:solidFill>
                <a:latin typeface="Microsoft JhengHei"/>
              </a:rPr>
              <a:t>Gemini CLI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840480"/>
            <a:ext cx="10972800" cy="1463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600" b="0" spc="-40">
                <a:solidFill>
                  <a:srgbClr val="3A3A3A"/>
                </a:solidFill>
                <a:latin typeface="Microsoft JhengHei"/>
              </a:rPr>
              <a:t>從「介面操作」到「打字就走」。</a:t>
            </a:r>
          </a:p>
          <a:p>
            <a:pPr algn="l">
              <a:lnSpc>
                <a:spcPct val="140000"/>
              </a:lnSpc>
            </a:pPr>
            <a:r>
              <a:rPr sz="2600" b="0" spc="-40">
                <a:solidFill>
                  <a:srgbClr val="3A3A3A"/>
                </a:solidFill>
                <a:latin typeface="Microsoft JhengHei"/>
              </a:rPr>
              <a:t>順便學 2026 通用 coding agent 技能。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M4 · GEMINI CLI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39 / 64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M4 · THE TERMINAL IS FRIENDLY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4000" b="1" spc="-130">
                <a:solidFill>
                  <a:srgbClr val="111111"/>
                </a:solidFill>
                <a:latin typeface="Microsoft JhengHei"/>
              </a:rPr>
              <a:t>終端機沒那麼可怕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65960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8A8A8A"/>
                </a:solidFill>
                <a:latin typeface="Microsoft JhengHei"/>
              </a:rPr>
              <a:t>終端機  =  用打字代替點滑鼠。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651760"/>
            <a:ext cx="106984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150">
                <a:solidFill>
                  <a:srgbClr val="8A8A8A"/>
                </a:solidFill>
                <a:latin typeface="Consolas"/>
              </a:rPr>
              <a:t>你已經會：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017520"/>
            <a:ext cx="10698480" cy="548640"/>
          </a:xfrm>
          <a:prstGeom prst="roundRect">
            <a:avLst>
              <a:gd name="adj" fmla="val 3000"/>
            </a:avLst>
          </a:prstGeom>
          <a:solidFill>
            <a:srgbClr val="FAFAFA"/>
          </a:solidFill>
          <a:ln w="9525"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0" bIns="182880"/>
          <a:lstStyle/>
          <a:p>
            <a:pPr algn="l">
              <a:lnSpc>
                <a:spcPct val="130000"/>
              </a:lnSpc>
            </a:pPr>
            <a:r>
              <a:rPr sz="1500">
                <a:solidFill>
                  <a:srgbClr val="111111"/>
                </a:solidFill>
                <a:latin typeface="Consolas"/>
              </a:rPr>
              <a:t>打開網頁 → 輸入網址 → Enter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794760"/>
            <a:ext cx="106984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150">
                <a:solidFill>
                  <a:srgbClr val="8A8A8A"/>
                </a:solidFill>
                <a:latin typeface="Consolas"/>
              </a:rPr>
              <a:t>跟這個一樣，只是：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160520"/>
            <a:ext cx="10698480" cy="548640"/>
          </a:xfrm>
          <a:prstGeom prst="roundRect">
            <a:avLst>
              <a:gd name="adj" fmla="val 3000"/>
            </a:avLst>
          </a:prstGeom>
          <a:solidFill>
            <a:srgbClr val="FAFAFA"/>
          </a:solidFill>
          <a:ln w="9525"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0" bIns="182880"/>
          <a:lstStyle/>
          <a:p>
            <a:pPr algn="l">
              <a:lnSpc>
                <a:spcPct val="130000"/>
              </a:lnSpc>
            </a:pPr>
            <a:r>
              <a:rPr sz="1500">
                <a:solidFill>
                  <a:srgbClr val="111111"/>
                </a:solidFill>
                <a:latin typeface="Consolas"/>
              </a:rPr>
              <a:t>打開終端 → 輸入指令 → Enter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892040"/>
            <a:ext cx="106984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150">
                <a:solidFill>
                  <a:srgbClr val="8A8A8A"/>
                </a:solidFill>
                <a:latin typeface="Consolas"/>
              </a:rPr>
              <a:t>三個指令你馬上就會：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5257800"/>
            <a:ext cx="10698480" cy="1005840"/>
          </a:xfrm>
          <a:prstGeom prst="roundRect">
            <a:avLst>
              <a:gd name="adj" fmla="val 3000"/>
            </a:avLst>
          </a:prstGeom>
          <a:solidFill>
            <a:srgbClr val="FAFAFA"/>
          </a:solidFill>
          <a:ln w="9525"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0" bIns="182880"/>
          <a:lstStyle/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>gemini "hello"</a:t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>gemini "把這句翻成英文：今天天氣真好"</a:t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>cat news.txt | gemini "用三句話摘要"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M4 · GEMINI CLI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40 / 64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M4 · CONTINUITY ACROSS TOOLS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600" b="1" spc="-120">
                <a:solidFill>
                  <a:srgbClr val="111111"/>
                </a:solidFill>
                <a:latin typeface="Microsoft JhengHei"/>
              </a:rPr>
              <a:t>你在 M2 學的 STRIKE，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8308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600" b="1" spc="-120">
                <a:solidFill>
                  <a:srgbClr val="111111"/>
                </a:solidFill>
                <a:latin typeface="Microsoft JhengHei"/>
              </a:rPr>
              <a:t>可以直接當 CLI 指令用。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31520" y="301752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31520" y="3200400"/>
            <a:ext cx="52120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2200" b="1" spc="-40">
                <a:solidFill>
                  <a:srgbClr val="111111"/>
                </a:solidFill>
                <a:latin typeface="Microsoft JhengHei"/>
              </a:rPr>
              <a:t>貼到 AI Studio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0" y="3200400"/>
            <a:ext cx="4572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2200" b="0">
                <a:solidFill>
                  <a:srgbClr val="8A8A8A"/>
                </a:solidFill>
                <a:latin typeface="Microsoft JhengHei"/>
              </a:rPr>
              <a:t>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3200400"/>
            <a:ext cx="50292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0" spc="-40">
                <a:solidFill>
                  <a:srgbClr val="3A3A3A"/>
                </a:solidFill>
                <a:latin typeface="Microsoft JhengHei"/>
              </a:rPr>
              <a:t>瀏覽器看結果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31520" y="3794759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731520" y="3977639"/>
            <a:ext cx="52120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2200" b="1" spc="-40">
                <a:solidFill>
                  <a:srgbClr val="111111"/>
                </a:solidFill>
                <a:latin typeface="Microsoft JhengHei"/>
              </a:rPr>
              <a:t>丟進 Antigravity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3977639"/>
            <a:ext cx="4572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2200" b="0">
                <a:solidFill>
                  <a:srgbClr val="8A8A8A"/>
                </a:solidFill>
                <a:latin typeface="Microsoft JhengHei"/>
              </a:rPr>
              <a:t>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3977639"/>
            <a:ext cx="50292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0" spc="-40">
                <a:solidFill>
                  <a:srgbClr val="3A3A3A"/>
                </a:solidFill>
                <a:latin typeface="Microsoft JhengHei"/>
              </a:rPr>
              <a:t>IDE 裡做專案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31520" y="457200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731520" y="4754880"/>
            <a:ext cx="52120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2200" b="1" spc="-40">
                <a:solidFill>
                  <a:srgbClr val="111111"/>
                </a:solidFill>
                <a:latin typeface="Microsoft JhengHei"/>
              </a:rPr>
              <a:t>打進 Gemini CLI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0" y="4754880"/>
            <a:ext cx="4572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2200" b="0">
                <a:solidFill>
                  <a:srgbClr val="8A8A8A"/>
                </a:solidFill>
                <a:latin typeface="Microsoft JhengHei"/>
              </a:rPr>
              <a:t>→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4754880"/>
            <a:ext cx="50292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0" spc="-40">
                <a:solidFill>
                  <a:srgbClr val="3A3A3A"/>
                </a:solidFill>
                <a:latin typeface="Microsoft JhengHei"/>
              </a:rPr>
              <a:t>終端機立刻跑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31520" y="5486400"/>
            <a:ext cx="10698480" cy="0"/>
          </a:xfrm>
          <a:prstGeom prst="line">
            <a:avLst/>
          </a:prstGeom>
          <a:ln w="6350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731520" y="5669280"/>
            <a:ext cx="1069848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2200" b="1" spc="-40">
                <a:solidFill>
                  <a:srgbClr val="111111"/>
                </a:solidFill>
                <a:latin typeface="Microsoft JhengHei"/>
              </a:rPr>
              <a:t>差別只在介面，不在 prompt。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M4 · GEMINI CLI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41 / 64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M4 · FIVE COMMANDS TO USE TODAY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600" b="1" spc="-120">
                <a:solidFill>
                  <a:srgbClr val="111111"/>
                </a:solidFill>
                <a:latin typeface="Microsoft JhengHei"/>
              </a:rPr>
              <a:t>五個你馬上能用的指令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011680"/>
            <a:ext cx="10698480" cy="4206240"/>
          </a:xfrm>
          <a:prstGeom prst="roundRect">
            <a:avLst>
              <a:gd name="adj" fmla="val 3000"/>
            </a:avLst>
          </a:prstGeom>
          <a:solidFill>
            <a:srgbClr val="FAFAFA"/>
          </a:solidFill>
          <a:ln w="9525"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0" bIns="182880"/>
          <a:lstStyle/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># 1. 直接問</a:t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>gemini "幫我把這句中文翻成英文：你好嗎"</a:t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># 2. 管道：把檔案丟給 AI</a:t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>cat news.txt | gemini "用三句話摘要"</a:t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># 3. 寫入輸出</a:t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>gemini "這段 CSV 轉成 JSON" &lt; data.csv &gt; data.json</a:t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># 4. 套 prompt 模板</a:t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>gemini "你是編輯(R)，用五要格式(K)摘要：$(cat input.txt)"</a:t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># 5. L3 鏈式（前一步 | 後一步）</a:t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>cat news.txt | gemini "摘要" | gemini "翻成英文"</a:t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># 進階：互動模式</a:t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>gemini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M4 · GEMINI CLI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42 / 64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M4 · THE SHAPE OF A CODING AGENT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4000" b="1" spc="-130">
                <a:solidFill>
                  <a:srgbClr val="111111"/>
                </a:solidFill>
                <a:latin typeface="Microsoft JhengHei"/>
              </a:rPr>
              <a:t>認識你的 coding agent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65960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8A8A8A"/>
                </a:solidFill>
                <a:latin typeface="Microsoft JhengHei"/>
              </a:rPr>
              <a:t>你今天碰到的三個工具，其實都是同一種東西。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31520" y="283464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31520" y="3017520"/>
            <a:ext cx="41148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400" b="1" spc="-40">
                <a:solidFill>
                  <a:srgbClr val="111111"/>
                </a:solidFill>
                <a:latin typeface="Microsoft JhengHei"/>
              </a:rPr>
              <a:t>🗣  聊天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0" y="3017520"/>
            <a:ext cx="64008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0" spc="-30">
                <a:solidFill>
                  <a:srgbClr val="3A3A3A"/>
                </a:solidFill>
                <a:latin typeface="Microsoft JhengHei"/>
              </a:rPr>
              <a:t>跟你對話、寫程式碼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31520" y="361188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31520" y="3794760"/>
            <a:ext cx="41148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400" b="1" spc="-40">
                <a:solidFill>
                  <a:srgbClr val="111111"/>
                </a:solidFill>
                <a:latin typeface="Microsoft JhengHei"/>
              </a:rPr>
              <a:t>📂  看檔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0" y="3794760"/>
            <a:ext cx="64008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0" spc="-30">
                <a:solidFill>
                  <a:srgbClr val="3A3A3A"/>
                </a:solidFill>
                <a:latin typeface="Microsoft JhengHei"/>
              </a:rPr>
              <a:t>讀你電腦上的檔案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31520" y="438912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731520" y="4572000"/>
            <a:ext cx="41148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400" b="1" spc="-40">
                <a:solidFill>
                  <a:srgbClr val="111111"/>
                </a:solidFill>
                <a:latin typeface="Microsoft JhengHei"/>
              </a:rPr>
              <a:t>🔧  用工具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0" y="4572000"/>
            <a:ext cx="64008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0" spc="-30">
                <a:solidFill>
                  <a:srgbClr val="3A3A3A"/>
                </a:solidFill>
                <a:latin typeface="Microsoft JhengHei"/>
              </a:rPr>
              <a:t>搜尋、執行指令、呼叫服務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31520" y="5349240"/>
            <a:ext cx="10698480" cy="0"/>
          </a:xfrm>
          <a:prstGeom prst="line">
            <a:avLst/>
          </a:prstGeom>
          <a:ln w="6350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31520" y="5577840"/>
            <a:ext cx="1069848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2200" b="1" spc="-40">
                <a:solidFill>
                  <a:srgbClr val="111111"/>
                </a:solidFill>
                <a:latin typeface="Microsoft JhengHei"/>
              </a:rPr>
              <a:t>差別只在「介面」與「能用哪些工具」。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M4 · GEMINI CLI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43 / 64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M4 · GEMINI.MD — PROJECT MEMORY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4000" b="1" spc="-100">
                <a:solidFill>
                  <a:srgbClr val="111111"/>
                </a:solidFill>
                <a:latin typeface="Consolas"/>
              </a:rPr>
              <a:t>GEMINI.md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74519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8A8A8A"/>
                </a:solidFill>
                <a:latin typeface="Microsoft JhengHei"/>
              </a:rPr>
              <a:t>給 agent 一份「公司守則」。每次開工自動讀。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606040"/>
            <a:ext cx="10698480" cy="2011680"/>
          </a:xfrm>
          <a:prstGeom prst="roundRect">
            <a:avLst>
              <a:gd name="adj" fmla="val 3000"/>
            </a:avLst>
          </a:prstGeom>
          <a:solidFill>
            <a:srgbClr val="FAFAFA"/>
          </a:solidFill>
          <a:ln w="9525"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0" bIns="182880"/>
          <a:lstStyle/>
          <a:p>
            <a:pPr algn="l">
              <a:lnSpc>
                <a:spcPct val="130000"/>
              </a:lnSpc>
            </a:pPr>
            <a:r>
              <a:rPr sz="1400">
                <a:solidFill>
                  <a:srgbClr val="111111"/>
                </a:solidFill>
                <a:latin typeface="Consolas"/>
              </a:rPr>
              <a:t># 我的新聞摘要工具</a:t>
            </a:r>
          </a:p>
          <a:p>
            <a:pPr algn="l">
              <a:lnSpc>
                <a:spcPct val="130000"/>
              </a:lnSpc>
            </a:pPr>
            <a:r>
              <a:rPr sz="1400">
                <a:solidFill>
                  <a:srgbClr val="111111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400">
                <a:solidFill>
                  <a:srgbClr val="111111"/>
                </a:solidFill>
                <a:latin typeface="Consolas"/>
              </a:rPr>
              <a:t>- 語言：Python</a:t>
            </a:r>
          </a:p>
          <a:p>
            <a:pPr algn="l">
              <a:lnSpc>
                <a:spcPct val="130000"/>
              </a:lnSpc>
            </a:pPr>
            <a:r>
              <a:rPr sz="1400">
                <a:solidFill>
                  <a:srgbClr val="111111"/>
                </a:solidFill>
                <a:latin typeface="Consolas"/>
              </a:rPr>
              <a:t>- 永遠用繁體中文回覆</a:t>
            </a:r>
          </a:p>
          <a:p>
            <a:pPr algn="l">
              <a:lnSpc>
                <a:spcPct val="130000"/>
              </a:lnSpc>
            </a:pPr>
            <a:r>
              <a:rPr sz="1400">
                <a:solidFill>
                  <a:srgbClr val="111111"/>
                </a:solidFill>
                <a:latin typeface="Consolas"/>
              </a:rPr>
              <a:t>- 摘要請限制在 100 字內</a:t>
            </a:r>
          </a:p>
          <a:p>
            <a:pPr algn="l">
              <a:lnSpc>
                <a:spcPct val="130000"/>
              </a:lnSpc>
            </a:pPr>
            <a:r>
              <a:rPr sz="1400">
                <a:solidFill>
                  <a:srgbClr val="111111"/>
                </a:solidFill>
                <a:latin typeface="Consolas"/>
              </a:rPr>
              <a:t>- 程式碼請加註解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800600"/>
            <a:ext cx="106984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150">
                <a:solidFill>
                  <a:srgbClr val="8A8A8A"/>
                </a:solidFill>
                <a:latin typeface="Consolas"/>
              </a:rPr>
              <a:t>兩個層級（Gemini CLI 都吃）：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66360"/>
            <a:ext cx="10698480" cy="1005840"/>
          </a:xfrm>
          <a:prstGeom prst="roundRect">
            <a:avLst>
              <a:gd name="adj" fmla="val 3000"/>
            </a:avLst>
          </a:prstGeom>
          <a:solidFill>
            <a:srgbClr val="FAFAFA"/>
          </a:solidFill>
          <a:ln w="9525"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0" bIns="182880"/>
          <a:lstStyle/>
          <a:p>
            <a:pPr algn="l">
              <a:lnSpc>
                <a:spcPct val="130000"/>
              </a:lnSpc>
            </a:pPr>
            <a:r>
              <a:rPr sz="1400">
                <a:solidFill>
                  <a:srgbClr val="111111"/>
                </a:solidFill>
                <a:latin typeface="Consolas"/>
              </a:rPr>
              <a:t>~/.gemini/GEMINI.md   = 全域（所有專案都套用）</a:t>
            </a:r>
          </a:p>
          <a:p>
            <a:pPr algn="l">
              <a:lnSpc>
                <a:spcPct val="130000"/>
              </a:lnSpc>
            </a:pPr>
            <a:r>
              <a:rPr sz="1400">
                <a:solidFill>
                  <a:srgbClr val="111111"/>
                </a:solidFill>
                <a:latin typeface="Consolas"/>
              </a:rPr>
              <a:t>./GEMINI.md           = 這個專案專用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M4 · GEMINI CLI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44 / 64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M4 · @ REFERENCE — FEED FILES INTO CHAT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600" b="1" spc="-120">
                <a:solidFill>
                  <a:srgbClr val="111111"/>
                </a:solidFill>
                <a:latin typeface="Microsoft JhengHei"/>
              </a:rPr>
              <a:t>@ 引用：把檔案丟進對話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03120"/>
            <a:ext cx="106984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150">
                <a:solidFill>
                  <a:srgbClr val="8A8A8A"/>
                </a:solidFill>
                <a:latin typeface="Consolas"/>
              </a:rPr>
              <a:t>舊招（M4 前半教過）：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468880"/>
            <a:ext cx="10698480" cy="548640"/>
          </a:xfrm>
          <a:prstGeom prst="roundRect">
            <a:avLst>
              <a:gd name="adj" fmla="val 3000"/>
            </a:avLst>
          </a:prstGeom>
          <a:solidFill>
            <a:srgbClr val="FAFAFA"/>
          </a:solidFill>
          <a:ln w="9525"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0" bIns="182880"/>
          <a:lstStyle/>
          <a:p>
            <a:pPr algn="l">
              <a:lnSpc>
                <a:spcPct val="130000"/>
              </a:lnSpc>
            </a:pPr>
            <a:r>
              <a:rPr sz="1500">
                <a:solidFill>
                  <a:srgbClr val="111111"/>
                </a:solidFill>
                <a:latin typeface="Consolas"/>
              </a:rPr>
              <a:t>cat news.txt | gemini "摘要"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246120"/>
            <a:ext cx="106984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150">
                <a:solidFill>
                  <a:srgbClr val="8A8A8A"/>
                </a:solidFill>
                <a:latin typeface="Consolas"/>
              </a:rPr>
              <a:t>新招（更簡單）：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611880"/>
            <a:ext cx="10698480" cy="548640"/>
          </a:xfrm>
          <a:prstGeom prst="roundRect">
            <a:avLst>
              <a:gd name="adj" fmla="val 3000"/>
            </a:avLst>
          </a:prstGeom>
          <a:solidFill>
            <a:srgbClr val="FAFAFA"/>
          </a:solidFill>
          <a:ln w="9525"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0" bIns="182880"/>
          <a:lstStyle/>
          <a:p>
            <a:pPr algn="l">
              <a:lnSpc>
                <a:spcPct val="130000"/>
              </a:lnSpc>
            </a:pPr>
            <a:r>
              <a:rPr sz="1500">
                <a:solidFill>
                  <a:srgbClr val="111111"/>
                </a:solidFill>
                <a:latin typeface="Consolas"/>
              </a:rPr>
              <a:t>gemini "@news.txt 幫我摘要"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31520" y="443484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31520" y="4572000"/>
            <a:ext cx="1069848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-20">
                <a:solidFill>
                  <a:srgbClr val="3A3A3A"/>
                </a:solidFill>
                <a:latin typeface="Microsoft JhengHei"/>
              </a:rPr>
              <a:t>cat |  =  把檔案內容「灌」進去（單檔、純文字）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983480"/>
            <a:ext cx="1069848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-20">
                <a:solidFill>
                  <a:srgbClr val="3A3A3A"/>
                </a:solidFill>
                <a:latin typeface="Microsoft JhengHei"/>
              </a:rPr>
              <a:t>@file  =  告訴 agent「自己去讀」（多檔、大檔、含程式碼）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5532120"/>
            <a:ext cx="10698480" cy="502920"/>
          </a:xfrm>
          <a:prstGeom prst="roundRect">
            <a:avLst>
              <a:gd name="adj" fmla="val 3000"/>
            </a:avLst>
          </a:prstGeom>
          <a:solidFill>
            <a:srgbClr val="FAFAFA"/>
          </a:solidFill>
          <a:ln w="9525"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0" bIns="182880"/>
          <a:lstStyle/>
          <a:p>
            <a:pPr algn="l">
              <a:lnSpc>
                <a:spcPct val="130000"/>
              </a:lnSpc>
            </a:pPr>
            <a:r>
              <a:rPr sz="1400">
                <a:solidFill>
                  <a:srgbClr val="111111"/>
                </a:solidFill>
                <a:latin typeface="Consolas"/>
              </a:rPr>
              <a:t>gemini "@README.md @src/main.py 解釋這個程式怎麼跑"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M4 · GEMINI CLI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45 / 64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M4 · BUILT-IN TOOLS &amp; SAFETY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600" b="1" spc="-120">
                <a:solidFill>
                  <a:srgbClr val="111111"/>
                </a:solidFill>
                <a:latin typeface="Microsoft JhengHei"/>
              </a:rPr>
              <a:t>內建工具 + 安全模式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65960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-20">
                <a:solidFill>
                  <a:srgbClr val="8A8A8A"/>
                </a:solidFill>
                <a:latin typeface="Microsoft JhengHei"/>
              </a:rPr>
              <a:t>Gemini CLI 不只會聊天，預設帶這些工具：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651760"/>
            <a:ext cx="5029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spc="-20">
                <a:solidFill>
                  <a:srgbClr val="111111"/>
                </a:solidFill>
                <a:latin typeface="Consolas"/>
              </a:rPr>
              <a:t>📂  ReadFile / WriteFile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2651760"/>
            <a:ext cx="52120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>讀寫檔案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108960"/>
            <a:ext cx="5029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spc="-20">
                <a:solidFill>
                  <a:srgbClr val="111111"/>
                </a:solidFill>
                <a:latin typeface="Consolas"/>
              </a:rPr>
              <a:t>🐚  Shell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0" y="3108960"/>
            <a:ext cx="52120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>跑指令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5029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spc="-20">
                <a:solidFill>
                  <a:srgbClr val="111111"/>
                </a:solidFill>
                <a:latin typeface="Consolas"/>
              </a:rPr>
              <a:t>🔍  GoogleSearch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0" y="3566160"/>
            <a:ext cx="52120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>即時上網查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023360"/>
            <a:ext cx="5029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spc="-20">
                <a:solidFill>
                  <a:srgbClr val="111111"/>
                </a:solidFill>
                <a:latin typeface="Consolas"/>
              </a:rPr>
              <a:t>🌐  WebFetch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0" y="4023360"/>
            <a:ext cx="52120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>讀網頁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31520" y="4617720"/>
            <a:ext cx="10698480" cy="0"/>
          </a:xfrm>
          <a:prstGeom prst="line">
            <a:avLst/>
          </a:prstGeom>
          <a:ln w="6350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731520" y="4754880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spc="-30">
                <a:solidFill>
                  <a:srgbClr val="111111"/>
                </a:solidFill>
                <a:latin typeface="Microsoft JhengHei"/>
              </a:rPr>
              <a:t>每次它要動手，會先問你「可以嗎？」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5349240"/>
            <a:ext cx="106984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spc="-20">
                <a:solidFill>
                  <a:srgbClr val="156B4A"/>
                </a:solidFill>
                <a:latin typeface="Microsoft JhengHei"/>
              </a:rPr>
              <a:t>預設模式：每步都確認  ← 初學者請用這個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760720"/>
            <a:ext cx="106984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spc="-20">
                <a:solidFill>
                  <a:srgbClr val="B45309"/>
                </a:solidFill>
                <a:latin typeface="Consolas"/>
              </a:rPr>
              <a:t>--yolo 模式：不問直接做  ← demo 用，別在重要專案開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M4 · GEMINI CLI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46 / 64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M4 · MCP — THE USB-C FOR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4000" b="1" spc="-130">
                <a:solidFill>
                  <a:srgbClr val="111111"/>
                </a:solidFill>
                <a:latin typeface="Microsoft JhengHei"/>
              </a:rPr>
              <a:t>MCP：AI 的 USB-C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011680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-20">
                <a:solidFill>
                  <a:srgbClr val="8A8A8A"/>
                </a:solidFill>
                <a:latin typeface="Microsoft JhengHei"/>
              </a:rPr>
              <a:t>問題：每個工具都要重新接一次 Slack、GitHub、資料庫，超累。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468880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spc="-30">
                <a:solidFill>
                  <a:srgbClr val="111111"/>
                </a:solidFill>
                <a:latin typeface="Microsoft JhengHei"/>
              </a:rPr>
              <a:t>解法：Model Context Protocol —— 業界共通的「插槽標準」。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154680"/>
            <a:ext cx="106984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150">
                <a:solidFill>
                  <a:srgbClr val="8A8A8A"/>
                </a:solidFill>
                <a:latin typeface="Consolas"/>
              </a:rPr>
              <a:t>常見 MCP server（會了就有得用）：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611880"/>
            <a:ext cx="45720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1" spc="-20">
                <a:solidFill>
                  <a:srgbClr val="111111"/>
                </a:solidFill>
                <a:latin typeface="Consolas"/>
              </a:rPr>
              <a:t>🔧  filesystem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720" y="3611880"/>
            <a:ext cx="5669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 spc="-20">
                <a:solidFill>
                  <a:srgbClr val="3A3A3A"/>
                </a:solidFill>
                <a:latin typeface="Microsoft JhengHei"/>
              </a:rPr>
              <a:t>讓 agent 管理你的檔案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023360"/>
            <a:ext cx="45720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1" spc="-20">
                <a:solidFill>
                  <a:srgbClr val="111111"/>
                </a:solidFill>
                <a:latin typeface="Consolas"/>
              </a:rPr>
              <a:t>🌐  fetch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60720" y="4023360"/>
            <a:ext cx="5669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 spc="-20">
                <a:solidFill>
                  <a:srgbClr val="3A3A3A"/>
                </a:solidFill>
                <a:latin typeface="Microsoft JhengHei"/>
              </a:rPr>
              <a:t>讓 agent 抓網頁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434840"/>
            <a:ext cx="45720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1" spc="-20">
                <a:solidFill>
                  <a:srgbClr val="111111"/>
                </a:solidFill>
                <a:latin typeface="Consolas"/>
              </a:rPr>
              <a:t>📅  google-cal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60720" y="4434840"/>
            <a:ext cx="5669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 spc="-20">
                <a:solidFill>
                  <a:srgbClr val="3A3A3A"/>
                </a:solidFill>
                <a:latin typeface="Microsoft JhengHei"/>
              </a:rPr>
              <a:t>讓 agent 看你的行事曆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846320"/>
            <a:ext cx="45720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1" spc="-20">
                <a:solidFill>
                  <a:srgbClr val="111111"/>
                </a:solidFill>
                <a:latin typeface="Consolas"/>
              </a:rPr>
              <a:t>💬  slack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60720" y="4846320"/>
            <a:ext cx="5669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 spc="-20">
                <a:solidFill>
                  <a:srgbClr val="3A3A3A"/>
                </a:solidFill>
                <a:latin typeface="Microsoft JhengHei"/>
              </a:rPr>
              <a:t>讓 agent 收發訊息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731520" y="5440680"/>
            <a:ext cx="10698480" cy="0"/>
          </a:xfrm>
          <a:prstGeom prst="line">
            <a:avLst/>
          </a:prstGeom>
          <a:ln w="6350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731520" y="5623560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1" spc="-30">
                <a:solidFill>
                  <a:srgbClr val="111111"/>
                </a:solidFill>
                <a:latin typeface="Microsoft JhengHei"/>
              </a:rPr>
              <a:t>今天不裝。先知道有這東西，回家想玩再裝。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M4 · GEMINI CLI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47 / 64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M4 · SAME SKILL, DIFFERENT NAMES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05840"/>
            <a:ext cx="1069848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000" b="1" spc="-120">
                <a:solidFill>
                  <a:srgbClr val="111111"/>
                </a:solidFill>
                <a:latin typeface="Microsoft JhengHei"/>
              </a:rPr>
              <a:t>你學的不是 Gemini CLI，是通用技能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874519"/>
          <a:ext cx="1042416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554480"/>
                <a:gridCol w="1828800"/>
                <a:gridCol w="1691640"/>
                <a:gridCol w="1691640"/>
                <a:gridCol w="1828800"/>
              </a:tblGrid>
              <a:tr h="493776">
                <a:tc>
                  <a:txBody>
                    <a:bodyPr/>
                    <a:lstStyle/>
                    <a:p>
                      <a:pPr algn="ctr"/>
                    </a:p>
                  </a:txBody>
                  <a:tcPr marL="73152" marR="73152" marT="45720" marB="45720" anchor="ctr">
                    <a:solidFill>
                      <a:srgbClr val="F5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11111"/>
                          </a:solidFill>
                          <a:latin typeface="Microsoft JhengHei"/>
                        </a:rPr>
                        <a:t>AI Studio</a:t>
                      </a:r>
                    </a:p>
                  </a:txBody>
                  <a:tcPr marL="73152" marR="73152" marT="45720" marB="45720" anchor="ctr">
                    <a:solidFill>
                      <a:srgbClr val="F5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11111"/>
                          </a:solidFill>
                          <a:latin typeface="Microsoft JhengHei"/>
                        </a:rPr>
                        <a:t>Antigravity</a:t>
                      </a:r>
                    </a:p>
                  </a:txBody>
                  <a:tcPr marL="73152" marR="73152" marT="45720" marB="45720" anchor="ctr">
                    <a:solidFill>
                      <a:srgbClr val="F5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11111"/>
                          </a:solidFill>
                          <a:latin typeface="Microsoft JhengHei"/>
                        </a:rPr>
                        <a:t>Gemini CLI</a:t>
                      </a:r>
                    </a:p>
                  </a:txBody>
                  <a:tcPr marL="73152" marR="73152" marT="45720" marB="45720" anchor="ctr">
                    <a:solidFill>
                      <a:srgbClr val="F5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11111"/>
                          </a:solidFill>
                          <a:latin typeface="Microsoft JhengHei"/>
                        </a:rPr>
                        <a:t>Claude Code</a:t>
                      </a:r>
                    </a:p>
                  </a:txBody>
                  <a:tcPr marL="73152" marR="73152" marT="45720" marB="45720" anchor="ctr">
                    <a:solidFill>
                      <a:srgbClr val="F5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11111"/>
                          </a:solidFill>
                          <a:latin typeface="Microsoft JhengHei"/>
                        </a:rPr>
                        <a:t>Cursor</a:t>
                      </a:r>
                    </a:p>
                  </a:txBody>
                  <a:tcPr marL="73152" marR="73152" marT="45720" marB="45720" anchor="ctr">
                    <a:solidFill>
                      <a:srgbClr val="F5F5F3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11111"/>
                          </a:solidFill>
                          <a:latin typeface="Microsoft JhengHei"/>
                        </a:rPr>
                        <a:t>專案記憶</a:t>
                      </a:r>
                    </a:p>
                  </a:txBody>
                  <a:tcPr marL="73152" marR="73152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11111"/>
                          </a:solidFill>
                          <a:latin typeface="Microsoft JhengHei"/>
                        </a:rPr>
                        <a:t>❌</a:t>
                      </a:r>
                    </a:p>
                  </a:txBody>
                  <a:tcPr marL="73152" marR="73152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11111"/>
                          </a:solidFill>
                          <a:latin typeface="Consolas"/>
                        </a:rPr>
                        <a:t>AGENTS.md *</a:t>
                      </a:r>
                    </a:p>
                  </a:txBody>
                  <a:tcPr marL="73152" marR="73152" marT="45720" marB="45720" anchor="ctr">
                    <a:solidFill>
                      <a:srgbClr val="FEF7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11111"/>
                          </a:solidFill>
                          <a:latin typeface="Consolas"/>
                        </a:rPr>
                        <a:t>GEMINI.md</a:t>
                      </a:r>
                    </a:p>
                  </a:txBody>
                  <a:tcPr marL="73152" marR="73152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11111"/>
                          </a:solidFill>
                          <a:latin typeface="Consolas"/>
                        </a:rPr>
                        <a:t>CLAUDE.md</a:t>
                      </a:r>
                    </a:p>
                  </a:txBody>
                  <a:tcPr marL="73152" marR="73152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11111"/>
                          </a:solidFill>
                          <a:latin typeface="Consolas"/>
                        </a:rPr>
                        <a:t>.cursor/rules/</a:t>
                      </a:r>
                    </a:p>
                  </a:txBody>
                  <a:tcPr marL="73152" marR="73152" marT="45720" marB="45720" anchor="ctr"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11111"/>
                          </a:solidFill>
                          <a:latin typeface="Microsoft JhengHei"/>
                        </a:rPr>
                        <a:t>@ 檔案引用</a:t>
                      </a:r>
                    </a:p>
                  </a:txBody>
                  <a:tcPr marL="73152" marR="73152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11111"/>
                          </a:solidFill>
                          <a:latin typeface="Microsoft JhengHei"/>
                        </a:rPr>
                        <a:t>❌</a:t>
                      </a:r>
                    </a:p>
                  </a:txBody>
                  <a:tcPr marL="73152" marR="73152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11111"/>
                          </a:solidFill>
                          <a:latin typeface="Microsoft JhengHei"/>
                        </a:rPr>
                        <a:t>✅</a:t>
                      </a:r>
                    </a:p>
                  </a:txBody>
                  <a:tcPr marL="73152" marR="73152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11111"/>
                          </a:solidFill>
                          <a:latin typeface="Microsoft JhengHei"/>
                        </a:rPr>
                        <a:t>✅</a:t>
                      </a:r>
                    </a:p>
                  </a:txBody>
                  <a:tcPr marL="73152" marR="73152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11111"/>
                          </a:solidFill>
                          <a:latin typeface="Microsoft JhengHei"/>
                        </a:rPr>
                        <a:t>✅</a:t>
                      </a:r>
                    </a:p>
                  </a:txBody>
                  <a:tcPr marL="73152" marR="73152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11111"/>
                          </a:solidFill>
                          <a:latin typeface="Microsoft JhengHei"/>
                        </a:rPr>
                        <a:t>✅</a:t>
                      </a:r>
                    </a:p>
                  </a:txBody>
                  <a:tcPr marL="73152" marR="73152" marT="45720" marB="45720" anchor="ctr"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11111"/>
                          </a:solidFill>
                          <a:latin typeface="Microsoft JhengHei"/>
                        </a:rPr>
                        <a:t>STRIKE</a:t>
                      </a:r>
                    </a:p>
                  </a:txBody>
                  <a:tcPr marL="73152" marR="73152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11111"/>
                          </a:solidFill>
                          <a:latin typeface="Microsoft JhengHei"/>
                        </a:rPr>
                        <a:t>✅</a:t>
                      </a:r>
                    </a:p>
                  </a:txBody>
                  <a:tcPr marL="73152" marR="73152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11111"/>
                          </a:solidFill>
                          <a:latin typeface="Microsoft JhengHei"/>
                        </a:rPr>
                        <a:t>✅</a:t>
                      </a:r>
                    </a:p>
                  </a:txBody>
                  <a:tcPr marL="73152" marR="73152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11111"/>
                          </a:solidFill>
                          <a:latin typeface="Microsoft JhengHei"/>
                        </a:rPr>
                        <a:t>✅</a:t>
                      </a:r>
                    </a:p>
                  </a:txBody>
                  <a:tcPr marL="73152" marR="73152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11111"/>
                          </a:solidFill>
                          <a:latin typeface="Microsoft JhengHei"/>
                        </a:rPr>
                        <a:t>✅</a:t>
                      </a:r>
                    </a:p>
                  </a:txBody>
                  <a:tcPr marL="73152" marR="73152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11111"/>
                          </a:solidFill>
                          <a:latin typeface="Microsoft JhengHei"/>
                        </a:rPr>
                        <a:t>✅</a:t>
                      </a:r>
                    </a:p>
                  </a:txBody>
                  <a:tcPr marL="73152" marR="73152" marT="45720" marB="45720" anchor="ctr"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11111"/>
                          </a:solidFill>
                          <a:latin typeface="Microsoft JhengHei"/>
                        </a:rPr>
                        <a:t>MCP</a:t>
                      </a:r>
                    </a:p>
                  </a:txBody>
                  <a:tcPr marL="73152" marR="73152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11111"/>
                          </a:solidFill>
                          <a:latin typeface="Microsoft JhengHei"/>
                        </a:rPr>
                        <a:t>❌</a:t>
                      </a:r>
                    </a:p>
                  </a:txBody>
                  <a:tcPr marL="73152" marR="73152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11111"/>
                          </a:solidFill>
                          <a:latin typeface="Microsoft JhengHei"/>
                        </a:rPr>
                        <a:t>✅</a:t>
                      </a:r>
                    </a:p>
                  </a:txBody>
                  <a:tcPr marL="73152" marR="73152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11111"/>
                          </a:solidFill>
                          <a:latin typeface="Microsoft JhengHei"/>
                        </a:rPr>
                        <a:t>✅</a:t>
                      </a:r>
                    </a:p>
                  </a:txBody>
                  <a:tcPr marL="73152" marR="73152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11111"/>
                          </a:solidFill>
                          <a:latin typeface="Microsoft JhengHei"/>
                        </a:rPr>
                        <a:t>✅</a:t>
                      </a:r>
                    </a:p>
                  </a:txBody>
                  <a:tcPr marL="73152" marR="73152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11111"/>
                          </a:solidFill>
                          <a:latin typeface="Microsoft JhengHei"/>
                        </a:rPr>
                        <a:t>✅</a:t>
                      </a:r>
                    </a:p>
                  </a:txBody>
                  <a:tcPr marL="73152" marR="73152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31520" y="4480560"/>
            <a:ext cx="106984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-10">
                <a:solidFill>
                  <a:srgbClr val="8A8A8A"/>
                </a:solidFill>
                <a:latin typeface="Microsoft JhengHei"/>
              </a:rPr>
              <a:t>*  Antigravity 與 Gemini CLI 共用 ~/.gemini/GEMINI.md 做全域設定（同一家人）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731520" y="4983480"/>
            <a:ext cx="10698480" cy="0"/>
          </a:xfrm>
          <a:prstGeom prst="line">
            <a:avLst/>
          </a:prstGeom>
          <a:ln w="6350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31520" y="5166360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1" spc="-30">
                <a:solidFill>
                  <a:srgbClr val="111111"/>
                </a:solidFill>
                <a:latin typeface="Microsoft JhengHei"/>
              </a:rPr>
              <a:t>🟡  AGENTS.md 是 2026 新興的「跨工具通用」格式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623560"/>
            <a:ext cx="1069848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>    Cursor 與 Antigravity 都認得它，最值得學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M4 · GEMINI CLI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48 / 64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640080"/>
            <a:ext cx="1188720" cy="347472"/>
          </a:xfrm>
          <a:prstGeom prst="roundRect">
            <a:avLst>
              <a:gd name="adj" fmla="val 50000"/>
            </a:avLst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8288" bIns="18288"/>
          <a:lstStyle/>
          <a:p>
            <a:pPr algn="ctr"/>
            <a:r>
              <a:rPr sz="1000" b="1" spc="200">
                <a:solidFill>
                  <a:srgbClr val="FFFFFF"/>
                </a:solidFill>
                <a:latin typeface="Consolas"/>
              </a:rPr>
              <a:t>HANDS-ON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4000" b="1" spc="-130">
                <a:solidFill>
                  <a:srgbClr val="111111"/>
                </a:solidFill>
                <a:latin typeface="Microsoft JhengHei"/>
              </a:rPr>
              <a:t>實作：為你的專案加一點自動化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31520" y="2194560"/>
            <a:ext cx="10698480" cy="0"/>
          </a:xfrm>
          <a:prstGeom prst="line">
            <a:avLst/>
          </a:prstGeom>
          <a:ln w="12700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14400" y="2514600"/>
            <a:ext cx="10332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>必做（5 min）：在你的專案根目錄建一份 GEMINI.md（5 行就好）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971800"/>
            <a:ext cx="10332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429000"/>
            <a:ext cx="10332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>三選一（20 min）：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886200"/>
            <a:ext cx="10332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>A.   把你專案的核心功能寫成一行指令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343400"/>
            <a:ext cx="10332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>     例：summarize.sh news.txt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800600"/>
            <a:ext cx="10332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5257800"/>
            <a:ext cx="10332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>B.   寫一個自動產測試資料的腳本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715000"/>
            <a:ext cx="10332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>     例：gen_data.sh 10  → 產 10 筆假資料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6172200"/>
            <a:ext cx="10332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6629400"/>
            <a:ext cx="10332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>C.   寫一個「每天跑一次」的小工具（不實際排程）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731520" y="562356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731520" y="5760720"/>
            <a:ext cx="2743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50">
                <a:solidFill>
                  <a:srgbClr val="8A8A8A"/>
                </a:solidFill>
                <a:latin typeface="Consolas"/>
              </a:rPr>
              <a:t>Duration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989320"/>
            <a:ext cx="106984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1" spc="-30">
                <a:solidFill>
                  <a:srgbClr val="111111"/>
                </a:solidFill>
                <a:latin typeface="Microsoft JhengHei"/>
              </a:rPr>
              <a:t>25 分鐘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M4 · GEMINI CLI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49 / 64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M4 · TOOL DECISION TREE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4000" b="1" spc="-130">
                <a:solidFill>
                  <a:srgbClr val="111111"/>
                </a:solidFill>
                <a:latin typeface="Microsoft JhengHei"/>
              </a:rPr>
              <a:t>三工具決策樹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65960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-20">
                <a:solidFill>
                  <a:srgbClr val="8A8A8A"/>
                </a:solidFill>
                <a:latin typeface="Microsoft JhengHei"/>
              </a:rPr>
              <a:t>我想做一件事，選什麼工具？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97280" y="2651760"/>
            <a:ext cx="9966960" cy="2377440"/>
          </a:xfrm>
          <a:prstGeom prst="roundRect">
            <a:avLst>
              <a:gd name="adj" fmla="val 3000"/>
            </a:avLst>
          </a:prstGeom>
          <a:solidFill>
            <a:srgbClr val="FAFAFA"/>
          </a:solidFill>
          <a:ln w="9525"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0" bIns="182880"/>
          <a:lstStyle/>
          <a:p>
            <a:pPr algn="l">
              <a:lnSpc>
                <a:spcPct val="130000"/>
              </a:lnSpc>
            </a:pPr>
            <a:r>
              <a:rPr sz="1500">
                <a:solidFill>
                  <a:srgbClr val="111111"/>
                </a:solidFill>
                <a:latin typeface="Consolas"/>
              </a:rPr>
              <a:t>├─  在瀏覽器、想測想法               →   AI Studio</a:t>
            </a:r>
          </a:p>
          <a:p>
            <a:pPr algn="l">
              <a:lnSpc>
                <a:spcPct val="130000"/>
              </a:lnSpc>
            </a:pPr>
            <a:r>
              <a:rPr sz="1500">
                <a:solidFill>
                  <a:srgbClr val="111111"/>
                </a:solidFill>
                <a:latin typeface="Consolas"/>
              </a:rPr>
              <a:t>├─  做有介面的東西                   →   Antigravity</a:t>
            </a:r>
          </a:p>
          <a:p>
            <a:pPr algn="l">
              <a:lnSpc>
                <a:spcPct val="130000"/>
              </a:lnSpc>
            </a:pPr>
            <a:r>
              <a:rPr sz="1500">
                <a:solidFill>
                  <a:srgbClr val="111111"/>
                </a:solidFill>
                <a:latin typeface="Consolas"/>
              </a:rPr>
              <a:t>├─  把重複的事自動化                 →   Gemini CLI</a:t>
            </a:r>
          </a:p>
          <a:p>
            <a:pPr algn="l">
              <a:lnSpc>
                <a:spcPct val="130000"/>
              </a:lnSpc>
            </a:pPr>
            <a:r>
              <a:rPr sz="1500">
                <a:solidFill>
                  <a:srgbClr val="111111"/>
                </a:solidFill>
                <a:latin typeface="Consolas"/>
              </a:rPr>
              <a:t>├─  超大專案 / 多人協作              →   Antigravity（多 agent）</a:t>
            </a:r>
          </a:p>
          <a:p>
            <a:pPr algn="l">
              <a:lnSpc>
                <a:spcPct val="130000"/>
              </a:lnSpc>
            </a:pPr>
            <a:r>
              <a:rPr sz="1500">
                <a:solidFill>
                  <a:srgbClr val="111111"/>
                </a:solidFill>
                <a:latin typeface="Consolas"/>
              </a:rPr>
              <a:t>└─  馬上用、不想安裝                 →   AI Studio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731520" y="539496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31520" y="5577840"/>
            <a:ext cx="1069848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1" spc="-30">
                <a:solidFill>
                  <a:srgbClr val="111111"/>
                </a:solidFill>
                <a:latin typeface="Microsoft JhengHei"/>
              </a:rPr>
              <a:t>請 2-3 位學員分享：「我今天三個工具用下來，最驚喜的是 ___」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M4 · GEMINI CLI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50 / 64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M4 · RECAP + CP3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4000" b="1" spc="-130">
                <a:solidFill>
                  <a:srgbClr val="111111"/>
                </a:solidFill>
                <a:latin typeface="Microsoft JhengHei"/>
              </a:rPr>
              <a:t>M4 小結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31520" y="219456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31520" y="2304288"/>
            <a:ext cx="1069848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111111"/>
                </a:solidFill>
                <a:latin typeface="Microsoft JhengHei"/>
              </a:rPr>
              <a:t>·  終端機 = 打字的瀏覽器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731520" y="269748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31520" y="2807208"/>
            <a:ext cx="1069848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111111"/>
                </a:solidFill>
                <a:latin typeface="Microsoft JhengHei"/>
              </a:rPr>
              <a:t>·  Gemini CLI = AI Studio 的無介面版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31520" y="320040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31520" y="3310128"/>
            <a:ext cx="1069848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111111"/>
                </a:solidFill>
                <a:latin typeface="Microsoft JhengHei"/>
              </a:rPr>
              <a:t>·  同一套 STRIKE，三工具通用；CLI 最適合 L3 鏈式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31520" y="370332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31520" y="3813048"/>
            <a:ext cx="1069848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111111"/>
                </a:solidFill>
                <a:latin typeface="Microsoft JhengHei"/>
              </a:rPr>
              <a:t>·  CLI 是你之後做「每天自動跑」的基礎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31520" y="4206240"/>
            <a:ext cx="10698480" cy="0"/>
          </a:xfrm>
          <a:prstGeom prst="line">
            <a:avLst/>
          </a:prstGeom>
          <a:ln w="6350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731520" y="438912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CHECKPOINT 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75488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2400" b="1" spc="-40">
                <a:solidFill>
                  <a:srgbClr val="111111"/>
                </a:solidFill>
                <a:latin typeface="Microsoft JhengHei"/>
              </a:rPr>
              <a:t>能對旁邊的人口述：這三個工具我各自會用來做什麼。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M4 · GEMINI CLI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51 / 64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91840"/>
            <a:ext cx="3047923" cy="137160"/>
          </a:xfrm>
          <a:prstGeom prst="rect">
            <a:avLst/>
          </a:prstGeom>
          <a:solidFill>
            <a:srgbClr val="F9D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923" y="3291840"/>
            <a:ext cx="3047923" cy="137160"/>
          </a:xfrm>
          <a:prstGeom prst="rect">
            <a:avLst/>
          </a:prstGeom>
          <a:solidFill>
            <a:srgbClr val="DDCC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847" y="3291840"/>
            <a:ext cx="3047923" cy="137160"/>
          </a:xfrm>
          <a:prstGeom prst="rect">
            <a:avLst/>
          </a:prstGeom>
          <a:solidFill>
            <a:srgbClr val="FDF0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771" y="3291840"/>
            <a:ext cx="3047923" cy="137160"/>
          </a:xfrm>
          <a:prstGeom prst="rect">
            <a:avLst/>
          </a:prstGeom>
          <a:solidFill>
            <a:srgbClr val="CCE6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0972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250">
                <a:solidFill>
                  <a:srgbClr val="8A8A8A"/>
                </a:solidFill>
                <a:latin typeface="Consolas"/>
              </a:rPr>
              <a:t>MODULE M5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463040"/>
            <a:ext cx="1097280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300">
                <a:solidFill>
                  <a:srgbClr val="8A8A8A"/>
                </a:solidFill>
                <a:latin typeface="Consolas"/>
              </a:rPr>
              <a:t>M5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920240"/>
            <a:ext cx="10972800" cy="12801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800" b="1" spc="-350">
                <a:solidFill>
                  <a:srgbClr val="111111"/>
                </a:solidFill>
                <a:latin typeface="Microsoft JhengHei"/>
              </a:rPr>
              <a:t>最後一哩路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840480"/>
            <a:ext cx="10972800" cy="1463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600" b="0" spc="-40">
                <a:solidFill>
                  <a:srgbClr val="3A3A3A"/>
                </a:solidFill>
                <a:latin typeface="Microsoft JhengHei"/>
              </a:rPr>
              <a:t>部署  ·  成果展示  ·  行動計畫。</a:t>
            </a:r>
          </a:p>
          <a:p>
            <a:pPr algn="l">
              <a:lnSpc>
                <a:spcPct val="140000"/>
              </a:lnSpc>
            </a:pPr>
            <a:r>
              <a:rPr sz="2600" b="0" spc="-40">
                <a:solidFill>
                  <a:srgbClr val="3A3A3A"/>
                </a:solidFill>
                <a:latin typeface="Microsoft JhengHei"/>
              </a:rPr>
              <a:t>做出來不算數，能打開網址才算。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M5 · DEPLOY &amp; WRAP-UP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52 / 64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M5 · THREE-STEP DEPLOY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4000" b="1" spc="-130">
                <a:solidFill>
                  <a:srgbClr val="111111"/>
                </a:solidFill>
                <a:latin typeface="Microsoft JhengHei"/>
              </a:rPr>
              <a:t>快速部署三步驟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65960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-20">
                <a:solidFill>
                  <a:srgbClr val="8A8A8A"/>
                </a:solidFill>
                <a:latin typeface="Microsoft JhengHei"/>
              </a:rPr>
              <a:t>把你的 Antigravity 專案丟上網。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31520" y="265176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31520" y="2880360"/>
            <a:ext cx="9144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800" b="1" spc="-50">
                <a:solidFill>
                  <a:srgbClr val="111111"/>
                </a:solidFill>
                <a:latin typeface="Consolas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03120" y="2834640"/>
            <a:ext cx="91440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 spc="-40">
                <a:solidFill>
                  <a:srgbClr val="111111"/>
                </a:solidFill>
                <a:latin typeface="Microsoft JhengHei"/>
              </a:rPr>
              <a:t>程式碼 push 到 GitHub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03120" y="3337560"/>
            <a:ext cx="91440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-20">
                <a:solidFill>
                  <a:srgbClr val="8A8A8A"/>
                </a:solidFill>
                <a:latin typeface="Microsoft JhengHei"/>
              </a:rPr>
              <a:t>Antigravity 有內建 Git 按鈕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31520" y="365760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731520" y="3886200"/>
            <a:ext cx="9144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800" b="1" spc="-50">
                <a:solidFill>
                  <a:srgbClr val="111111"/>
                </a:solidFill>
                <a:latin typeface="Consolas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03120" y="3840480"/>
            <a:ext cx="91440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 spc="-40">
                <a:solidFill>
                  <a:srgbClr val="111111"/>
                </a:solidFill>
                <a:latin typeface="Microsoft JhengHei"/>
              </a:rPr>
              <a:t>去 Cloudflare Pages / Vercel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03120" y="4343400"/>
            <a:ext cx="91440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-20">
                <a:solidFill>
                  <a:srgbClr val="8A8A8A"/>
                </a:solidFill>
                <a:latin typeface="Microsoft JhengHei"/>
              </a:rPr>
              <a:t>登入 → Import Git Repo → 選你的 repo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31520" y="466344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731520" y="4892040"/>
            <a:ext cx="9144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800" b="1" spc="-50">
                <a:solidFill>
                  <a:srgbClr val="111111"/>
                </a:solidFill>
                <a:latin typeface="Consolas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03120" y="4846320"/>
            <a:ext cx="91440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 spc="-40">
                <a:solidFill>
                  <a:srgbClr val="111111"/>
                </a:solidFill>
                <a:latin typeface="Microsoft JhengHei"/>
              </a:rPr>
              <a:t>自動部署 → 取得公開網址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03120" y="5349240"/>
            <a:ext cx="91440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-20">
                <a:solidFill>
                  <a:srgbClr val="8A8A8A"/>
                </a:solidFill>
                <a:latin typeface="Microsoft JhengHei"/>
              </a:rPr>
              <a:t>三步驟搞定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989320"/>
            <a:ext cx="106984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 spc="150">
                <a:solidFill>
                  <a:srgbClr val="8A8A8A"/>
                </a:solidFill>
                <a:latin typeface="Consolas"/>
              </a:rPr>
              <a:t>講師現場示範一次（15 min）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M5 · DEPLOY &amp; WRAP-UP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53 / 64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640080"/>
            <a:ext cx="1188720" cy="347472"/>
          </a:xfrm>
          <a:prstGeom prst="roundRect">
            <a:avLst>
              <a:gd name="adj" fmla="val 50000"/>
            </a:avLst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8288" bIns="18288"/>
          <a:lstStyle/>
          <a:p>
            <a:pPr algn="ctr"/>
            <a:r>
              <a:rPr sz="1000" b="1" spc="200">
                <a:solidFill>
                  <a:srgbClr val="FFFFFF"/>
                </a:solidFill>
                <a:latin typeface="Consolas"/>
              </a:rPr>
              <a:t>HANDS-ON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4000" b="1" spc="-130">
                <a:solidFill>
                  <a:srgbClr val="111111"/>
                </a:solidFill>
                <a:latin typeface="Microsoft JhengHei"/>
              </a:rPr>
              <a:t>自由時間：選一個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31520" y="2194560"/>
            <a:ext cx="10698480" cy="0"/>
          </a:xfrm>
          <a:prstGeom prst="line">
            <a:avLst/>
          </a:prstGeom>
          <a:ln w="12700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14400" y="2514600"/>
            <a:ext cx="10332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>□   把專案部署上線（跟著講師做）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971800"/>
            <a:ext cx="10332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>□   打磨你的專案（加最後一個小功能）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429000"/>
            <a:ext cx="10332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>□   寫你的 30 天行動卡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886200"/>
            <a:ext cx="10332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>□   跟旁邊的人 demo 彼此的專案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343400"/>
            <a:ext cx="10332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800600"/>
            <a:ext cx="10332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>助教隨時支援。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31520" y="562356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731520" y="5760720"/>
            <a:ext cx="2743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50">
                <a:solidFill>
                  <a:srgbClr val="8A8A8A"/>
                </a:solidFill>
                <a:latin typeface="Consolas"/>
              </a:rPr>
              <a:t>Duration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5989320"/>
            <a:ext cx="106984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1" spc="-30">
                <a:solidFill>
                  <a:srgbClr val="111111"/>
                </a:solidFill>
                <a:latin typeface="Microsoft JhengHei"/>
              </a:rPr>
              <a:t>15 分鐘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M5 · DEPLOY &amp; WRAP-UP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54 / 64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047923" cy="228600"/>
          </a:xfrm>
          <a:prstGeom prst="rect">
            <a:avLst/>
          </a:prstGeom>
          <a:solidFill>
            <a:srgbClr val="F9D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923" y="0"/>
            <a:ext cx="3047923" cy="228600"/>
          </a:xfrm>
          <a:prstGeom prst="rect">
            <a:avLst/>
          </a:prstGeom>
          <a:solidFill>
            <a:srgbClr val="DDCC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847" y="0"/>
            <a:ext cx="3047923" cy="228600"/>
          </a:xfrm>
          <a:prstGeom prst="rect">
            <a:avLst/>
          </a:prstGeom>
          <a:solidFill>
            <a:srgbClr val="FDF0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771" y="0"/>
            <a:ext cx="3047923" cy="228600"/>
          </a:xfrm>
          <a:prstGeom prst="rect">
            <a:avLst/>
          </a:prstGeom>
          <a:solidFill>
            <a:srgbClr val="CCE6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18872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SHOWCASE · 15 MIN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737360"/>
            <a:ext cx="10698480" cy="10972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200" b="1" spc="-250">
                <a:solidFill>
                  <a:srgbClr val="111111"/>
                </a:solidFill>
                <a:latin typeface="Microsoft JhengHei"/>
              </a:rPr>
              <a:t>成果展示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017520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8A8A8A"/>
                </a:solidFill>
                <a:latin typeface="Microsoft JhengHei"/>
              </a:rPr>
              <a:t>自願者上台 3 分鐘。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31520" y="365760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731520" y="3840480"/>
            <a:ext cx="8229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200">
                <a:solidFill>
                  <a:srgbClr val="8A8A8A"/>
                </a:solidFill>
                <a:latin typeface="Consolas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83080" y="3794760"/>
            <a:ext cx="77724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0" spc="-30">
                <a:solidFill>
                  <a:srgbClr val="111111"/>
                </a:solidFill>
                <a:latin typeface="Microsoft JhengHei"/>
              </a:rPr>
              <a:t>你做了什麼？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3840480"/>
            <a:ext cx="18288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spc="150">
                <a:solidFill>
                  <a:srgbClr val="8A8A8A"/>
                </a:solidFill>
                <a:latin typeface="Consolas"/>
              </a:rPr>
              <a:t>1 min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31520" y="429768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731520" y="4480560"/>
            <a:ext cx="8229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200">
                <a:solidFill>
                  <a:srgbClr val="8A8A8A"/>
                </a:solidFill>
                <a:latin typeface="Consolas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83080" y="4434840"/>
            <a:ext cx="77724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0" spc="-30">
                <a:solidFill>
                  <a:srgbClr val="111111"/>
                </a:solidFill>
                <a:latin typeface="Microsoft JhengHei"/>
              </a:rPr>
              <a:t>最大的 AHA moment 是哪個？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0" y="4480560"/>
            <a:ext cx="18288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spc="150">
                <a:solidFill>
                  <a:srgbClr val="8A8A8A"/>
                </a:solidFill>
                <a:latin typeface="Consolas"/>
              </a:rPr>
              <a:t>1 min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31520" y="493776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731520" y="5120640"/>
            <a:ext cx="8229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200">
                <a:solidFill>
                  <a:srgbClr val="8A8A8A"/>
                </a:solidFill>
                <a:latin typeface="Consolas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83080" y="5074920"/>
            <a:ext cx="77724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0" spc="-30">
                <a:solidFill>
                  <a:srgbClr val="111111"/>
                </a:solidFill>
                <a:latin typeface="Microsoft JhengHei"/>
              </a:rPr>
              <a:t>下一步你想做什麼？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0" y="5120640"/>
            <a:ext cx="18288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spc="150">
                <a:solidFill>
                  <a:srgbClr val="8A8A8A"/>
                </a:solidFill>
                <a:latin typeface="Consolas"/>
              </a:rPr>
              <a:t>1 min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M5 · DEPLOY &amp; WRAP-UP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55 / 64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M5 · 30-DAY ACTION CARD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800" b="1" spc="-130">
                <a:solidFill>
                  <a:srgbClr val="111111"/>
                </a:solidFill>
                <a:latin typeface="Microsoft JhengHei"/>
              </a:rPr>
              <a:t>30 天行動卡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65960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-20">
                <a:solidFill>
                  <a:srgbClr val="8A8A8A"/>
                </a:solidFill>
                <a:latin typeface="Microsoft JhengHei"/>
              </a:rPr>
              <a:t>回去之後，每週做一件事。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606040"/>
            <a:ext cx="5212080" cy="16916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E8E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78892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WEEK 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063240"/>
            <a:ext cx="45720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1" spc="-30">
                <a:solidFill>
                  <a:srgbClr val="111111"/>
                </a:solidFill>
                <a:latin typeface="Microsoft JhengHei"/>
              </a:rPr>
              <a:t>工具內化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474720"/>
            <a:ext cx="47548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-10">
                <a:solidFill>
                  <a:srgbClr val="3A3A3A"/>
                </a:solidFill>
                <a:latin typeface="Microsoft JhengHei"/>
              </a:rPr>
              <a:t>□  今天的專案加一個新功能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749040"/>
            <a:ext cx="47548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-10">
                <a:solidFill>
                  <a:srgbClr val="3A3A3A"/>
                </a:solidFill>
                <a:latin typeface="Microsoft JhengHei"/>
              </a:rPr>
              <a:t>□  用 STRIKE 六字訣跑一次全新任務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4023359"/>
            <a:ext cx="47548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-10">
                <a:solidFill>
                  <a:srgbClr val="3A3A3A"/>
                </a:solidFill>
                <a:latin typeface="Microsoft JhengHei"/>
              </a:rPr>
              <a:t>□  用 Gemini CLI 做一件以前手動的事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2606040"/>
            <a:ext cx="5212080" cy="16916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E8E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37960" y="278892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WEEK 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60" y="3063240"/>
            <a:ext cx="45720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1" spc="-30">
                <a:solidFill>
                  <a:srgbClr val="111111"/>
                </a:solidFill>
                <a:latin typeface="Microsoft JhengHei"/>
              </a:rPr>
              <a:t>新專案啟動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37960" y="3474720"/>
            <a:ext cx="47548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-10">
                <a:solidFill>
                  <a:srgbClr val="3A3A3A"/>
                </a:solidFill>
                <a:latin typeface="Microsoft JhengHei"/>
              </a:rPr>
              <a:t>□  找一個新痛點（跑物理量四問）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37960" y="3749040"/>
            <a:ext cx="47548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-10">
                <a:solidFill>
                  <a:srgbClr val="3A3A3A"/>
                </a:solidFill>
                <a:latin typeface="Microsoft JhengHei"/>
              </a:rPr>
              <a:t>□  用 AI Studio 寫新專案 PRD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37960" y="4023359"/>
            <a:ext cx="47548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-10">
                <a:solidFill>
                  <a:srgbClr val="3A3A3A"/>
                </a:solidFill>
                <a:latin typeface="Microsoft JhengHei"/>
              </a:rPr>
              <a:t>□  在 Antigravity 做出原型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4434840"/>
            <a:ext cx="5212080" cy="16916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E8E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461772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WEEK 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4892040"/>
            <a:ext cx="45720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1" spc="-30">
                <a:solidFill>
                  <a:srgbClr val="111111"/>
                </a:solidFill>
                <a:latin typeface="Microsoft JhengHei"/>
              </a:rPr>
              <a:t>分享 &amp; 回饋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" y="5303520"/>
            <a:ext cx="47548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-10">
                <a:solidFill>
                  <a:srgbClr val="3A3A3A"/>
                </a:solidFill>
                <a:latin typeface="Microsoft JhengHei"/>
              </a:rPr>
              <a:t>□  把一個專案上線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5840" y="5577840"/>
            <a:ext cx="47548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-10">
                <a:solidFill>
                  <a:srgbClr val="3A3A3A"/>
                </a:solidFill>
                <a:latin typeface="Microsoft JhengHei"/>
              </a:rPr>
              <a:t>□  找 1 位朋友用、收 3 點回饋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" y="5852159"/>
            <a:ext cx="47548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-10">
                <a:solidFill>
                  <a:srgbClr val="3A3A3A"/>
                </a:solidFill>
                <a:latin typeface="Microsoft JhengHei"/>
              </a:rPr>
              <a:t>□  依回饋改一個功能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63640" y="4434840"/>
            <a:ext cx="5212080" cy="16916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E8E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37960" y="461772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WEEK 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37960" y="4892040"/>
            <a:ext cx="45720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1" spc="-30">
                <a:solidFill>
                  <a:srgbClr val="111111"/>
                </a:solidFill>
                <a:latin typeface="Microsoft JhengHei"/>
              </a:rPr>
              <a:t>沉澱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37960" y="5303520"/>
            <a:ext cx="47548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-10">
                <a:solidFill>
                  <a:srgbClr val="3A3A3A"/>
                </a:solidFill>
                <a:latin typeface="Microsoft JhengHei"/>
              </a:rPr>
              <a:t>□  寫筆記：三工具我各自什麼時候用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37960" y="5577840"/>
            <a:ext cx="47548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-10">
                <a:solidFill>
                  <a:srgbClr val="3A3A3A"/>
                </a:solidFill>
                <a:latin typeface="Microsoft JhengHei"/>
              </a:rPr>
              <a:t>□  寫一個「每天自動跑」CLI 腳本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37960" y="5852159"/>
            <a:ext cx="47548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-10">
                <a:solidFill>
                  <a:srgbClr val="3A3A3A"/>
                </a:solidFill>
                <a:latin typeface="Microsoft JhengHei"/>
              </a:rPr>
              <a:t>□  想：下個月我想做什麼？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M5 · DEPLOY &amp; WRAP-UP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56 / 64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M5 · WHAT YOU'RE TAKING HOME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800" b="1" spc="-130">
                <a:solidFill>
                  <a:srgbClr val="111111"/>
                </a:solidFill>
                <a:latin typeface="Microsoft JhengHei"/>
              </a:rPr>
              <a:t>今天你帶走了什麼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31520" y="219456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31520" y="2304288"/>
            <a:ext cx="9144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200">
                <a:solidFill>
                  <a:srgbClr val="8A8A8A"/>
                </a:solidFill>
                <a:latin typeface="Consolas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2286000"/>
            <a:ext cx="96012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30">
                <a:solidFill>
                  <a:srgbClr val="111111"/>
                </a:solidFill>
                <a:latin typeface="Microsoft JhengHei"/>
              </a:rPr>
              <a:t>一個可運行的小專案（選修已上線）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31520" y="269748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31520" y="2807208"/>
            <a:ext cx="9144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200">
                <a:solidFill>
                  <a:srgbClr val="8A8A8A"/>
                </a:solidFill>
                <a:latin typeface="Consolas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2788920"/>
            <a:ext cx="96012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30">
                <a:solidFill>
                  <a:srgbClr val="111111"/>
                </a:solidFill>
                <a:latin typeface="Microsoft JhengHei"/>
              </a:rPr>
              <a:t>你的 PRD（存在 Notion / HackMD）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31520" y="320040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31520" y="3310128"/>
            <a:ext cx="9144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200">
                <a:solidFill>
                  <a:srgbClr val="8A8A8A"/>
                </a:solidFill>
                <a:latin typeface="Consolas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3291840"/>
            <a:ext cx="96012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30">
                <a:solidFill>
                  <a:srgbClr val="111111"/>
                </a:solidFill>
                <a:latin typeface="Microsoft JhengHei"/>
              </a:rPr>
              <a:t>STRIKE 速查卡 + 追問三指令小卡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31520" y="370332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731520" y="3813048"/>
            <a:ext cx="9144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200">
                <a:solidFill>
                  <a:srgbClr val="8A8A8A"/>
                </a:solidFill>
                <a:latin typeface="Consolas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3794760"/>
            <a:ext cx="96012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30">
                <a:solidFill>
                  <a:srgbClr val="111111"/>
                </a:solidFill>
                <a:latin typeface="Microsoft JhengHei"/>
              </a:rPr>
              <a:t>工具選擇決策樹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31520" y="420624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731520" y="4315968"/>
            <a:ext cx="9144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200">
                <a:solidFill>
                  <a:srgbClr val="8A8A8A"/>
                </a:solidFill>
                <a:latin typeface="Consolas"/>
              </a:rPr>
              <a:t>05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28800" y="4297680"/>
            <a:ext cx="96012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30">
                <a:solidFill>
                  <a:srgbClr val="111111"/>
                </a:solidFill>
                <a:latin typeface="Microsoft JhengHei"/>
              </a:rPr>
              <a:t>痛點物理量檢驗單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731520" y="470916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731520" y="4818888"/>
            <a:ext cx="9144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200">
                <a:solidFill>
                  <a:srgbClr val="8A8A8A"/>
                </a:solidFill>
                <a:latin typeface="Consolas"/>
              </a:rPr>
              <a:t>06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28800" y="4800600"/>
            <a:ext cx="96012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30">
                <a:solidFill>
                  <a:srgbClr val="111111"/>
                </a:solidFill>
                <a:latin typeface="Microsoft JhengHei"/>
              </a:rPr>
              <a:t>30 天行動卡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731520" y="5486400"/>
            <a:ext cx="10698480" cy="0"/>
          </a:xfrm>
          <a:prstGeom prst="line">
            <a:avLst/>
          </a:prstGeom>
          <a:ln w="6350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731520" y="5669280"/>
            <a:ext cx="1069848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2200" b="1" spc="-40">
                <a:solidFill>
                  <a:srgbClr val="111111"/>
                </a:solidFill>
                <a:latin typeface="Microsoft JhengHei"/>
              </a:rPr>
              <a:t>+  最重要的：你知道自己做得到。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M5 · DEPLOY &amp; WRAP-UP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57 / 64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047923" cy="228600"/>
          </a:xfrm>
          <a:prstGeom prst="rect">
            <a:avLst/>
          </a:prstGeom>
          <a:solidFill>
            <a:srgbClr val="F9D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923" y="0"/>
            <a:ext cx="3047923" cy="228600"/>
          </a:xfrm>
          <a:prstGeom prst="rect">
            <a:avLst/>
          </a:prstGeom>
          <a:solidFill>
            <a:srgbClr val="DDCC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847" y="0"/>
            <a:ext cx="3047923" cy="228600"/>
          </a:xfrm>
          <a:prstGeom prst="rect">
            <a:avLst/>
          </a:prstGeom>
          <a:solidFill>
            <a:srgbClr val="FDF0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771" y="0"/>
            <a:ext cx="3047923" cy="228600"/>
          </a:xfrm>
          <a:prstGeom prst="rect">
            <a:avLst/>
          </a:prstGeom>
          <a:solidFill>
            <a:srgbClr val="CCE6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0972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CLOSING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554480"/>
            <a:ext cx="1069848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2800" b="0" spc="-50">
                <a:solidFill>
                  <a:srgbClr val="8A8A8A"/>
                </a:solidFill>
                <a:latin typeface="Microsoft JhengHei"/>
              </a:rPr>
              <a:t>AI 時代的贏家，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331720"/>
            <a:ext cx="1069848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3400" b="0" spc="-100">
                <a:solidFill>
                  <a:srgbClr val="111111"/>
                </a:solidFill>
                <a:latin typeface="Microsoft JhengHei"/>
              </a:rPr>
              <a:t>不是最會寫程式的人，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017520"/>
            <a:ext cx="1069848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3400" b="0" spc="-100">
                <a:solidFill>
                  <a:srgbClr val="111111"/>
                </a:solidFill>
                <a:latin typeface="Microsoft JhengHei"/>
              </a:rPr>
              <a:t>不是最會用工具的人。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200400" y="3931920"/>
            <a:ext cx="5760720" cy="0"/>
          </a:xfrm>
          <a:prstGeom prst="line">
            <a:avLst/>
          </a:prstGeom>
          <a:ln w="6350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31520" y="4069080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 spc="-20">
                <a:solidFill>
                  <a:srgbClr val="8A8A8A"/>
                </a:solidFill>
                <a:latin typeface="Microsoft JhengHei"/>
              </a:rPr>
              <a:t>而是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57200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5000" b="1" spc="-180">
                <a:solidFill>
                  <a:srgbClr val="111111"/>
                </a:solidFill>
                <a:latin typeface="Microsoft JhengHei"/>
              </a:rPr>
              <a:t>最會定義問題的人。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539496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5000" b="1" spc="-180">
                <a:solidFill>
                  <a:srgbClr val="111111"/>
                </a:solidFill>
                <a:latin typeface="Microsoft JhengHei"/>
              </a:rPr>
              <a:t>能讓 AI 幫你解題的人。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6080760"/>
            <a:ext cx="106984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 spc="150">
                <a:solidFill>
                  <a:srgbClr val="8A8A8A"/>
                </a:solidFill>
                <a:latin typeface="Consolas"/>
              </a:rPr>
              <a:t>── 你今天已經跨出那一步。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M5 · DEPLOY &amp; WRAP-UP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58 / 64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047923" cy="228600"/>
          </a:xfrm>
          <a:prstGeom prst="rect">
            <a:avLst/>
          </a:prstGeom>
          <a:solidFill>
            <a:srgbClr val="F9D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923" y="0"/>
            <a:ext cx="3047923" cy="228600"/>
          </a:xfrm>
          <a:prstGeom prst="rect">
            <a:avLst/>
          </a:prstGeom>
          <a:solidFill>
            <a:srgbClr val="DDCC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847" y="0"/>
            <a:ext cx="3047923" cy="228600"/>
          </a:xfrm>
          <a:prstGeom prst="rect">
            <a:avLst/>
          </a:prstGeom>
          <a:solidFill>
            <a:srgbClr val="FDF0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771" y="0"/>
            <a:ext cx="3047923" cy="228600"/>
          </a:xfrm>
          <a:prstGeom prst="rect">
            <a:avLst/>
          </a:prstGeom>
          <a:solidFill>
            <a:srgbClr val="CCE6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629400"/>
            <a:ext cx="3047923" cy="228600"/>
          </a:xfrm>
          <a:prstGeom prst="rect">
            <a:avLst/>
          </a:prstGeom>
          <a:solidFill>
            <a:srgbClr val="F9D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047923" y="6629400"/>
            <a:ext cx="3047923" cy="228600"/>
          </a:xfrm>
          <a:prstGeom prst="rect">
            <a:avLst/>
          </a:prstGeom>
          <a:solidFill>
            <a:srgbClr val="DDCC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095847" y="6629400"/>
            <a:ext cx="3047923" cy="228600"/>
          </a:xfrm>
          <a:prstGeom prst="rect">
            <a:avLst/>
          </a:prstGeom>
          <a:solidFill>
            <a:srgbClr val="FDF0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143771" y="6629400"/>
            <a:ext cx="3047923" cy="228600"/>
          </a:xfrm>
          <a:prstGeom prst="rect">
            <a:avLst/>
          </a:prstGeom>
          <a:solidFill>
            <a:srgbClr val="CCE6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118872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THANK YOU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1737360"/>
            <a:ext cx="10698480" cy="10972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6400" b="1" spc="-250">
                <a:solidFill>
                  <a:srgbClr val="111111"/>
                </a:solidFill>
                <a:latin typeface="Microsoft JhengHei"/>
              </a:rPr>
              <a:t>感謝你今天的一天。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743200" y="3383280"/>
            <a:ext cx="667512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731520" y="3566160"/>
            <a:ext cx="106984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250">
                <a:solidFill>
                  <a:srgbClr val="8A8A8A"/>
                </a:solidFill>
                <a:latin typeface="Consolas"/>
              </a:rPr>
              <a:t>NEXT STEPS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023360"/>
            <a:ext cx="106984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600" b="0" spc="100">
                <a:solidFill>
                  <a:srgbClr val="111111"/>
                </a:solidFill>
                <a:latin typeface="Consolas"/>
              </a:rPr>
              <a:t>[ 你的 email 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434840"/>
            <a:ext cx="106984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600" b="0" spc="100">
                <a:solidFill>
                  <a:srgbClr val="111111"/>
                </a:solidFill>
                <a:latin typeface="Consolas"/>
              </a:rPr>
              <a:t>[ 學員社群 LINE / Discord 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4846320"/>
            <a:ext cx="106984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600" b="0" spc="100">
                <a:solidFill>
                  <a:srgbClr val="111111"/>
                </a:solidFill>
                <a:latin typeface="Consolas"/>
              </a:rPr>
              <a:t>[ 課程網頁 / 你的 Notion ]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743200" y="5486400"/>
            <a:ext cx="667512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731520" y="5669280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300" b="0" spc="150">
                <a:solidFill>
                  <a:srgbClr val="8A8A8A"/>
                </a:solidFill>
                <a:latin typeface="Consolas"/>
              </a:rPr>
              <a:t>下一場工作坊：Vibe Coding 進階  ·  部署實戰  ·  商業化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989320"/>
            <a:ext cx="106984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400" b="0" spc="-20">
                <a:solidFill>
                  <a:srgbClr val="3A3A3A"/>
                </a:solidFill>
                <a:latin typeface="Microsoft JhengHei"/>
              </a:rPr>
              <a:t>合照時間  📸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91840"/>
            <a:ext cx="3047923" cy="137160"/>
          </a:xfrm>
          <a:prstGeom prst="rect">
            <a:avLst/>
          </a:prstGeom>
          <a:solidFill>
            <a:srgbClr val="F9D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923" y="3291840"/>
            <a:ext cx="3047923" cy="137160"/>
          </a:xfrm>
          <a:prstGeom prst="rect">
            <a:avLst/>
          </a:prstGeom>
          <a:solidFill>
            <a:srgbClr val="DDCC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847" y="3291840"/>
            <a:ext cx="3047923" cy="137160"/>
          </a:xfrm>
          <a:prstGeom prst="rect">
            <a:avLst/>
          </a:prstGeom>
          <a:solidFill>
            <a:srgbClr val="FDF0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771" y="3291840"/>
            <a:ext cx="3047923" cy="137160"/>
          </a:xfrm>
          <a:prstGeom prst="rect">
            <a:avLst/>
          </a:prstGeom>
          <a:solidFill>
            <a:srgbClr val="CCE6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0972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250">
                <a:solidFill>
                  <a:srgbClr val="8A8A8A"/>
                </a:solidFill>
                <a:latin typeface="Consolas"/>
              </a:rPr>
              <a:t>APPENDIX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463040"/>
            <a:ext cx="1097280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300">
                <a:solidFill>
                  <a:srgbClr val="8A8A8A"/>
                </a:solidFill>
                <a:latin typeface="Consolas"/>
              </a:rPr>
              <a:t>附錄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920240"/>
            <a:ext cx="10972800" cy="12801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200" b="1" spc="-250">
                <a:solidFill>
                  <a:srgbClr val="111111"/>
                </a:solidFill>
                <a:latin typeface="Microsoft JhengHei"/>
              </a:rPr>
              <a:t>三個備選 Demo 專案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840480"/>
            <a:ext cx="109728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0" spc="-20">
                <a:solidFill>
                  <a:srgbClr val="3A3A3A"/>
                </a:solidFill>
                <a:latin typeface="Microsoft JhengHei"/>
              </a:rPr>
              <a:t>講師 M3 現場 Demo 三選一  ·  學員選題亦可參考。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480560"/>
            <a:ext cx="109728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-10">
                <a:solidFill>
                  <a:srgbClr val="8A8A8A"/>
                </a:solidFill>
                <a:latin typeface="Microsoft JhengHei"/>
              </a:rPr>
              <a:t>共同特徵：免費額度充裕  ·  介面單頁  ·  2 小時內可完成原型。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APPENDIX · DEMO CANDIDATES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60 / 64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DEMO A · NEWS SUMMARIZER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1" spc="-120">
                <a:solidFill>
                  <a:srgbClr val="111111"/>
                </a:solidFill>
                <a:latin typeface="Microsoft JhengHei"/>
              </a:rPr>
              <a:t>每日新聞 / 電子報 AI 摘要助手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74519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spc="-20">
                <a:solidFill>
                  <a:srgbClr val="8A8A8A"/>
                </a:solidFill>
                <a:latin typeface="Microsoft JhengHei"/>
              </a:rPr>
              <a:t>銜接性最佳的首選（教案原生示範）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31520" y="251460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731520" y="2679192"/>
            <a:ext cx="1737360" cy="347472"/>
          </a:xfrm>
          <a:prstGeom prst="roundRect">
            <a:avLst>
              <a:gd name="adj" fmla="val 50000"/>
            </a:avLst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8288" bIns="18288"/>
          <a:lstStyle/>
          <a:p>
            <a:pPr algn="ctr"/>
            <a:r>
              <a:rPr sz="1000" b="1" spc="200">
                <a:solidFill>
                  <a:srgbClr val="FFFFFF"/>
                </a:solidFill>
                <a:latin typeface="Consolas"/>
              </a:rPr>
              <a:t>AI STUDIO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0" y="2679192"/>
            <a:ext cx="868680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-10">
                <a:solidFill>
                  <a:srgbClr val="3A3A3A"/>
                </a:solidFill>
                <a:latin typeface="Microsoft JhengHei"/>
              </a:rPr>
              <a:t>寫 STRIKE prompt：新聞全文 → 3 點重點 + 關注角度 + 偏見提醒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31520" y="329184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731520" y="3456432"/>
            <a:ext cx="1737360" cy="347472"/>
          </a:xfrm>
          <a:prstGeom prst="roundRect">
            <a:avLst>
              <a:gd name="adj" fmla="val 50000"/>
            </a:avLst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8288" bIns="18288"/>
          <a:lstStyle/>
          <a:p>
            <a:pPr algn="ctr"/>
            <a:r>
              <a:rPr sz="1000" b="1" spc="200">
                <a:solidFill>
                  <a:srgbClr val="FFFFFF"/>
                </a:solidFill>
                <a:latin typeface="Consolas"/>
              </a:rPr>
              <a:t>ANTIGRAVITY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0" y="3456432"/>
            <a:ext cx="868680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-10">
                <a:solidFill>
                  <a:srgbClr val="3A3A3A"/>
                </a:solidFill>
                <a:latin typeface="Microsoft JhengHei"/>
              </a:rPr>
              <a:t>單頁網頁：貼新聞 → 按鈕 → 摘要卡片（可匯出 Markdown）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31520" y="406908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31520" y="4233672"/>
            <a:ext cx="1737360" cy="347472"/>
          </a:xfrm>
          <a:prstGeom prst="roundRect">
            <a:avLst>
              <a:gd name="adj" fmla="val 50000"/>
            </a:avLst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8288" bIns="18288"/>
          <a:lstStyle/>
          <a:p>
            <a:pPr algn="ctr"/>
            <a:r>
              <a:rPr sz="1000" b="1" spc="200">
                <a:solidFill>
                  <a:srgbClr val="FFFFFF"/>
                </a:solidFill>
                <a:latin typeface="Consolas"/>
              </a:rPr>
              <a:t>GEMINI CLI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43200" y="4233672"/>
            <a:ext cx="868680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-10">
                <a:solidFill>
                  <a:srgbClr val="3A3A3A"/>
                </a:solidFill>
                <a:latin typeface="Microsoft JhengHei"/>
              </a:rPr>
              <a:t>cat news.txt | gemini "摘要" | gemini "翻成英文"（L3 鏈式）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31520" y="4892040"/>
            <a:ext cx="10698480" cy="0"/>
          </a:xfrm>
          <a:prstGeom prst="line">
            <a:avLst/>
          </a:prstGeom>
          <a:ln w="6350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31520" y="502920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WHY RECOMMEND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394960"/>
            <a:ext cx="10698480" cy="10058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 spc="-10">
                <a:solidFill>
                  <a:srgbClr val="3A3A3A"/>
                </a:solidFill>
                <a:latin typeface="Microsoft JhengHei"/>
              </a:rPr>
              <a:t>教案 S16、S33 現成材料；Gemini 免費純文字額度綽綽有餘；L3 鏈式天然銜接 M4 CLI；30 人同時跑無壓力。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APPENDIX · DEMO CANDIDATES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61 / 64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DEMO B · MEETING MINUTES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1" spc="-120">
                <a:solidFill>
                  <a:srgbClr val="111111"/>
                </a:solidFill>
                <a:latin typeface="Microsoft JhengHei"/>
              </a:rPr>
              <a:t>會議逐字稿 → 結構化會議紀錄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74519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spc="-20">
                <a:solidFill>
                  <a:srgbClr val="8A8A8A"/>
                </a:solidFill>
                <a:latin typeface="Microsoft JhengHei"/>
              </a:rPr>
              <a:t>上班族 AHA 最強、專業感最高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31520" y="251460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731520" y="2679192"/>
            <a:ext cx="1737360" cy="347472"/>
          </a:xfrm>
          <a:prstGeom prst="roundRect">
            <a:avLst>
              <a:gd name="adj" fmla="val 50000"/>
            </a:avLst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8288" bIns="18288"/>
          <a:lstStyle/>
          <a:p>
            <a:pPr algn="ctr"/>
            <a:r>
              <a:rPr sz="1000" b="1" spc="200">
                <a:solidFill>
                  <a:srgbClr val="FFFFFF"/>
                </a:solidFill>
                <a:latin typeface="Consolas"/>
              </a:rPr>
              <a:t>AI STUDIO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0" y="2679192"/>
            <a:ext cx="868680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-10">
                <a:solidFill>
                  <a:srgbClr val="3A3A3A"/>
                </a:solidFill>
                <a:latin typeface="Microsoft JhengHei"/>
              </a:rPr>
              <a:t>測 prompt：逐字稿 → 摘要 / 決議 / 待辦（含負責人）/ 未解議題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31520" y="329184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731520" y="3456432"/>
            <a:ext cx="1737360" cy="347472"/>
          </a:xfrm>
          <a:prstGeom prst="roundRect">
            <a:avLst>
              <a:gd name="adj" fmla="val 50000"/>
            </a:avLst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8288" bIns="18288"/>
          <a:lstStyle/>
          <a:p>
            <a:pPr algn="ctr"/>
            <a:r>
              <a:rPr sz="1000" b="1" spc="200">
                <a:solidFill>
                  <a:srgbClr val="FFFFFF"/>
                </a:solidFill>
                <a:latin typeface="Consolas"/>
              </a:rPr>
              <a:t>ANTIGRAVITY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0" y="3456432"/>
            <a:ext cx="868680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-10">
                <a:solidFill>
                  <a:srgbClr val="3A3A3A"/>
                </a:solidFill>
                <a:latin typeface="Microsoft JhengHei"/>
              </a:rPr>
              <a:t>網頁：貼逐字稿 → 產 Markdown 會議紀錄，一鍵複製到 Notion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31520" y="406908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31520" y="4233672"/>
            <a:ext cx="1737360" cy="347472"/>
          </a:xfrm>
          <a:prstGeom prst="roundRect">
            <a:avLst>
              <a:gd name="adj" fmla="val 50000"/>
            </a:avLst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8288" bIns="18288"/>
          <a:lstStyle/>
          <a:p>
            <a:pPr algn="ctr"/>
            <a:r>
              <a:rPr sz="1000" b="1" spc="200">
                <a:solidFill>
                  <a:srgbClr val="FFFFFF"/>
                </a:solidFill>
                <a:latin typeface="Consolas"/>
              </a:rPr>
              <a:t>GEMINI CLI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43200" y="4233672"/>
            <a:ext cx="868680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-10">
                <a:solidFill>
                  <a:srgbClr val="3A3A3A"/>
                </a:solidFill>
                <a:latin typeface="Microsoft JhengHei"/>
              </a:rPr>
              <a:t>批次處理多場會議：for f in meetings/*.txt; do gemini &lt; $f; done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31520" y="4892040"/>
            <a:ext cx="10698480" cy="0"/>
          </a:xfrm>
          <a:prstGeom prst="line">
            <a:avLst/>
          </a:prstGeom>
          <a:ln w="6350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31520" y="502920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WHY RECOMMEND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394960"/>
            <a:ext cx="10698480" cy="10058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 spc="-10">
                <a:solidFill>
                  <a:srgbClr val="3A3A3A"/>
                </a:solidFill>
                <a:latin typeface="Microsoft JhengHei"/>
              </a:rPr>
              <a:t>產出物可直接在公司用；對應 M2 [S16] 的對比範例；AHA 情緒曲線最強；只需準備 1-2 份逐字稿素材。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APPENDIX · DEMO CANDIDATES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62 / 64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DEMO C · PANTRY CHEF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1" spc="-120">
                <a:solidFill>
                  <a:srgbClr val="111111"/>
                </a:solidFill>
                <a:latin typeface="Microsoft JhengHei"/>
              </a:rPr>
              <a:t>冰箱食材 → 今晚煮什麼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74519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spc="-20">
                <a:solidFill>
                  <a:srgbClr val="8A8A8A"/>
                </a:solidFill>
                <a:latin typeface="Microsoft JhengHei"/>
              </a:rPr>
              <a:t>最生活化、最輕鬆，適合下午氣氛放鬆時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31520" y="251460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731520" y="2679192"/>
            <a:ext cx="1737360" cy="347472"/>
          </a:xfrm>
          <a:prstGeom prst="roundRect">
            <a:avLst>
              <a:gd name="adj" fmla="val 50000"/>
            </a:avLst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8288" bIns="18288"/>
          <a:lstStyle/>
          <a:p>
            <a:pPr algn="ctr"/>
            <a:r>
              <a:rPr sz="1000" b="1" spc="200">
                <a:solidFill>
                  <a:srgbClr val="FFFFFF"/>
                </a:solidFill>
                <a:latin typeface="Consolas"/>
              </a:rPr>
              <a:t>AI STUDIO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0" y="2679192"/>
            <a:ext cx="868680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-10">
                <a:solidFill>
                  <a:srgbClr val="3A3A3A"/>
                </a:solidFill>
                <a:latin typeface="Microsoft JhengHei"/>
              </a:rPr>
              <a:t>測 prompt：食材清單 + 口味偏好 → 3 道菜建議 + 步驟 + 缺什麼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31520" y="329184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731520" y="3456432"/>
            <a:ext cx="1737360" cy="347472"/>
          </a:xfrm>
          <a:prstGeom prst="roundRect">
            <a:avLst>
              <a:gd name="adj" fmla="val 50000"/>
            </a:avLst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8288" bIns="18288"/>
          <a:lstStyle/>
          <a:p>
            <a:pPr algn="ctr"/>
            <a:r>
              <a:rPr sz="1000" b="1" spc="200">
                <a:solidFill>
                  <a:srgbClr val="FFFFFF"/>
                </a:solidFill>
                <a:latin typeface="Consolas"/>
              </a:rPr>
              <a:t>ANTIGRAVITY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0" y="3456432"/>
            <a:ext cx="868680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-10">
                <a:solidFill>
                  <a:srgbClr val="3A3A3A"/>
                </a:solidFill>
                <a:latin typeface="Microsoft JhengHei"/>
              </a:rPr>
              <a:t>網頁：食材 checkbox + 時間限制 + 口味 → 食譜卡片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31520" y="406908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31520" y="4233672"/>
            <a:ext cx="1737360" cy="347472"/>
          </a:xfrm>
          <a:prstGeom prst="roundRect">
            <a:avLst>
              <a:gd name="adj" fmla="val 50000"/>
            </a:avLst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8288" bIns="18288"/>
          <a:lstStyle/>
          <a:p>
            <a:pPr algn="ctr"/>
            <a:r>
              <a:rPr sz="1000" b="1" spc="200">
                <a:solidFill>
                  <a:srgbClr val="FFFFFF"/>
                </a:solidFill>
                <a:latin typeface="Consolas"/>
              </a:rPr>
              <a:t>GEMINI CLI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43200" y="4233672"/>
            <a:ext cx="868680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-10">
                <a:solidFill>
                  <a:srgbClr val="3A3A3A"/>
                </a:solidFill>
                <a:latin typeface="Microsoft JhengHei"/>
              </a:rPr>
              <a:t>gemini "今晚煮什麼" --pantry fridge.txt（可定時每天 17:00 跑）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31520" y="4892040"/>
            <a:ext cx="10698480" cy="0"/>
          </a:xfrm>
          <a:prstGeom prst="line">
            <a:avLst/>
          </a:prstGeom>
          <a:ln w="6350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31520" y="502920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WHY RECOMMEND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394960"/>
            <a:ext cx="10698480" cy="10058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 spc="-10">
                <a:solidFill>
                  <a:srgbClr val="3A3A3A"/>
                </a:solidFill>
                <a:latin typeface="Microsoft JhengHei"/>
              </a:rPr>
              <a:t>情境輕鬆，學員放鬆；現場可問「你冰箱有什麼？」互動感強；token 消耗極低；最貼近生活第 3 點需求。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APPENDIX · DEMO CANDIDATES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63 / 64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APPENDIX · COMPARISON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1" spc="-120">
                <a:solidFill>
                  <a:srgbClr val="111111"/>
                </a:solidFill>
                <a:latin typeface="Microsoft JhengHei"/>
              </a:rPr>
              <a:t>備選 Demo 比較速查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31520" y="2194560"/>
            <a:ext cx="10698480" cy="0"/>
          </a:xfrm>
          <a:prstGeom prst="line">
            <a:avLst/>
          </a:prstGeom>
          <a:ln w="6350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31520" y="2286000"/>
            <a:ext cx="21945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00">
                <a:solidFill>
                  <a:srgbClr val="8A8A8A"/>
                </a:solidFill>
                <a:latin typeface="Consolas"/>
              </a:rPr>
              <a:t>專案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2286000"/>
            <a:ext cx="13716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00">
                <a:solidFill>
                  <a:srgbClr val="8A8A8A"/>
                </a:solidFill>
                <a:latin typeface="Consolas"/>
              </a:rPr>
              <a:t>專業性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2286000"/>
            <a:ext cx="13716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00">
                <a:solidFill>
                  <a:srgbClr val="8A8A8A"/>
                </a:solidFill>
                <a:latin typeface="Consolas"/>
              </a:rPr>
              <a:t>生活化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0" y="2286000"/>
            <a:ext cx="1463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00">
                <a:solidFill>
                  <a:srgbClr val="8A8A8A"/>
                </a:solidFill>
                <a:latin typeface="Consolas"/>
              </a:rPr>
              <a:t>免費額度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0" y="2286000"/>
            <a:ext cx="13716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00">
                <a:solidFill>
                  <a:srgbClr val="8A8A8A"/>
                </a:solidFill>
                <a:latin typeface="Consolas"/>
              </a:rPr>
              <a:t>銜接性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2286000"/>
            <a:ext cx="29260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00">
                <a:solidFill>
                  <a:srgbClr val="8A8A8A"/>
                </a:solidFill>
                <a:latin typeface="Consolas"/>
              </a:rPr>
              <a:t>建議用途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31520" y="274320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731520" y="3108960"/>
            <a:ext cx="21945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1" spc="-20">
                <a:solidFill>
                  <a:srgbClr val="111111"/>
                </a:solidFill>
                <a:latin typeface="Microsoft JhengHei"/>
              </a:rPr>
              <a:t>A  新聞摘要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26080" y="3108960"/>
            <a:ext cx="13716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spc="-20">
                <a:solidFill>
                  <a:srgbClr val="111111"/>
                </a:solidFill>
                <a:latin typeface="Microsoft JhengHei"/>
              </a:rPr>
              <a:t>★★★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3108960"/>
            <a:ext cx="13716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spc="-20">
                <a:solidFill>
                  <a:srgbClr val="111111"/>
                </a:solidFill>
                <a:latin typeface="Microsoft JhengHei"/>
              </a:rPr>
              <a:t>★★★★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0" y="3108960"/>
            <a:ext cx="1463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spc="-20">
                <a:solidFill>
                  <a:srgbClr val="111111"/>
                </a:solidFill>
                <a:latin typeface="Microsoft JhengHei"/>
              </a:rPr>
              <a:t>★★★★★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32320" y="3108960"/>
            <a:ext cx="13716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spc="-20">
                <a:solidFill>
                  <a:srgbClr val="111111"/>
                </a:solidFill>
                <a:latin typeface="Microsoft JhengHei"/>
              </a:rPr>
              <a:t>★★★★★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03920" y="3108960"/>
            <a:ext cx="29260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spc="-20">
                <a:solidFill>
                  <a:srgbClr val="111111"/>
                </a:solidFill>
                <a:latin typeface="Microsoft JhengHei"/>
              </a:rPr>
              <a:t>講師主 Demo（推薦）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731520" y="370332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731520" y="4023360"/>
            <a:ext cx="21945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1" spc="-20">
                <a:solidFill>
                  <a:srgbClr val="111111"/>
                </a:solidFill>
                <a:latin typeface="Microsoft JhengHei"/>
              </a:rPr>
              <a:t>B  會議紀錄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26080" y="4023360"/>
            <a:ext cx="13716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spc="-20">
                <a:solidFill>
                  <a:srgbClr val="111111"/>
                </a:solidFill>
                <a:latin typeface="Microsoft JhengHei"/>
              </a:rPr>
              <a:t>★★★★★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97680" y="4023360"/>
            <a:ext cx="13716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spc="-20">
                <a:solidFill>
                  <a:srgbClr val="111111"/>
                </a:solidFill>
                <a:latin typeface="Microsoft JhengHei"/>
              </a:rPr>
              <a:t>★★★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0" y="4023360"/>
            <a:ext cx="1463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spc="-20">
                <a:solidFill>
                  <a:srgbClr val="111111"/>
                </a:solidFill>
                <a:latin typeface="Microsoft JhengHei"/>
              </a:rPr>
              <a:t>★★★★★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32320" y="4023360"/>
            <a:ext cx="13716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spc="-20">
                <a:solidFill>
                  <a:srgbClr val="111111"/>
                </a:solidFill>
                <a:latin typeface="Microsoft JhengHei"/>
              </a:rPr>
              <a:t>★★★★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03920" y="4023360"/>
            <a:ext cx="29260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spc="-20">
                <a:solidFill>
                  <a:srgbClr val="111111"/>
                </a:solidFill>
                <a:latin typeface="Microsoft JhengHei"/>
              </a:rPr>
              <a:t>學員選題（上班族）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731520" y="461772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731520" y="4937760"/>
            <a:ext cx="21945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1" spc="-20">
                <a:solidFill>
                  <a:srgbClr val="111111"/>
                </a:solidFill>
                <a:latin typeface="Microsoft JhengHei"/>
              </a:rPr>
              <a:t>C  冰箱食材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926080" y="4937760"/>
            <a:ext cx="13716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spc="-20">
                <a:solidFill>
                  <a:srgbClr val="111111"/>
                </a:solidFill>
                <a:latin typeface="Microsoft JhengHei"/>
              </a:rPr>
              <a:t>★★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97680" y="4937760"/>
            <a:ext cx="13716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spc="-20">
                <a:solidFill>
                  <a:srgbClr val="111111"/>
                </a:solidFill>
                <a:latin typeface="Microsoft JhengHei"/>
              </a:rPr>
              <a:t>★★★★★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69280" y="4937760"/>
            <a:ext cx="1463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spc="-20">
                <a:solidFill>
                  <a:srgbClr val="111111"/>
                </a:solidFill>
                <a:latin typeface="Microsoft JhengHei"/>
              </a:rPr>
              <a:t>★★★★★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32320" y="4937760"/>
            <a:ext cx="13716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spc="-20">
                <a:solidFill>
                  <a:srgbClr val="111111"/>
                </a:solidFill>
                <a:latin typeface="Microsoft JhengHei"/>
              </a:rPr>
              <a:t>★★★★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503920" y="4937760"/>
            <a:ext cx="29260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spc="-20">
                <a:solidFill>
                  <a:srgbClr val="111111"/>
                </a:solidFill>
                <a:latin typeface="Microsoft JhengHei"/>
              </a:rPr>
              <a:t>下午氣氛放鬆備案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731520" y="553212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731520" y="5852160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600" b="1" spc="-30">
                <a:solidFill>
                  <a:srgbClr val="111111"/>
                </a:solidFill>
                <a:latin typeface="Microsoft JhengHei"/>
              </a:rPr>
              <a:t>我的建議：主 Demo 用 A 新聞摘要，備案 C 冰箱食材應付氣氛變化。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APPENDIX · DEMO CANDIDATES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64 / 64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