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816" autoAdjust="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269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7432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7432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7432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7432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3047923" cy="27432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047923" y="6583680"/>
            <a:ext cx="3047923" cy="27432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095847" y="6583680"/>
            <a:ext cx="3047923" cy="27432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143771" y="6583680"/>
            <a:ext cx="3047923" cy="27432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10972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VIBE CODING · ONE-DAY WORKSHOP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691640"/>
            <a:ext cx="10698480" cy="1037207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400" b="1" spc="-300" dirty="0" err="1">
                <a:solidFill>
                  <a:srgbClr val="111111"/>
                </a:solidFill>
                <a:latin typeface="Microsoft JhengHei"/>
              </a:rPr>
              <a:t>用三個免費工具</a:t>
            </a:r>
            <a:endParaRPr sz="5400" b="1" spc="-300" dirty="0">
              <a:solidFill>
                <a:srgbClr val="111111"/>
              </a:solidFill>
              <a:latin typeface="Microsoft JhengHe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31520" y="2651760"/>
            <a:ext cx="10698480" cy="1037207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400" b="1" spc="-300" dirty="0" err="1">
                <a:solidFill>
                  <a:srgbClr val="111111"/>
                </a:solidFill>
                <a:latin typeface="Microsoft JhengHei"/>
              </a:rPr>
              <a:t>把你腦中的想法做成可用的小專案</a:t>
            </a:r>
            <a:endParaRPr sz="5400" b="1" spc="-300" dirty="0">
              <a:solidFill>
                <a:srgbClr val="111111"/>
              </a:solidFill>
              <a:latin typeface="Microsoft JhengHei"/>
            </a:endParaRP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2976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572000"/>
            <a:ext cx="3657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STAGE 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892040"/>
            <a:ext cx="36576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Google AI Studio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59" y="4572000"/>
            <a:ext cx="3657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STAGE 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59" y="4892040"/>
            <a:ext cx="36576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Antigravity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4572000"/>
            <a:ext cx="3657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STAGE 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892040"/>
            <a:ext cx="36576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Gemini CLI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00">
                <a:solidFill>
                  <a:srgbClr val="8A8A8A"/>
                </a:solidFill>
                <a:latin typeface="Consolas"/>
              </a:rPr>
              <a:t>[ 講師 ] · [ 日期 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M0 · THE HONEST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400" b="1" spc="-150">
                <a:solidFill>
                  <a:srgbClr val="111111"/>
                </a:solidFill>
                <a:latin typeface="Microsoft JhengHei"/>
              </a:rPr>
              <a:t>你是不是也這樣？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560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788920"/>
            <a:ext cx="1069848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3A3A3A"/>
                </a:solidFill>
                <a:latin typeface="Microsoft JhengHei"/>
              </a:rPr>
              <a:t>「ChatGPT 問過、Gemini 問過，但我還是不會做出任何東西。」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361187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3840479"/>
            <a:ext cx="1069848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3A3A3A"/>
                </a:solidFill>
                <a:latin typeface="Microsoft JhengHei"/>
              </a:rPr>
              <a:t>「我有很多想法，但不會寫程式，也不想學。」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46634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4892040"/>
            <a:ext cx="1069848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3A3A3A"/>
                </a:solidFill>
                <a:latin typeface="Microsoft JhengHei"/>
              </a:rPr>
              <a:t>「聽說 Vibe Coding 很紅，但那是工程師的事吧？」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5715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M0 · OPENING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02 / 58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7432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7432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7432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7432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TODAY'S PROMISE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1069848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 spc="-30">
                <a:solidFill>
                  <a:srgbClr val="8A8A8A"/>
                </a:solidFill>
                <a:latin typeface="Microsoft JhengHei"/>
              </a:rPr>
              <a:t>今天結束前，你會做出一個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77440"/>
            <a:ext cx="10698480" cy="1037207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400" b="1" spc="-350" dirty="0" err="1">
                <a:solidFill>
                  <a:srgbClr val="111111"/>
                </a:solidFill>
                <a:latin typeface="Microsoft JhengHei"/>
              </a:rPr>
              <a:t>可以打開來用</a:t>
            </a:r>
            <a:endParaRPr sz="5400" b="1" spc="-350" dirty="0">
              <a:solidFill>
                <a:srgbClr val="111111"/>
              </a:solidFill>
              <a:latin typeface="Microsoft Jheng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31520" y="3429000"/>
            <a:ext cx="10698480" cy="1037207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400" b="1" spc="-350" dirty="0" err="1">
                <a:solidFill>
                  <a:srgbClr val="111111"/>
                </a:solidFill>
                <a:latin typeface="Microsoft JhengHei"/>
              </a:rPr>
              <a:t>可以秀給朋友看的</a:t>
            </a:r>
            <a:endParaRPr sz="5400" b="1" spc="-350" dirty="0">
              <a:solidFill>
                <a:srgbClr val="111111"/>
              </a:solidFill>
              <a:latin typeface="Microsoft Jheng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31520" y="4480560"/>
            <a:ext cx="10698480" cy="1037207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400" b="1" spc="-350" dirty="0" err="1">
                <a:solidFill>
                  <a:srgbClr val="111111"/>
                </a:solidFill>
                <a:latin typeface="Microsoft JhengHei"/>
              </a:rPr>
              <a:t>小專案</a:t>
            </a:r>
            <a:r>
              <a:rPr sz="5400" b="1" spc="-350" dirty="0">
                <a:solidFill>
                  <a:srgbClr val="111111"/>
                </a:solidFill>
                <a:latin typeface="Microsoft JhengHei"/>
              </a:rPr>
              <a:t>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5760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M0 · OPENING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03 / 58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M0 · THE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400" b="1" spc="-150">
                <a:solidFill>
                  <a:srgbClr val="111111"/>
                </a:solidFill>
                <a:latin typeface="Microsoft JhengHei"/>
              </a:rPr>
              <a:t>三個工具  ·  一條線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同一個專案，三個工具輪流接棒。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834640"/>
            <a:ext cx="33832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05840" y="3154680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18288" rIns="137160" bIns="18288" rtlCol="0" anchor="ctr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早上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794760"/>
            <a:ext cx="292608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 spc="-80">
                <a:solidFill>
                  <a:srgbClr val="111111"/>
                </a:solidFill>
                <a:latin typeface="Microsoft JhengHei"/>
              </a:rPr>
              <a:t>AI Studio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526280"/>
            <a:ext cx="292608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測點子 · 寫 prompt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937760"/>
            <a:ext cx="2926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4023360"/>
            <a:ext cx="2286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>
                <a:solidFill>
                  <a:srgbClr val="111111"/>
                </a:solidFill>
                <a:latin typeface="Microsoft JhengHe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2834640"/>
            <a:ext cx="33832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754879" y="3154680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18288" rIns="137160" bIns="18288" rtlCol="0" anchor="ctr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下午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3794760"/>
            <a:ext cx="292608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 spc="-80">
                <a:solidFill>
                  <a:srgbClr val="111111"/>
                </a:solidFill>
                <a:latin typeface="Microsoft JhengHei"/>
              </a:rPr>
              <a:t>Antigravity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4526280"/>
            <a:ext cx="292608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做出來 · Vibe Coding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4937760"/>
            <a:ext cx="2926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0999" y="4023360"/>
            <a:ext cx="2286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>
                <a:solidFill>
                  <a:srgbClr val="111111"/>
                </a:solidFill>
                <a:latin typeface="Microsoft JhengHe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2834640"/>
            <a:ext cx="33832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503920" y="3154680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18288" rIns="137160" bIns="18288" rtlCol="0" anchor="ctr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傍晚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3794760"/>
            <a:ext cx="292608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 spc="-80">
                <a:solidFill>
                  <a:srgbClr val="111111"/>
                </a:solidFill>
                <a:latin typeface="Microsoft JhengHei"/>
              </a:rPr>
              <a:t>Gemini CLI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4526280"/>
            <a:ext cx="292608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自動化 · 下指令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4937760"/>
            <a:ext cx="2926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M0 · OPENING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04 / 58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M0 · SCHEDULE &amp;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今日時程  ·  三個規則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28600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423160"/>
            <a:ext cx="914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09:00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423160"/>
            <a:ext cx="7315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2377440"/>
            <a:ext cx="41148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開場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283464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2971800"/>
            <a:ext cx="914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09:30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971800"/>
            <a:ext cx="7315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926080"/>
            <a:ext cx="41148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 dirty="0" err="1">
                <a:solidFill>
                  <a:srgbClr val="111111"/>
                </a:solidFill>
                <a:latin typeface="Microsoft JhengHei"/>
              </a:rPr>
              <a:t>找痛點（你今天要做什麼</a:t>
            </a:r>
            <a:r>
              <a:rPr sz="1600" b="0" spc="-20" dirty="0">
                <a:solidFill>
                  <a:srgbClr val="111111"/>
                </a:solidFill>
                <a:latin typeface="Microsoft JhengHei"/>
              </a:rPr>
              <a:t>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338328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3520440"/>
            <a:ext cx="914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11:00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20440"/>
            <a:ext cx="7315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474720"/>
            <a:ext cx="41148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 dirty="0">
                <a:solidFill>
                  <a:srgbClr val="111111"/>
                </a:solidFill>
                <a:latin typeface="Microsoft JhengHei"/>
              </a:rPr>
              <a:t>STRIKE </a:t>
            </a:r>
            <a:r>
              <a:rPr sz="1600" b="0" spc="-20" dirty="0" err="1">
                <a:solidFill>
                  <a:srgbClr val="111111"/>
                </a:solidFill>
                <a:latin typeface="Microsoft JhengHei"/>
              </a:rPr>
              <a:t>戰法</a:t>
            </a:r>
            <a:r>
              <a:rPr sz="1600" b="0" spc="-20" dirty="0">
                <a:solidFill>
                  <a:srgbClr val="111111"/>
                </a:solidFill>
                <a:latin typeface="Microsoft JhengHei"/>
              </a:rPr>
              <a:t> × AI Studio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1520" y="393192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31520" y="4069080"/>
            <a:ext cx="914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13:30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069080"/>
            <a:ext cx="7315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4023360"/>
            <a:ext cx="41148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Antigravity Vibe Coding ⭐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1520" y="448056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1520" y="4617720"/>
            <a:ext cx="914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15:40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1640" y="4617720"/>
            <a:ext cx="7315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68880" y="4572000"/>
            <a:ext cx="41148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Gemini CLI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31520" y="502920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31520" y="5166360"/>
            <a:ext cx="914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16:40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91640" y="5166360"/>
            <a:ext cx="7315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5120640"/>
            <a:ext cx="41148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部署 + 成果展示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98079" y="2286000"/>
            <a:ext cx="3931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498079" y="24231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3 RULES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2926080"/>
            <a:ext cx="7315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246120"/>
            <a:ext cx="393192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20">
                <a:solidFill>
                  <a:srgbClr val="111111"/>
                </a:solidFill>
                <a:latin typeface="Microsoft JhengHei"/>
              </a:rPr>
              <a:t>不會的直接舉手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3794760"/>
            <a:ext cx="7315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4114800"/>
            <a:ext cx="393192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20">
                <a:solidFill>
                  <a:srgbClr val="111111"/>
                </a:solidFill>
                <a:latin typeface="Microsoft JhengHei"/>
              </a:rPr>
              <a:t>做錯沒關係，AI 陪你改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4663440"/>
            <a:ext cx="7315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4983480"/>
            <a:ext cx="393192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20">
                <a:solidFill>
                  <a:srgbClr val="111111"/>
                </a:solidFill>
                <a:latin typeface="Microsoft JhengHei"/>
              </a:rPr>
              <a:t>下課前能對朋友秀一個東西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M0 · OPENING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05 / 58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MODULE M1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M1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037207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400" b="1" spc="-350" dirty="0" err="1">
                <a:solidFill>
                  <a:srgbClr val="111111"/>
                </a:solidFill>
                <a:latin typeface="Microsoft JhengHei"/>
              </a:rPr>
              <a:t>找痛點</a:t>
            </a:r>
            <a:endParaRPr sz="5400" b="1" spc="-350" dirty="0">
              <a:solidFill>
                <a:srgbClr val="111111"/>
              </a:solidFill>
              <a:latin typeface="Microsoft Jheng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1463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做得出來，不等於做得對。</a:t>
            </a:r>
          </a:p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選對題目，是今天最重要的決定。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06 / 58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M1 · THE MOST COMMON MISTAKE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新手最容易犯的錯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86000"/>
            <a:ext cx="5212080" cy="3566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2468880"/>
            <a:ext cx="73152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50">
                <a:solidFill>
                  <a:srgbClr val="B45309"/>
                </a:solidFill>
                <a:latin typeface="Microsoft JhengHei"/>
              </a:rPr>
              <a:t>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246120"/>
            <a:ext cx="45720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80">
                <a:solidFill>
                  <a:srgbClr val="111111"/>
                </a:solidFill>
                <a:latin typeface="Microsoft JhengHei"/>
              </a:rPr>
              <a:t>產品思維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051560" y="3931920"/>
            <a:ext cx="457200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51560" y="4069080"/>
            <a:ext cx="45720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先想「我要做什麼產品」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09160"/>
            <a:ext cx="4572000" cy="10058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spc="-10">
                <a:solidFill>
                  <a:srgbClr val="8A8A8A"/>
                </a:solidFill>
                <a:latin typeface="Microsoft JhengHei"/>
              </a:rPr>
              <a:t>空想，容易越想越大</a:t>
            </a:r>
          </a:p>
          <a:p>
            <a:pPr algn="l">
              <a:lnSpc>
                <a:spcPct val="150000"/>
              </a:lnSpc>
            </a:pPr>
            <a:r>
              <a:rPr sz="1500" b="0" spc="-10">
                <a:solidFill>
                  <a:srgbClr val="8A8A8A"/>
                </a:solidFill>
                <a:latin typeface="Microsoft JhengHei"/>
              </a:rPr>
              <a:t>做不完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286000"/>
            <a:ext cx="5212080" cy="3566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73152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50">
                <a:solidFill>
                  <a:srgbClr val="156B4A"/>
                </a:solidFill>
                <a:latin typeface="Microsoft JhengHei"/>
              </a:rPr>
              <a:t>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246120"/>
            <a:ext cx="45720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80">
                <a:solidFill>
                  <a:srgbClr val="111111"/>
                </a:solidFill>
                <a:latin typeface="Microsoft JhengHei"/>
              </a:rPr>
              <a:t>痛點思維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83680" y="3931920"/>
            <a:ext cx="457200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0" y="4069080"/>
            <a:ext cx="45720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先找「有什麼事讓我煩」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709160"/>
            <a:ext cx="4572000" cy="10058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spc="-10">
                <a:solidFill>
                  <a:srgbClr val="8A8A8A"/>
                </a:solidFill>
                <a:latin typeface="Microsoft JhengHei"/>
              </a:rPr>
              <a:t>具體、有人受苦</a:t>
            </a:r>
          </a:p>
          <a:p>
            <a:pPr algn="l">
              <a:lnSpc>
                <a:spcPct val="150000"/>
              </a:lnSpc>
            </a:pPr>
            <a:r>
              <a:rPr sz="1500" b="0" spc="-10">
                <a:solidFill>
                  <a:srgbClr val="8A8A8A"/>
                </a:solidFill>
                <a:latin typeface="Microsoft JhengHei"/>
              </a:rPr>
              <a:t>做完就有用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07 / 58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M1 · FOUR PHYSICS 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一個好痛點的四個物理量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3349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>
              <a:lnSpc>
                <a:spcPct val="135000"/>
              </a:lnSpc>
            </a:pPr>
            <a:r>
              <a:rPr sz="1600" spc="-20" dirty="0" err="1">
                <a:solidFill>
                  <a:srgbClr val="8A8A8A"/>
                </a:solidFill>
                <a:latin typeface="Microsoft JhengHei"/>
              </a:rPr>
              <a:t>初學者第一個專案</a:t>
            </a:r>
            <a:r>
              <a:rPr sz="1600" spc="-20" dirty="0">
                <a:solidFill>
                  <a:srgbClr val="8A8A8A"/>
                </a:solidFill>
                <a:latin typeface="Microsoft JhengHei"/>
              </a:rPr>
              <a:t>：</a:t>
            </a:r>
            <a:r>
              <a:rPr lang="zh-TW" altLang="en-US" sz="1600" spc="-20" dirty="0">
                <a:solidFill>
                  <a:srgbClr val="8A8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①</a:t>
            </a:r>
            <a:r>
              <a:rPr lang="zh-TW" altLang="en-US" sz="1600" spc="-20" dirty="0">
                <a:solidFill>
                  <a:srgbClr val="8A8A8A"/>
                </a:solidFill>
                <a:latin typeface="Microsoft JhengHei"/>
              </a:rPr>
              <a:t> </a:t>
            </a:r>
            <a:r>
              <a:rPr lang="en-US" altLang="zh-TW" sz="1600" spc="-20" dirty="0">
                <a:solidFill>
                  <a:srgbClr val="8A8A8A"/>
                </a:solidFill>
                <a:latin typeface="Microsoft JhengHei"/>
              </a:rPr>
              <a:t>+</a:t>
            </a:r>
            <a:r>
              <a:rPr lang="zh-TW" altLang="en-US" sz="1600" spc="-20" dirty="0">
                <a:solidFill>
                  <a:srgbClr val="8A8A8A"/>
                </a:solidFill>
                <a:latin typeface="Microsoft JhengHei"/>
              </a:rPr>
              <a:t> </a:t>
            </a:r>
            <a:r>
              <a:rPr lang="zh-TW" altLang="en-US" sz="1600" spc="-20" dirty="0">
                <a:solidFill>
                  <a:srgbClr val="8A8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②</a:t>
            </a:r>
            <a:r>
              <a:rPr lang="en-US" altLang="zh-TW" sz="1600" spc="-20" dirty="0">
                <a:solidFill>
                  <a:srgbClr val="8A8A8A"/>
                </a:solidFill>
                <a:latin typeface="Microsoft JhengHei"/>
              </a:rPr>
              <a:t> + </a:t>
            </a:r>
            <a:r>
              <a:rPr lang="zh-TW" altLang="en-US" sz="1600" spc="-20" dirty="0">
                <a:solidFill>
                  <a:srgbClr val="8A8A8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③</a:t>
            </a:r>
            <a:r>
              <a:rPr lang="zh-TW" altLang="en-US" sz="1600" spc="-20" dirty="0">
                <a:solidFill>
                  <a:srgbClr val="8A8A8A"/>
                </a:solidFill>
                <a:latin typeface="Microsoft JhengHei"/>
              </a:rPr>
              <a:t> </a:t>
            </a:r>
            <a:r>
              <a:rPr sz="1600" spc="-20" dirty="0" err="1">
                <a:solidFill>
                  <a:srgbClr val="8A8A8A"/>
                </a:solidFill>
                <a:latin typeface="Microsoft JhengHei"/>
              </a:rPr>
              <a:t>過關就行</a:t>
            </a:r>
            <a:r>
              <a:rPr sz="1600" spc="-20" dirty="0">
                <a:solidFill>
                  <a:srgbClr val="8A8A8A"/>
                </a:solidFill>
                <a:latin typeface="Microsoft JhengHei"/>
              </a:rPr>
              <a:t>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06040"/>
            <a:ext cx="5212080" cy="1554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2834640"/>
            <a:ext cx="914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5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200400"/>
            <a:ext cx="45720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具體的人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703320"/>
            <a:ext cx="45720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能說出一個真人的名字（自己算）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606040"/>
            <a:ext cx="5212080" cy="1554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2834640"/>
            <a:ext cx="914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5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200400"/>
            <a:ext cx="45720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 dirty="0" err="1">
                <a:solidFill>
                  <a:srgbClr val="111111"/>
                </a:solidFill>
                <a:latin typeface="Microsoft JhengHei"/>
              </a:rPr>
              <a:t>正在付錢的痛</a:t>
            </a:r>
            <a:endParaRPr sz="2200" b="1" spc="-50" dirty="0">
              <a:solidFill>
                <a:srgbClr val="111111"/>
              </a:solidFill>
              <a:latin typeface="Microsoft JhengHe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583680" y="3703320"/>
            <a:ext cx="45720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 dirty="0" err="1">
                <a:solidFill>
                  <a:srgbClr val="8A8A8A"/>
                </a:solidFill>
                <a:latin typeface="Microsoft JhengHei"/>
              </a:rPr>
              <a:t>他現在花錢、花時間、花精力在解決</a:t>
            </a:r>
            <a:endParaRPr sz="1400" b="0" spc="-10" dirty="0">
              <a:solidFill>
                <a:srgbClr val="8A8A8A"/>
              </a:solidFill>
              <a:latin typeface="Microsoft JhengHe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731520" y="4389120"/>
            <a:ext cx="5212080" cy="1554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51560" y="4617720"/>
            <a:ext cx="914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5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983480"/>
            <a:ext cx="45720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 dirty="0" err="1">
                <a:solidFill>
                  <a:srgbClr val="111111"/>
                </a:solidFill>
                <a:latin typeface="Microsoft JhengHei"/>
              </a:rPr>
              <a:t>手工可交付</a:t>
            </a:r>
            <a:endParaRPr sz="2200" b="1" spc="-50" dirty="0">
              <a:solidFill>
                <a:srgbClr val="111111"/>
              </a:solidFill>
              <a:latin typeface="Microsoft JhengHe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51560" y="5486400"/>
            <a:ext cx="45720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不寫程式，你今晚能幫他做一次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4389120"/>
            <a:ext cx="5212080" cy="1554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80" y="4617720"/>
            <a:ext cx="914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50">
                <a:solidFill>
                  <a:srgbClr val="8A8A8A"/>
                </a:solidFill>
                <a:latin typeface="Consola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983480"/>
            <a:ext cx="4572000" cy="444481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 dirty="0" err="1">
                <a:solidFill>
                  <a:srgbClr val="111111"/>
                </a:solidFill>
                <a:latin typeface="Microsoft JhengHei"/>
              </a:rPr>
              <a:t>收款管道</a:t>
            </a:r>
            <a:r>
              <a:rPr lang="en-US" sz="2200" b="1" spc="-50" dirty="0">
                <a:solidFill>
                  <a:srgbClr val="111111"/>
                </a:solidFill>
                <a:latin typeface="Microsoft JhengHei"/>
              </a:rPr>
              <a:t> </a:t>
            </a:r>
            <a:endParaRPr sz="2200" b="1" spc="-50" dirty="0">
              <a:solidFill>
                <a:srgbClr val="111111"/>
              </a:solidFill>
              <a:latin typeface="Microsoft JhengHe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583680" y="5486400"/>
            <a:ext cx="45720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他願意付錢你收得到（之後再說）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08 / 58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M1 · WHAT DOES CONCRETE MEAN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範例：什麼叫「具體」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B45309"/>
                </a:solidFill>
                <a:latin typeface="Consolas"/>
              </a:rPr>
              <a:t>× VAGUE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228600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156B4A"/>
                </a:solidFill>
                <a:latin typeface="Consolas"/>
              </a:rPr>
              <a:t>✓ CONCRETE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8346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3017520"/>
            <a:ext cx="521208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年輕人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3017520"/>
            <a:ext cx="521208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我朋友阿明，28 歲，每週三晚上要做財報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74903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931919"/>
            <a:ext cx="521208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 dirty="0" err="1">
                <a:solidFill>
                  <a:srgbClr val="8A8A8A"/>
                </a:solidFill>
                <a:latin typeface="Microsoft JhengHei"/>
              </a:rPr>
              <a:t>小企業老闆</a:t>
            </a:r>
            <a:endParaRPr sz="1800" b="0" spc="-20" dirty="0">
              <a:solidFill>
                <a:srgbClr val="8A8A8A"/>
              </a:solidFill>
              <a:latin typeface="Microsoft Jheng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263640" y="3931919"/>
            <a:ext cx="521208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 dirty="0" err="1">
                <a:solidFill>
                  <a:srgbClr val="111111"/>
                </a:solidFill>
                <a:latin typeface="Microsoft JhengHei"/>
              </a:rPr>
              <a:t>我認識的王太太，開早餐店，每天晚上手動記帳</a:t>
            </a:r>
            <a:endParaRPr sz="1800" b="0" spc="-20" dirty="0">
              <a:solidFill>
                <a:srgbClr val="111111"/>
              </a:solidFill>
              <a:latin typeface="Microsoft JhengHei"/>
            </a:endParaRP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6634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4846320"/>
            <a:ext cx="521208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 dirty="0" err="1">
                <a:solidFill>
                  <a:srgbClr val="8A8A8A"/>
                </a:solidFill>
                <a:latin typeface="Microsoft JhengHei"/>
              </a:rPr>
              <a:t>想學英文的人</a:t>
            </a:r>
            <a:endParaRPr sz="1800" b="0" spc="-20" dirty="0">
              <a:solidFill>
                <a:srgbClr val="8A8A8A"/>
              </a:solidFill>
              <a:latin typeface="Microsoft JhengHe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263640" y="4846320"/>
            <a:ext cx="521208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 dirty="0" err="1">
                <a:solidFill>
                  <a:srgbClr val="111111"/>
                </a:solidFill>
                <a:latin typeface="Microsoft JhengHei"/>
              </a:rPr>
              <a:t>我表弟，下個月要考多益</a:t>
            </a:r>
            <a:r>
              <a:rPr sz="1800" b="0" spc="-20" dirty="0">
                <a:solidFill>
                  <a:srgbClr val="111111"/>
                </a:solidFill>
                <a:latin typeface="Microsoft JhengHei"/>
              </a:rPr>
              <a:t> 750 分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55778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痛點不抽象，不然沒辦法驗證。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09 / 58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M1 · THE MAGIC PROMPT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30">
                <a:solidFill>
                  <a:srgbClr val="111111"/>
                </a:solidFill>
                <a:latin typeface="Microsoft JhengHei"/>
              </a:rPr>
              <a:t>找痛點的魔法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698480" cy="30021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50" dirty="0" err="1">
                <a:solidFill>
                  <a:srgbClr val="8A8A8A"/>
                </a:solidFill>
                <a:latin typeface="Consolas"/>
              </a:rPr>
              <a:t>複製貼上到</a:t>
            </a:r>
            <a:r>
              <a:rPr sz="1400" b="0" spc="150" dirty="0">
                <a:solidFill>
                  <a:srgbClr val="8A8A8A"/>
                </a:solidFill>
                <a:latin typeface="Consolas"/>
              </a:rPr>
              <a:t> </a:t>
            </a:r>
            <a:r>
              <a:rPr lang="en-US" sz="1400" b="0" spc="150" dirty="0">
                <a:solidFill>
                  <a:srgbClr val="8A8A8A"/>
                </a:solidFill>
                <a:latin typeface="Consolas"/>
              </a:rPr>
              <a:t>Gemini / </a:t>
            </a:r>
            <a:r>
              <a:rPr sz="1400" b="0" spc="150" dirty="0">
                <a:solidFill>
                  <a:srgbClr val="8A8A8A"/>
                </a:solidFill>
                <a:latin typeface="Consolas"/>
              </a:rPr>
              <a:t>ChatGPT / Claude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377440"/>
            <a:ext cx="10698480" cy="393192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Ins="274320" bIns="182880" rtlCol="0" anchor="ctr"/>
          <a:lstStyle/>
          <a:p>
            <a:pPr algn="l">
              <a:lnSpc>
                <a:spcPct val="130000"/>
              </a:lnSpc>
            </a:pPr>
            <a:r>
              <a:rPr sz="1300" dirty="0" err="1">
                <a:solidFill>
                  <a:srgbClr val="111111"/>
                </a:solidFill>
                <a:latin typeface="Consolas"/>
              </a:rPr>
              <a:t>你是一位痛點結構化教練。我腦中有一些模糊的工作</a:t>
            </a:r>
            <a:r>
              <a:rPr sz="1300" dirty="0">
                <a:solidFill>
                  <a:srgbClr val="111111"/>
                </a:solidFill>
                <a:latin typeface="Consolas"/>
              </a:rPr>
              <a:t> / </a:t>
            </a:r>
            <a:r>
              <a:rPr sz="1300" dirty="0" err="1">
                <a:solidFill>
                  <a:srgbClr val="111111"/>
                </a:solidFill>
                <a:latin typeface="Consolas"/>
              </a:rPr>
              <a:t>生活痛點</a:t>
            </a:r>
            <a:r>
              <a:rPr sz="1300" dirty="0">
                <a:solidFill>
                  <a:srgbClr val="111111"/>
                </a:solidFill>
                <a:latin typeface="Consolas"/>
              </a:rPr>
              <a:t>。</a:t>
            </a:r>
          </a:p>
          <a:p>
            <a:pPr algn="l">
              <a:lnSpc>
                <a:spcPct val="130000"/>
              </a:lnSpc>
            </a:pPr>
            <a:endParaRPr sz="1300" dirty="0">
              <a:solidFill>
                <a:srgbClr val="111111"/>
              </a:solidFill>
              <a:latin typeface="Consolas"/>
            </a:endParaRPr>
          </a:p>
          <a:p>
            <a:pPr algn="l">
              <a:lnSpc>
                <a:spcPct val="130000"/>
              </a:lnSpc>
            </a:pPr>
            <a:r>
              <a:rPr sz="1300" dirty="0" err="1">
                <a:solidFill>
                  <a:srgbClr val="111111"/>
                </a:solidFill>
                <a:latin typeface="Consolas"/>
              </a:rPr>
              <a:t>請用蘇格拉底式提問（一次一題）引導我整理出</a:t>
            </a:r>
            <a:r>
              <a:rPr sz="1300" dirty="0">
                <a:solidFill>
                  <a:srgbClr val="111111"/>
                </a:solidFill>
                <a:latin typeface="Consolas"/>
              </a:rPr>
              <a:t> 3 </a:t>
            </a:r>
            <a:r>
              <a:rPr sz="1300" dirty="0" err="1">
                <a:solidFill>
                  <a:srgbClr val="111111"/>
                </a:solidFill>
                <a:latin typeface="Consolas"/>
              </a:rPr>
              <a:t>個具體痛點</a:t>
            </a:r>
            <a:r>
              <a:rPr sz="1300" dirty="0">
                <a:solidFill>
                  <a:srgbClr val="111111"/>
                </a:solidFill>
                <a:latin typeface="Consolas"/>
              </a:rPr>
              <a:t>，</a:t>
            </a:r>
          </a:p>
          <a:p>
            <a:pPr algn="l">
              <a:lnSpc>
                <a:spcPct val="130000"/>
              </a:lnSpc>
            </a:pPr>
            <a:r>
              <a:rPr sz="1300" dirty="0" err="1">
                <a:solidFill>
                  <a:srgbClr val="111111"/>
                </a:solidFill>
                <a:latin typeface="Consolas"/>
              </a:rPr>
              <a:t>每個痛點包含</a:t>
            </a:r>
            <a:r>
              <a:rPr sz="1300" dirty="0">
                <a:solidFill>
                  <a:srgbClr val="111111"/>
                </a:solidFill>
                <a:latin typeface="Consolas"/>
              </a:rPr>
              <a:t>：</a:t>
            </a:r>
          </a:p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111111"/>
                </a:solidFill>
                <a:latin typeface="Consolas"/>
              </a:rPr>
              <a:t>  - </a:t>
            </a:r>
            <a:r>
              <a:rPr sz="1300" dirty="0" err="1">
                <a:solidFill>
                  <a:srgbClr val="111111"/>
                </a:solidFill>
                <a:latin typeface="Consolas"/>
              </a:rPr>
              <a:t>誰遇到（具體的人</a:t>
            </a:r>
            <a:r>
              <a:rPr sz="1300" dirty="0">
                <a:solidFill>
                  <a:srgbClr val="111111"/>
                </a:solidFill>
                <a:latin typeface="Consolas"/>
              </a:rPr>
              <a:t>）</a:t>
            </a:r>
          </a:p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111111"/>
                </a:solidFill>
                <a:latin typeface="Consolas"/>
              </a:rPr>
              <a:t>  - </a:t>
            </a:r>
            <a:r>
              <a:rPr sz="1300" dirty="0" err="1">
                <a:solidFill>
                  <a:srgbClr val="111111"/>
                </a:solidFill>
                <a:latin typeface="Consolas"/>
              </a:rPr>
              <a:t>情境（什麼時候</a:t>
            </a:r>
            <a:r>
              <a:rPr sz="1300" dirty="0">
                <a:solidFill>
                  <a:srgbClr val="111111"/>
                </a:solidFill>
                <a:latin typeface="Consolas"/>
              </a:rPr>
              <a:t>）</a:t>
            </a:r>
          </a:p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111111"/>
                </a:solidFill>
                <a:latin typeface="Consolas"/>
              </a:rPr>
              <a:t>  - </a:t>
            </a:r>
            <a:r>
              <a:rPr sz="1300" dirty="0" err="1">
                <a:solidFill>
                  <a:srgbClr val="111111"/>
                </a:solidFill>
                <a:latin typeface="Consolas"/>
              </a:rPr>
              <a:t>現行解法（現在怎麼處理</a:t>
            </a:r>
            <a:r>
              <a:rPr sz="1300" dirty="0">
                <a:solidFill>
                  <a:srgbClr val="111111"/>
                </a:solidFill>
                <a:latin typeface="Consolas"/>
              </a:rPr>
              <a:t>）</a:t>
            </a:r>
          </a:p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111111"/>
                </a:solidFill>
                <a:latin typeface="Consolas"/>
              </a:rPr>
              <a:t>  - </a:t>
            </a:r>
            <a:r>
              <a:rPr sz="1300" dirty="0" err="1">
                <a:solidFill>
                  <a:srgbClr val="111111"/>
                </a:solidFill>
                <a:latin typeface="Consolas"/>
              </a:rPr>
              <a:t>不滿（哪裡煩</a:t>
            </a:r>
            <a:r>
              <a:rPr sz="1300" dirty="0">
                <a:solidFill>
                  <a:srgbClr val="111111"/>
                </a:solidFill>
                <a:latin typeface="Consolas"/>
              </a:rPr>
              <a:t>）</a:t>
            </a:r>
          </a:p>
          <a:p>
            <a:pPr algn="l">
              <a:lnSpc>
                <a:spcPct val="130000"/>
              </a:lnSpc>
            </a:pPr>
            <a:endParaRPr sz="1300" dirty="0">
              <a:solidFill>
                <a:srgbClr val="111111"/>
              </a:solidFill>
              <a:latin typeface="Consolas"/>
            </a:endParaRPr>
          </a:p>
          <a:p>
            <a:pPr algn="l">
              <a:lnSpc>
                <a:spcPct val="130000"/>
              </a:lnSpc>
            </a:pPr>
            <a:r>
              <a:rPr sz="1300" dirty="0" err="1">
                <a:solidFill>
                  <a:srgbClr val="111111"/>
                </a:solidFill>
                <a:latin typeface="Consolas"/>
              </a:rPr>
              <a:t>規則：一次一題，我回答後再問下一題</a:t>
            </a:r>
            <a:r>
              <a:rPr sz="1300" dirty="0">
                <a:solidFill>
                  <a:srgbClr val="111111"/>
                </a:solidFill>
                <a:latin typeface="Consolas"/>
              </a:rPr>
              <a:t>；</a:t>
            </a:r>
          </a:p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111111"/>
                </a:solidFill>
                <a:latin typeface="Consolas"/>
              </a:rPr>
              <a:t>      </a:t>
            </a:r>
            <a:r>
              <a:rPr sz="1300" dirty="0" err="1">
                <a:solidFill>
                  <a:srgbClr val="111111"/>
                </a:solidFill>
                <a:latin typeface="Consolas"/>
              </a:rPr>
              <a:t>我回答太抽象時請直接指出</a:t>
            </a:r>
            <a:r>
              <a:rPr sz="1300" dirty="0">
                <a:solidFill>
                  <a:srgbClr val="111111"/>
                </a:solidFill>
                <a:latin typeface="Consolas"/>
              </a:rPr>
              <a:t>；</a:t>
            </a:r>
          </a:p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111111"/>
                </a:solidFill>
                <a:latin typeface="Consolas"/>
              </a:rPr>
              <a:t>      </a:t>
            </a:r>
            <a:r>
              <a:rPr sz="1300" dirty="0" err="1">
                <a:solidFill>
                  <a:srgbClr val="111111"/>
                </a:solidFill>
                <a:latin typeface="Consolas"/>
              </a:rPr>
              <a:t>不要評分或建議產品</a:t>
            </a:r>
            <a:r>
              <a:rPr sz="1300" dirty="0">
                <a:solidFill>
                  <a:srgbClr val="111111"/>
                </a:solidFill>
                <a:latin typeface="Consolas"/>
              </a:rPr>
              <a:t>。</a:t>
            </a:r>
          </a:p>
          <a:p>
            <a:pPr algn="l">
              <a:lnSpc>
                <a:spcPct val="130000"/>
              </a:lnSpc>
            </a:pPr>
            <a:endParaRPr sz="1300" dirty="0">
              <a:solidFill>
                <a:srgbClr val="111111"/>
              </a:solidFill>
              <a:latin typeface="Consolas"/>
            </a:endParaRPr>
          </a:p>
          <a:p>
            <a:pPr algn="l">
              <a:lnSpc>
                <a:spcPct val="130000"/>
              </a:lnSpc>
            </a:pPr>
            <a:r>
              <a:rPr sz="1300" dirty="0" err="1">
                <a:solidFill>
                  <a:srgbClr val="111111"/>
                </a:solidFill>
                <a:latin typeface="Consolas"/>
              </a:rPr>
              <a:t>開始問我第一題吧</a:t>
            </a:r>
            <a:r>
              <a:rPr sz="1300" dirty="0">
                <a:solidFill>
                  <a:srgbClr val="111111"/>
                </a:solidFill>
                <a:latin typeface="Consolas"/>
              </a:rPr>
              <a:t>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10 / 58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18288" rIns="137160" bIns="18288" rtlCol="0" anchor="ctr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實作 1：找出你的 3 個痛點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25146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01   打開 ChatGPT / Claude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 dirty="0">
                <a:solidFill>
                  <a:srgbClr val="3A3A3A"/>
                </a:solidFill>
                <a:latin typeface="Microsoft JhengHei"/>
              </a:rPr>
              <a:t>02   </a:t>
            </a:r>
            <a:r>
              <a:rPr sz="1800" b="0" spc="-20" dirty="0" err="1">
                <a:solidFill>
                  <a:srgbClr val="3A3A3A"/>
                </a:solidFill>
                <a:latin typeface="Microsoft JhengHei"/>
              </a:rPr>
              <a:t>複製上一張的</a:t>
            </a:r>
            <a:r>
              <a:rPr sz="1800" b="0" spc="-20" dirty="0">
                <a:solidFill>
                  <a:srgbClr val="3A3A3A"/>
                </a:solidFill>
                <a:latin typeface="Microsoft JhengHei"/>
              </a:rPr>
              <a:t> Prompt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03   跟它對話 15-20 分鐘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04   產出 3 個具體痛點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助教會巡場，卡住就舉手。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5760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5897880"/>
            <a:ext cx="2743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30" dirty="0">
                <a:solidFill>
                  <a:srgbClr val="111111"/>
                </a:solidFill>
                <a:latin typeface="Microsoft JhengHei"/>
              </a:rPr>
              <a:t>25 </a:t>
            </a:r>
            <a:r>
              <a:rPr sz="2200" b="1" spc="-30" dirty="0" err="1">
                <a:solidFill>
                  <a:srgbClr val="111111"/>
                </a:solidFill>
                <a:latin typeface="Microsoft JhengHei"/>
              </a:rPr>
              <a:t>分鐘</a:t>
            </a:r>
            <a:endParaRPr sz="2200" b="1" spc="-30" dirty="0">
              <a:solidFill>
                <a:srgbClr val="111111"/>
              </a:solidFill>
              <a:latin typeface="Microsoft JhengHei"/>
            </a:endParaRP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11 / 58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18288" rIns="137160" bIns="18288" rtlCol="0" anchor="ctr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實作 2：物理量檢驗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挑出你要做的那一個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51760"/>
            <a:ext cx="10698480" cy="301752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Ins="274320" bIns="182880" rtlCol="0" anchor="ctr"/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111111"/>
                </a:solidFill>
                <a:latin typeface="Consolas"/>
              </a:rPr>
              <a:t>痛點</a:t>
            </a:r>
            <a:r>
              <a:rPr sz="1600" dirty="0">
                <a:solidFill>
                  <a:srgbClr val="111111"/>
                </a:solidFill>
                <a:latin typeface="Consolas"/>
              </a:rPr>
              <a:t> A   □ </a:t>
            </a:r>
            <a:r>
              <a:rPr sz="1600" dirty="0" err="1">
                <a:solidFill>
                  <a:srgbClr val="111111"/>
                </a:solidFill>
                <a:latin typeface="Consolas"/>
              </a:rPr>
              <a:t>具體的人</a:t>
            </a:r>
            <a:r>
              <a:rPr sz="1600" dirty="0">
                <a:solidFill>
                  <a:srgbClr val="111111"/>
                </a:solidFill>
                <a:latin typeface="Consolas"/>
              </a:rPr>
              <a:t>    □ </a:t>
            </a:r>
            <a:r>
              <a:rPr sz="1600" dirty="0" err="1">
                <a:solidFill>
                  <a:srgbClr val="111111"/>
                </a:solidFill>
                <a:latin typeface="Consolas"/>
              </a:rPr>
              <a:t>付錢的痛</a:t>
            </a:r>
            <a:r>
              <a:rPr sz="1600" dirty="0">
                <a:solidFill>
                  <a:srgbClr val="111111"/>
                </a:solidFill>
                <a:latin typeface="Consolas"/>
              </a:rPr>
              <a:t>    □ </a:t>
            </a:r>
            <a:r>
              <a:rPr sz="1600" dirty="0" err="1">
                <a:solidFill>
                  <a:srgbClr val="111111"/>
                </a:solidFill>
                <a:latin typeface="Consolas"/>
              </a:rPr>
              <a:t>手工可交付</a:t>
            </a:r>
            <a:r>
              <a:rPr sz="1600" dirty="0">
                <a:solidFill>
                  <a:srgbClr val="111111"/>
                </a:solidFill>
                <a:latin typeface="Consolas"/>
              </a:rPr>
              <a:t>    □ </a:t>
            </a:r>
            <a:r>
              <a:rPr sz="1600" dirty="0" err="1">
                <a:solidFill>
                  <a:srgbClr val="111111"/>
                </a:solidFill>
                <a:latin typeface="Consolas"/>
              </a:rPr>
              <a:t>收款</a:t>
            </a:r>
            <a:endParaRPr sz="1600" dirty="0">
              <a:solidFill>
                <a:srgbClr val="111111"/>
              </a:solidFill>
              <a:latin typeface="Consolas"/>
            </a:endParaRPr>
          </a:p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111111"/>
                </a:solidFill>
                <a:latin typeface="Consolas"/>
              </a:rPr>
              <a:t>痛點</a:t>
            </a:r>
            <a:r>
              <a:rPr sz="1600" dirty="0">
                <a:solidFill>
                  <a:srgbClr val="111111"/>
                </a:solidFill>
                <a:latin typeface="Consolas"/>
              </a:rPr>
              <a:t> B   □ </a:t>
            </a:r>
            <a:r>
              <a:rPr sz="1600" dirty="0" err="1">
                <a:solidFill>
                  <a:srgbClr val="111111"/>
                </a:solidFill>
                <a:latin typeface="Consolas"/>
              </a:rPr>
              <a:t>具體的人</a:t>
            </a:r>
            <a:r>
              <a:rPr sz="1600" dirty="0">
                <a:solidFill>
                  <a:srgbClr val="111111"/>
                </a:solidFill>
                <a:latin typeface="Consolas"/>
              </a:rPr>
              <a:t>    □ </a:t>
            </a:r>
            <a:r>
              <a:rPr sz="1600" dirty="0" err="1">
                <a:solidFill>
                  <a:srgbClr val="111111"/>
                </a:solidFill>
                <a:latin typeface="Consolas"/>
              </a:rPr>
              <a:t>付錢的痛</a:t>
            </a:r>
            <a:r>
              <a:rPr sz="1600" dirty="0">
                <a:solidFill>
                  <a:srgbClr val="111111"/>
                </a:solidFill>
                <a:latin typeface="Consolas"/>
              </a:rPr>
              <a:t>    □ </a:t>
            </a:r>
            <a:r>
              <a:rPr sz="1600" dirty="0" err="1">
                <a:solidFill>
                  <a:srgbClr val="111111"/>
                </a:solidFill>
                <a:latin typeface="Consolas"/>
              </a:rPr>
              <a:t>手工可交付</a:t>
            </a:r>
            <a:r>
              <a:rPr sz="1600" dirty="0">
                <a:solidFill>
                  <a:srgbClr val="111111"/>
                </a:solidFill>
                <a:latin typeface="Consolas"/>
              </a:rPr>
              <a:t>    □ </a:t>
            </a:r>
            <a:r>
              <a:rPr sz="1600" dirty="0" err="1">
                <a:solidFill>
                  <a:srgbClr val="111111"/>
                </a:solidFill>
                <a:latin typeface="Consolas"/>
              </a:rPr>
              <a:t>收款</a:t>
            </a:r>
            <a:endParaRPr sz="1600" dirty="0">
              <a:solidFill>
                <a:srgbClr val="111111"/>
              </a:solidFill>
              <a:latin typeface="Consolas"/>
            </a:endParaRPr>
          </a:p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111111"/>
                </a:solidFill>
                <a:latin typeface="Consolas"/>
              </a:rPr>
              <a:t>痛點</a:t>
            </a:r>
            <a:r>
              <a:rPr sz="1600" dirty="0">
                <a:solidFill>
                  <a:srgbClr val="111111"/>
                </a:solidFill>
                <a:latin typeface="Consolas"/>
              </a:rPr>
              <a:t> C   □ </a:t>
            </a:r>
            <a:r>
              <a:rPr sz="1600" dirty="0" err="1">
                <a:solidFill>
                  <a:srgbClr val="111111"/>
                </a:solidFill>
                <a:latin typeface="Consolas"/>
              </a:rPr>
              <a:t>具體的人</a:t>
            </a:r>
            <a:r>
              <a:rPr sz="1600" dirty="0">
                <a:solidFill>
                  <a:srgbClr val="111111"/>
                </a:solidFill>
                <a:latin typeface="Consolas"/>
              </a:rPr>
              <a:t>    □ </a:t>
            </a:r>
            <a:r>
              <a:rPr sz="1600" dirty="0" err="1">
                <a:solidFill>
                  <a:srgbClr val="111111"/>
                </a:solidFill>
                <a:latin typeface="Consolas"/>
              </a:rPr>
              <a:t>付錢的痛</a:t>
            </a:r>
            <a:r>
              <a:rPr sz="1600" dirty="0">
                <a:solidFill>
                  <a:srgbClr val="111111"/>
                </a:solidFill>
                <a:latin typeface="Consolas"/>
              </a:rPr>
              <a:t>    □ </a:t>
            </a:r>
            <a:r>
              <a:rPr sz="1600" dirty="0" err="1">
                <a:solidFill>
                  <a:srgbClr val="111111"/>
                </a:solidFill>
                <a:latin typeface="Consolas"/>
              </a:rPr>
              <a:t>手工可交付</a:t>
            </a:r>
            <a:r>
              <a:rPr sz="1600" dirty="0">
                <a:solidFill>
                  <a:srgbClr val="111111"/>
                </a:solidFill>
                <a:latin typeface="Consolas"/>
              </a:rPr>
              <a:t>    □ </a:t>
            </a:r>
            <a:r>
              <a:rPr sz="1600" dirty="0" err="1">
                <a:solidFill>
                  <a:srgbClr val="111111"/>
                </a:solidFill>
                <a:latin typeface="Consolas"/>
              </a:rPr>
              <a:t>收款</a:t>
            </a:r>
            <a:endParaRPr sz="1600" dirty="0">
              <a:solidFill>
                <a:srgbClr val="111111"/>
              </a:solidFill>
              <a:latin typeface="Consolas"/>
            </a:endParaRPr>
          </a:p>
          <a:p>
            <a:pPr algn="l">
              <a:lnSpc>
                <a:spcPct val="130000"/>
              </a:lnSpc>
            </a:pPr>
            <a:endParaRPr sz="1600" dirty="0">
              <a:solidFill>
                <a:srgbClr val="111111"/>
              </a:solidFill>
              <a:latin typeface="Consolas"/>
            </a:endParaRPr>
          </a:p>
          <a:p>
            <a:pPr algn="l">
              <a:lnSpc>
                <a:spcPct val="130000"/>
              </a:lnSpc>
            </a:pPr>
            <a:r>
              <a:rPr sz="1600" dirty="0">
                <a:solidFill>
                  <a:srgbClr val="111111"/>
                </a:solidFill>
                <a:latin typeface="Consolas"/>
              </a:rPr>
              <a:t>選 ① + ③ </a:t>
            </a:r>
            <a:r>
              <a:rPr sz="1600" dirty="0" err="1">
                <a:solidFill>
                  <a:srgbClr val="111111"/>
                </a:solidFill>
                <a:latin typeface="Consolas"/>
              </a:rPr>
              <a:t>最紮實的那個</a:t>
            </a:r>
            <a:r>
              <a:rPr sz="1600" dirty="0">
                <a:solidFill>
                  <a:srgbClr val="111111"/>
                </a:solidFill>
                <a:latin typeface="Consolas"/>
              </a:rPr>
              <a:t>  =  </a:t>
            </a:r>
            <a:r>
              <a:rPr sz="1600" dirty="0" err="1">
                <a:solidFill>
                  <a:srgbClr val="111111"/>
                </a:solidFill>
                <a:latin typeface="Consolas"/>
              </a:rPr>
              <a:t>今天的題目</a:t>
            </a:r>
            <a:endParaRPr sz="1600" dirty="0">
              <a:solidFill>
                <a:srgbClr val="111111"/>
              </a:solidFill>
              <a:latin typeface="Consolas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731520" y="5760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5897880"/>
            <a:ext cx="2743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30" dirty="0">
                <a:solidFill>
                  <a:srgbClr val="111111"/>
                </a:solidFill>
                <a:latin typeface="Microsoft JhengHei"/>
              </a:rPr>
              <a:t>15 </a:t>
            </a:r>
            <a:r>
              <a:rPr sz="2200" b="1" spc="-30" dirty="0" err="1">
                <a:solidFill>
                  <a:srgbClr val="111111"/>
                </a:solidFill>
                <a:latin typeface="Microsoft JhengHei"/>
              </a:rPr>
              <a:t>分鐘</a:t>
            </a:r>
            <a:endParaRPr sz="2200" b="1" spc="-30" dirty="0">
              <a:solidFill>
                <a:srgbClr val="111111"/>
              </a:solidFill>
              <a:latin typeface="Microsoft JhengHei"/>
            </a:endParaRPr>
          </a:p>
        </p:txBody>
      </p:sp>
      <p:cxnSp>
        <p:nvCxnSpPr>
          <p:cNvPr id="10" name="Connector 9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12 / 58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18288" rIns="137160" bIns="18288" rtlCol="0" anchor="ctr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把題目變成一句話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50">
                <a:solidFill>
                  <a:srgbClr val="8A8A8A"/>
                </a:solidFill>
                <a:latin typeface="Consolas"/>
              </a:rPr>
              <a:t>用這個句型：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68880"/>
            <a:ext cx="10698480" cy="32918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Ins="274320" bIns="182880" rtlCol="0" anchor="ctr"/>
          <a:lstStyle/>
          <a:p>
            <a:pPr algn="l">
              <a:lnSpc>
                <a:spcPct val="130000"/>
              </a:lnSpc>
            </a:pPr>
            <a:r>
              <a:rPr sz="1400" dirty="0" err="1">
                <a:solidFill>
                  <a:srgbClr val="111111"/>
                </a:solidFill>
                <a:latin typeface="Consolas"/>
              </a:rPr>
              <a:t>我要做</a:t>
            </a:r>
            <a:r>
              <a:rPr sz="1400" dirty="0">
                <a:solidFill>
                  <a:srgbClr val="111111"/>
                </a:solidFill>
                <a:latin typeface="Consolas"/>
              </a:rPr>
              <a:t> _______________，</a:t>
            </a:r>
          </a:p>
          <a:p>
            <a:pPr algn="l">
              <a:lnSpc>
                <a:spcPct val="130000"/>
              </a:lnSpc>
            </a:pPr>
            <a:r>
              <a:rPr sz="1400" dirty="0">
                <a:solidFill>
                  <a:srgbClr val="111111"/>
                </a:solidFill>
                <a:latin typeface="Consolas"/>
              </a:rPr>
              <a:t>給 _______________ 用，</a:t>
            </a:r>
          </a:p>
          <a:p>
            <a:pPr algn="l">
              <a:lnSpc>
                <a:spcPct val="130000"/>
              </a:lnSpc>
            </a:pPr>
            <a:r>
              <a:rPr sz="1400" dirty="0" err="1">
                <a:solidFill>
                  <a:srgbClr val="111111"/>
                </a:solidFill>
                <a:latin typeface="Consolas"/>
              </a:rPr>
              <a:t>解決</a:t>
            </a:r>
            <a:r>
              <a:rPr sz="1400" dirty="0">
                <a:solidFill>
                  <a:srgbClr val="111111"/>
                </a:solidFill>
                <a:latin typeface="Consolas"/>
              </a:rPr>
              <a:t> _______________ </a:t>
            </a:r>
            <a:r>
              <a:rPr sz="1400" dirty="0" err="1">
                <a:solidFill>
                  <a:srgbClr val="111111"/>
                </a:solidFill>
                <a:latin typeface="Consolas"/>
              </a:rPr>
              <a:t>問題</a:t>
            </a:r>
            <a:r>
              <a:rPr sz="1400" dirty="0">
                <a:solidFill>
                  <a:srgbClr val="111111"/>
                </a:solidFill>
                <a:latin typeface="Consolas"/>
              </a:rPr>
              <a:t>，</a:t>
            </a:r>
          </a:p>
          <a:p>
            <a:pPr algn="l">
              <a:lnSpc>
                <a:spcPct val="130000"/>
              </a:lnSpc>
            </a:pPr>
            <a:r>
              <a:rPr sz="1400" dirty="0" err="1">
                <a:solidFill>
                  <a:srgbClr val="111111"/>
                </a:solidFill>
                <a:latin typeface="Consolas"/>
              </a:rPr>
              <a:t>核心功能是</a:t>
            </a:r>
            <a:r>
              <a:rPr sz="1400" dirty="0">
                <a:solidFill>
                  <a:srgbClr val="111111"/>
                </a:solidFill>
                <a:latin typeface="Consolas"/>
              </a:rPr>
              <a:t> _______________。</a:t>
            </a:r>
          </a:p>
          <a:p>
            <a:pPr algn="l">
              <a:lnSpc>
                <a:spcPct val="130000"/>
              </a:lnSpc>
            </a:pPr>
            <a:endParaRPr sz="1400" dirty="0">
              <a:solidFill>
                <a:srgbClr val="111111"/>
              </a:solidFill>
              <a:latin typeface="Consolas"/>
            </a:endParaRPr>
          </a:p>
          <a:p>
            <a:pPr algn="l">
              <a:lnSpc>
                <a:spcPct val="130000"/>
              </a:lnSpc>
            </a:pPr>
            <a:r>
              <a:rPr sz="1400" dirty="0" err="1">
                <a:solidFill>
                  <a:srgbClr val="111111"/>
                </a:solidFill>
                <a:latin typeface="Consolas"/>
              </a:rPr>
              <a:t>範例</a:t>
            </a:r>
            <a:r>
              <a:rPr sz="1400" dirty="0">
                <a:solidFill>
                  <a:srgbClr val="111111"/>
                </a:solidFill>
                <a:latin typeface="Consolas"/>
              </a:rPr>
              <a:t>：</a:t>
            </a:r>
          </a:p>
          <a:p>
            <a:pPr algn="l">
              <a:lnSpc>
                <a:spcPct val="130000"/>
              </a:lnSpc>
            </a:pPr>
            <a:r>
              <a:rPr sz="1400" dirty="0">
                <a:solidFill>
                  <a:srgbClr val="111111"/>
                </a:solidFill>
                <a:latin typeface="Consolas"/>
              </a:rPr>
              <a:t>  </a:t>
            </a:r>
            <a:r>
              <a:rPr sz="1400" dirty="0" err="1">
                <a:solidFill>
                  <a:srgbClr val="111111"/>
                </a:solidFill>
                <a:latin typeface="Consolas"/>
              </a:rPr>
              <a:t>我要做一個新聞摘要工具</a:t>
            </a:r>
            <a:r>
              <a:rPr sz="1400" dirty="0">
                <a:solidFill>
                  <a:srgbClr val="111111"/>
                </a:solidFill>
                <a:latin typeface="Consolas"/>
              </a:rPr>
              <a:t>，</a:t>
            </a:r>
          </a:p>
          <a:p>
            <a:pPr algn="l">
              <a:lnSpc>
                <a:spcPct val="130000"/>
              </a:lnSpc>
            </a:pPr>
            <a:r>
              <a:rPr sz="1400" dirty="0">
                <a:solidFill>
                  <a:srgbClr val="111111"/>
                </a:solidFill>
                <a:latin typeface="Consolas"/>
              </a:rPr>
              <a:t>  </a:t>
            </a:r>
            <a:r>
              <a:rPr sz="1400" dirty="0" err="1">
                <a:solidFill>
                  <a:srgbClr val="111111"/>
                </a:solidFill>
                <a:latin typeface="Consolas"/>
              </a:rPr>
              <a:t>給自己用</a:t>
            </a:r>
            <a:r>
              <a:rPr sz="1400" dirty="0">
                <a:solidFill>
                  <a:srgbClr val="111111"/>
                </a:solidFill>
                <a:latin typeface="Consolas"/>
              </a:rPr>
              <a:t>，</a:t>
            </a:r>
          </a:p>
          <a:p>
            <a:pPr algn="l">
              <a:lnSpc>
                <a:spcPct val="130000"/>
              </a:lnSpc>
            </a:pPr>
            <a:r>
              <a:rPr sz="1400" dirty="0">
                <a:solidFill>
                  <a:srgbClr val="111111"/>
                </a:solidFill>
                <a:latin typeface="Consolas"/>
              </a:rPr>
              <a:t>  </a:t>
            </a:r>
            <a:r>
              <a:rPr sz="1400" dirty="0" err="1">
                <a:solidFill>
                  <a:srgbClr val="111111"/>
                </a:solidFill>
                <a:latin typeface="Consolas"/>
              </a:rPr>
              <a:t>解決每天花</a:t>
            </a:r>
            <a:r>
              <a:rPr sz="1400" dirty="0">
                <a:solidFill>
                  <a:srgbClr val="111111"/>
                </a:solidFill>
                <a:latin typeface="Consolas"/>
              </a:rPr>
              <a:t> 30 </a:t>
            </a:r>
            <a:r>
              <a:rPr sz="1400" dirty="0" err="1">
                <a:solidFill>
                  <a:srgbClr val="111111"/>
                </a:solidFill>
                <a:latin typeface="Consolas"/>
              </a:rPr>
              <a:t>分鐘讀新聞只記得</a:t>
            </a:r>
            <a:r>
              <a:rPr sz="1400" dirty="0">
                <a:solidFill>
                  <a:srgbClr val="111111"/>
                </a:solidFill>
                <a:latin typeface="Consolas"/>
              </a:rPr>
              <a:t> 10% </a:t>
            </a:r>
            <a:r>
              <a:rPr sz="1400" dirty="0" err="1">
                <a:solidFill>
                  <a:srgbClr val="111111"/>
                </a:solidFill>
                <a:latin typeface="Consolas"/>
              </a:rPr>
              <a:t>的問題</a:t>
            </a:r>
            <a:r>
              <a:rPr sz="1400" dirty="0">
                <a:solidFill>
                  <a:srgbClr val="111111"/>
                </a:solidFill>
                <a:latin typeface="Consolas"/>
              </a:rPr>
              <a:t>，</a:t>
            </a:r>
          </a:p>
          <a:p>
            <a:pPr algn="l">
              <a:lnSpc>
                <a:spcPct val="130000"/>
              </a:lnSpc>
            </a:pPr>
            <a:r>
              <a:rPr sz="1400" dirty="0">
                <a:solidFill>
                  <a:srgbClr val="111111"/>
                </a:solidFill>
                <a:latin typeface="Consolas"/>
              </a:rPr>
              <a:t>  </a:t>
            </a:r>
            <a:r>
              <a:rPr sz="1400" dirty="0" err="1">
                <a:solidFill>
                  <a:srgbClr val="111111"/>
                </a:solidFill>
                <a:latin typeface="Consolas"/>
              </a:rPr>
              <a:t>核心功能是貼新聞就出</a:t>
            </a:r>
            <a:r>
              <a:rPr sz="1400" dirty="0">
                <a:solidFill>
                  <a:srgbClr val="111111"/>
                </a:solidFill>
                <a:latin typeface="Consolas"/>
              </a:rPr>
              <a:t> 3 </a:t>
            </a:r>
            <a:r>
              <a:rPr sz="1400" dirty="0" err="1">
                <a:solidFill>
                  <a:srgbClr val="111111"/>
                </a:solidFill>
                <a:latin typeface="Consolas"/>
              </a:rPr>
              <a:t>句重點</a:t>
            </a:r>
            <a:r>
              <a:rPr sz="1400" dirty="0">
                <a:solidFill>
                  <a:srgbClr val="111111"/>
                </a:solidFill>
                <a:latin typeface="Consolas"/>
              </a:rPr>
              <a:t>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5852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15 分鐘  ·  下午 Antigravity 直接用這句話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13 / 58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CHECKPOINT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10698480" cy="1371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0" b="1" spc="-250">
                <a:solidFill>
                  <a:srgbClr val="111111"/>
                </a:solidFill>
                <a:latin typeface="Microsoft JhengHei"/>
              </a:rPr>
              <a:t>CP1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 spc="-30">
                <a:solidFill>
                  <a:srgbClr val="3A3A3A"/>
                </a:solidFill>
                <a:latin typeface="Microsoft JhengHei"/>
              </a:rPr>
              <a:t>你能寫出這句話嗎？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93192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4160520"/>
            <a:ext cx="10698480" cy="1371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1" spc="-40">
                <a:solidFill>
                  <a:srgbClr val="111111"/>
                </a:solidFill>
                <a:latin typeface="Microsoft JhengHei"/>
              </a:rPr>
              <a:t>「我今天要做 ___，給 ___ 用，</a:t>
            </a:r>
          </a:p>
          <a:p>
            <a:pPr algn="l">
              <a:lnSpc>
                <a:spcPct val="150000"/>
              </a:lnSpc>
            </a:pPr>
            <a:r>
              <a:rPr sz="2600" b="1" spc="-40">
                <a:solidFill>
                  <a:srgbClr val="111111"/>
                </a:solidFill>
                <a:latin typeface="Microsoft JhengHei"/>
              </a:rPr>
              <a:t>解決 ___ 問題。」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00">
                <a:solidFill>
                  <a:srgbClr val="8A8A8A"/>
                </a:solidFill>
                <a:latin typeface="Consolas"/>
              </a:rPr>
              <a:t>寫得出來 → 過關    ·    寫不出來 → 舉手，我們一起再拆一次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14 / 58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MODULE M2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M2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2801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800" b="1" spc="-350" dirty="0">
                <a:solidFill>
                  <a:srgbClr val="111111"/>
                </a:solidFill>
                <a:latin typeface="Microsoft JhengHei"/>
              </a:rPr>
              <a:t>STRIKE </a:t>
            </a:r>
            <a:r>
              <a:rPr sz="8800" b="1" spc="-350" dirty="0" err="1">
                <a:solidFill>
                  <a:srgbClr val="111111"/>
                </a:solidFill>
                <a:latin typeface="Microsoft JhengHei"/>
              </a:rPr>
              <a:t>提示詞戰法</a:t>
            </a:r>
            <a:endParaRPr sz="8800" b="1" spc="-350" dirty="0">
              <a:solidFill>
                <a:srgbClr val="111111"/>
              </a:solidFill>
              <a:latin typeface="Microsoft Jheng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1463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不是 AI 變聰明了。</a:t>
            </a:r>
          </a:p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是你把需求講清楚了。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15 / 58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LIVE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現場對比：一句話  vs  完整 STRIKE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698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50">
                <a:solidFill>
                  <a:srgbClr val="8A8A8A"/>
                </a:solidFill>
                <a:latin typeface="Consolas"/>
              </a:rPr>
              <a:t>題目：會議記錄整理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B45309"/>
                </a:solidFill>
                <a:latin typeface="Consolas"/>
              </a:rPr>
              <a:t>A · ONE-LINER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834640"/>
            <a:ext cx="5349240" cy="64008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Ins="274320" bIns="182880" rtlCol="0" anchor="ctr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"幫我整理會議記錄"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24688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156B4A"/>
                </a:solidFill>
                <a:latin typeface="Consolas"/>
              </a:rPr>
              <a:t>B · FULL STRIKE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834640"/>
            <a:ext cx="5349240" cy="310896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Ins="274320" bIns="182880" rtlCol="0" anchor="ctr"/>
          <a:lstStyle/>
          <a:p>
            <a:pPr algn="l">
              <a:lnSpc>
                <a:spcPct val="130000"/>
              </a:lnSpc>
            </a:pPr>
            <a:r>
              <a:rPr sz="1100" dirty="0">
                <a:solidFill>
                  <a:srgbClr val="111111"/>
                </a:solidFill>
                <a:latin typeface="Consolas"/>
              </a:rPr>
              <a:t>【</a:t>
            </a:r>
            <a:r>
              <a:rPr sz="1100" dirty="0" err="1">
                <a:solidFill>
                  <a:srgbClr val="111111"/>
                </a:solidFill>
                <a:latin typeface="Consolas"/>
              </a:rPr>
              <a:t>S】我是</a:t>
            </a:r>
            <a:r>
              <a:rPr sz="1100" dirty="0">
                <a:solidFill>
                  <a:srgbClr val="111111"/>
                </a:solidFill>
                <a:latin typeface="Consolas"/>
              </a:rPr>
              <a:t> </a:t>
            </a:r>
            <a:r>
              <a:rPr sz="1100" dirty="0" err="1">
                <a:solidFill>
                  <a:srgbClr val="111111"/>
                </a:solidFill>
                <a:latin typeface="Consolas"/>
              </a:rPr>
              <a:t>PM，剛結束</a:t>
            </a:r>
            <a:r>
              <a:rPr sz="1100" dirty="0">
                <a:solidFill>
                  <a:srgbClr val="111111"/>
                </a:solidFill>
                <a:latin typeface="Consolas"/>
              </a:rPr>
              <a:t> Q2 </a:t>
            </a:r>
            <a:r>
              <a:rPr sz="1100" dirty="0" err="1">
                <a:solidFill>
                  <a:srgbClr val="111111"/>
                </a:solidFill>
                <a:latin typeface="Consolas"/>
              </a:rPr>
              <a:t>跨部門規劃會議</a:t>
            </a:r>
            <a:endParaRPr sz="1100" dirty="0">
              <a:solidFill>
                <a:srgbClr val="111111"/>
              </a:solidFill>
              <a:latin typeface="Consolas"/>
            </a:endParaRPr>
          </a:p>
          <a:p>
            <a:pPr algn="l">
              <a:lnSpc>
                <a:spcPct val="130000"/>
              </a:lnSpc>
            </a:pPr>
            <a:r>
              <a:rPr sz="1100" dirty="0">
                <a:solidFill>
                  <a:srgbClr val="111111"/>
                </a:solidFill>
                <a:latin typeface="Consolas"/>
              </a:rPr>
              <a:t>【</a:t>
            </a:r>
            <a:r>
              <a:rPr sz="1100" dirty="0" err="1">
                <a:solidFill>
                  <a:srgbClr val="111111"/>
                </a:solidFill>
                <a:latin typeface="Consolas"/>
              </a:rPr>
              <a:t>T】將逐字稿整理成結構化會議紀錄</a:t>
            </a:r>
            <a:endParaRPr sz="1100" dirty="0">
              <a:solidFill>
                <a:srgbClr val="111111"/>
              </a:solidFill>
              <a:latin typeface="Consolas"/>
            </a:endParaRPr>
          </a:p>
          <a:p>
            <a:pPr algn="l">
              <a:lnSpc>
                <a:spcPct val="130000"/>
              </a:lnSpc>
            </a:pPr>
            <a:r>
              <a:rPr sz="1100" dirty="0">
                <a:solidFill>
                  <a:srgbClr val="111111"/>
                </a:solidFill>
                <a:latin typeface="Consolas"/>
              </a:rPr>
              <a:t>【</a:t>
            </a:r>
            <a:r>
              <a:rPr sz="1100" dirty="0" err="1">
                <a:solidFill>
                  <a:srgbClr val="111111"/>
                </a:solidFill>
                <a:latin typeface="Consolas"/>
              </a:rPr>
              <a:t>R】你是資深</a:t>
            </a:r>
            <a:r>
              <a:rPr sz="1100" dirty="0">
                <a:solidFill>
                  <a:srgbClr val="111111"/>
                </a:solidFill>
                <a:latin typeface="Consolas"/>
              </a:rPr>
              <a:t> </a:t>
            </a:r>
            <a:r>
              <a:rPr sz="1100" dirty="0" err="1">
                <a:solidFill>
                  <a:srgbClr val="111111"/>
                </a:solidFill>
                <a:latin typeface="Consolas"/>
              </a:rPr>
              <a:t>PM，擅長提取關鍵決策</a:t>
            </a:r>
            <a:endParaRPr sz="1100" dirty="0">
              <a:solidFill>
                <a:srgbClr val="111111"/>
              </a:solidFill>
              <a:latin typeface="Consolas"/>
            </a:endParaRPr>
          </a:p>
          <a:p>
            <a:pPr algn="l">
              <a:lnSpc>
                <a:spcPct val="130000"/>
              </a:lnSpc>
            </a:pPr>
            <a:r>
              <a:rPr sz="1100" dirty="0">
                <a:solidFill>
                  <a:srgbClr val="111111"/>
                </a:solidFill>
                <a:latin typeface="Consolas"/>
              </a:rPr>
              <a:t>【I】[</a:t>
            </a:r>
            <a:r>
              <a:rPr sz="1100" dirty="0" err="1">
                <a:solidFill>
                  <a:srgbClr val="111111"/>
                </a:solidFill>
                <a:latin typeface="Consolas"/>
              </a:rPr>
              <a:t>貼上</a:t>
            </a:r>
            <a:r>
              <a:rPr sz="1100" dirty="0">
                <a:solidFill>
                  <a:srgbClr val="111111"/>
                </a:solidFill>
                <a:latin typeface="Consolas"/>
              </a:rPr>
              <a:t> 45 </a:t>
            </a:r>
            <a:r>
              <a:rPr sz="1100" dirty="0" err="1">
                <a:solidFill>
                  <a:srgbClr val="111111"/>
                </a:solidFill>
                <a:latin typeface="Consolas"/>
              </a:rPr>
              <a:t>分鐘逐字稿</a:t>
            </a:r>
            <a:r>
              <a:rPr sz="1100" dirty="0">
                <a:solidFill>
                  <a:srgbClr val="111111"/>
                </a:solidFill>
                <a:latin typeface="Consolas"/>
              </a:rPr>
              <a:t>]</a:t>
            </a:r>
          </a:p>
          <a:p>
            <a:pPr algn="l">
              <a:lnSpc>
                <a:spcPct val="130000"/>
              </a:lnSpc>
            </a:pPr>
            <a:r>
              <a:rPr sz="1100" dirty="0">
                <a:solidFill>
                  <a:srgbClr val="111111"/>
                </a:solidFill>
                <a:latin typeface="Consolas"/>
              </a:rPr>
              <a:t>【</a:t>
            </a:r>
            <a:r>
              <a:rPr sz="1100" dirty="0" err="1">
                <a:solidFill>
                  <a:srgbClr val="111111"/>
                </a:solidFill>
                <a:latin typeface="Consolas"/>
              </a:rPr>
              <a:t>K】四區塊：摘要</a:t>
            </a:r>
            <a:r>
              <a:rPr sz="1100" dirty="0">
                <a:solidFill>
                  <a:srgbClr val="111111"/>
                </a:solidFill>
                <a:latin typeface="Consolas"/>
              </a:rPr>
              <a:t>/</a:t>
            </a:r>
            <a:r>
              <a:rPr sz="1100" dirty="0" err="1">
                <a:solidFill>
                  <a:srgbClr val="111111"/>
                </a:solidFill>
                <a:latin typeface="Consolas"/>
              </a:rPr>
              <a:t>決議</a:t>
            </a:r>
            <a:r>
              <a:rPr sz="1100" dirty="0">
                <a:solidFill>
                  <a:srgbClr val="111111"/>
                </a:solidFill>
                <a:latin typeface="Consolas"/>
              </a:rPr>
              <a:t>/</a:t>
            </a:r>
            <a:r>
              <a:rPr sz="1100" dirty="0" err="1">
                <a:solidFill>
                  <a:srgbClr val="111111"/>
                </a:solidFill>
                <a:latin typeface="Consolas"/>
              </a:rPr>
              <a:t>待辦</a:t>
            </a:r>
            <a:r>
              <a:rPr sz="1100" dirty="0">
                <a:solidFill>
                  <a:srgbClr val="111111"/>
                </a:solidFill>
                <a:latin typeface="Consolas"/>
              </a:rPr>
              <a:t>(</a:t>
            </a:r>
            <a:r>
              <a:rPr sz="1100" dirty="0" err="1">
                <a:solidFill>
                  <a:srgbClr val="111111"/>
                </a:solidFill>
                <a:latin typeface="Consolas"/>
              </a:rPr>
              <a:t>含負責人</a:t>
            </a:r>
            <a:r>
              <a:rPr sz="1100" dirty="0">
                <a:solidFill>
                  <a:srgbClr val="111111"/>
                </a:solidFill>
                <a:latin typeface="Consolas"/>
              </a:rPr>
              <a:t>)/</a:t>
            </a:r>
            <a:r>
              <a:rPr sz="1100" dirty="0" err="1">
                <a:solidFill>
                  <a:srgbClr val="111111"/>
                </a:solidFill>
                <a:latin typeface="Consolas"/>
              </a:rPr>
              <a:t>未解議題</a:t>
            </a:r>
            <a:endParaRPr sz="1100" dirty="0">
              <a:solidFill>
                <a:srgbClr val="111111"/>
              </a:solidFill>
              <a:latin typeface="Consolas"/>
            </a:endParaRPr>
          </a:p>
          <a:p>
            <a:pPr algn="l">
              <a:lnSpc>
                <a:spcPct val="130000"/>
              </a:lnSpc>
            </a:pPr>
            <a:r>
              <a:rPr sz="1100" dirty="0">
                <a:solidFill>
                  <a:srgbClr val="111111"/>
                </a:solidFill>
                <a:latin typeface="Consolas"/>
              </a:rPr>
              <a:t>       300-500 字</a:t>
            </a:r>
          </a:p>
          <a:p>
            <a:pPr algn="l">
              <a:lnSpc>
                <a:spcPct val="130000"/>
              </a:lnSpc>
            </a:pPr>
            <a:r>
              <a:rPr sz="1100" dirty="0">
                <a:solidFill>
                  <a:srgbClr val="111111"/>
                </a:solidFill>
                <a:latin typeface="Consolas"/>
              </a:rPr>
              <a:t>【E】## Q2 </a:t>
            </a:r>
            <a:r>
              <a:rPr sz="1100" dirty="0" err="1">
                <a:solidFill>
                  <a:srgbClr val="111111"/>
                </a:solidFill>
                <a:latin typeface="Consolas"/>
              </a:rPr>
              <a:t>規劃會議</a:t>
            </a:r>
            <a:r>
              <a:rPr sz="1100" dirty="0">
                <a:solidFill>
                  <a:srgbClr val="111111"/>
                </a:solidFill>
                <a:latin typeface="Consolas"/>
              </a:rPr>
              <a:t>  </a:t>
            </a:r>
            <a:r>
              <a:rPr sz="1100" dirty="0" err="1">
                <a:solidFill>
                  <a:srgbClr val="111111"/>
                </a:solidFill>
                <a:latin typeface="Consolas"/>
              </a:rPr>
              <a:t>日期</a:t>
            </a:r>
            <a:r>
              <a:rPr sz="1100" dirty="0">
                <a:solidFill>
                  <a:srgbClr val="111111"/>
                </a:solidFill>
                <a:latin typeface="Consolas"/>
              </a:rPr>
              <a:t>:...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6984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00">
                <a:solidFill>
                  <a:srgbClr val="8A8A8A"/>
                </a:solidFill>
                <a:latin typeface="Consolas"/>
              </a:rPr>
              <a:t>→ 現場開 AI Studio 跑，3 分鐘後比產出。這是今天第一個 AHA moment。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16 / 58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10 COMMON TRAPS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你不是不會用 AI，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是沒想清楚要什麼。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063240"/>
            <a:ext cx="52120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01  提示不夠精準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3063240"/>
            <a:ext cx="52120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06  缺少具體範例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66160"/>
            <a:ext cx="52120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02  缺乏條理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3566160"/>
            <a:ext cx="52120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07  忽略限制條件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69080"/>
            <a:ext cx="52120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03  缺乏背景資訊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4069080"/>
            <a:ext cx="52120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08  過於冗長或簡略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72000"/>
            <a:ext cx="52120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04  目標不夠明確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572000"/>
            <a:ext cx="52120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09  語言不一致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074920"/>
            <a:ext cx="52120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05  提示過於模糊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5074920"/>
            <a:ext cx="52120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10  缺乏驗證與反饋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566928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5806440"/>
            <a:ext cx="1069848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 spc="-30">
                <a:solidFill>
                  <a:srgbClr val="111111"/>
                </a:solidFill>
                <a:latin typeface="Microsoft JhengHei"/>
              </a:rPr>
              <a:t>AI 產出品質  =  你定義問題的能力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17 / 58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THE CORE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400" b="1" spc="-150">
                <a:solidFill>
                  <a:srgbClr val="111111"/>
                </a:solidFill>
                <a:latin typeface="Microsoft JhengHei"/>
              </a:rPr>
              <a:t>STRIKE 六字訣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Prompt 工程的核心框架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2606040"/>
            <a:ext cx="914400" cy="10972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200" b="1" spc="-250">
                <a:solidFill>
                  <a:srgbClr val="111111"/>
                </a:solidFill>
                <a:latin typeface="Microsoft JhengHei"/>
              </a:rPr>
              <a:t>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788920"/>
            <a:ext cx="219456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3063240"/>
            <a:ext cx="219456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 dirty="0" err="1">
                <a:solidFill>
                  <a:srgbClr val="111111"/>
                </a:solidFill>
                <a:latin typeface="Microsoft JhengHei"/>
              </a:rPr>
              <a:t>情境</a:t>
            </a:r>
            <a:endParaRPr sz="1800" b="1" spc="-30" dirty="0">
              <a:solidFill>
                <a:srgbClr val="111111"/>
              </a:solidFill>
              <a:latin typeface="Microsoft Jheng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011680" y="3474720"/>
            <a:ext cx="21945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交代背景，讓 AI 不用猜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56032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63440" y="2606040"/>
            <a:ext cx="914400" cy="10972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200" b="1" spc="-250">
                <a:solidFill>
                  <a:srgbClr val="111111"/>
                </a:solidFill>
                <a:latin typeface="Microsoft JhengHei"/>
              </a:rPr>
              <a:t>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0" y="2788920"/>
            <a:ext cx="219456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Task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0" y="3063240"/>
            <a:ext cx="219456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任務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15000" y="3474720"/>
            <a:ext cx="21945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明確說做什麼、產出什麼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256032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66760" y="2606040"/>
            <a:ext cx="914400" cy="10972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200" b="1" spc="-250">
                <a:solidFill>
                  <a:srgbClr val="111111"/>
                </a:solidFill>
                <a:latin typeface="Microsoft JhengHei"/>
              </a:rPr>
              <a:t>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788920"/>
            <a:ext cx="219456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Role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3063240"/>
            <a:ext cx="219456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 dirty="0" err="1">
                <a:solidFill>
                  <a:srgbClr val="111111"/>
                </a:solidFill>
                <a:latin typeface="Microsoft JhengHei"/>
              </a:rPr>
              <a:t>角色</a:t>
            </a:r>
            <a:endParaRPr sz="1800" b="1" spc="-30" dirty="0">
              <a:solidFill>
                <a:srgbClr val="111111"/>
              </a:solidFill>
              <a:latin typeface="Microsoft JhengHe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418320" y="3474720"/>
            <a:ext cx="21945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指定 AI 扮演的專業身分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20624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0120" y="4251960"/>
            <a:ext cx="914400" cy="10972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200" b="1" spc="-250">
                <a:solidFill>
                  <a:srgbClr val="111111"/>
                </a:solidFill>
                <a:latin typeface="Microsoft JhengHei"/>
              </a:rPr>
              <a:t>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4434840"/>
            <a:ext cx="219456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Input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4709160"/>
            <a:ext cx="219456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輸入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5120640"/>
            <a:ext cx="21945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餵資料，不讓 AI 瞎猜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34840" y="420624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663440" y="4251960"/>
            <a:ext cx="914400" cy="10972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200" b="1" spc="-250">
                <a:solidFill>
                  <a:srgbClr val="111111"/>
                </a:solidFill>
                <a:latin typeface="Microsoft JhengHei"/>
              </a:rPr>
              <a:t>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15000" y="4434840"/>
            <a:ext cx="219456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KPI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5000" y="4709160"/>
            <a:ext cx="219456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 dirty="0" err="1">
                <a:solidFill>
                  <a:srgbClr val="111111"/>
                </a:solidFill>
                <a:latin typeface="Microsoft JhengHei"/>
              </a:rPr>
              <a:t>驗收</a:t>
            </a:r>
            <a:endParaRPr sz="1800" b="1" spc="-30" dirty="0">
              <a:solidFill>
                <a:srgbClr val="111111"/>
              </a:solidFill>
              <a:latin typeface="Microsoft JhengHei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5715000" y="5120640"/>
            <a:ext cx="21945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定義什麼叫「夠好」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60" y="420624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366760" y="4251960"/>
            <a:ext cx="914400" cy="10972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200" b="1" spc="-250">
                <a:solidFill>
                  <a:srgbClr val="111111"/>
                </a:solidFill>
                <a:latin typeface="Microsoft JhengHei"/>
              </a:rPr>
              <a:t>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0" y="4434840"/>
            <a:ext cx="219456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Example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4709160"/>
            <a:ext cx="219456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範例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20" y="5120640"/>
            <a:ext cx="21945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給樣本，鎖定輸出方向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18 / 58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WRITE WELL (1/2) — S / T / 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每格怎麼寫好（一）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031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24028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S  情境定場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106984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B45309"/>
                </a:solidFill>
                <a:latin typeface="Consolas"/>
              </a:rPr>
              <a:t>❌  空泛：「我想要...」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6984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具體：「我是消費品行銷經理，準備 Q2 檢討會議」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52043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657599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T  任務定向（動詞 + 產出物，一個 prompt 一件事）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160519"/>
            <a:ext cx="106984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B45309"/>
                </a:solidFill>
                <a:latin typeface="Consolas"/>
              </a:rPr>
              <a:t>❌  「整理一下」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26279"/>
            <a:ext cx="106984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「整理成三段摘要，含待辦清單和負責人」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937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R  角色定級（決定 AI 的專業天花板）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577840"/>
            <a:ext cx="106984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B45309"/>
                </a:solidFill>
                <a:latin typeface="Consolas"/>
              </a:rPr>
              <a:t>❌  「你是助理」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943600"/>
            <a:ext cx="106984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「你是資深社群媒體分析師」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19 / 58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WRITE WELL (2/2) — I / K / 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每格怎麼寫好（二）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031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24028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I  輸入定料（AI 沒資料就瞎猜）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106984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「以下是我方 Q2 貼文數據：[貼上數據]」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1520" y="32004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31520" y="333756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K  標準定規（定義什麼叫「夠好」）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6984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格式：表格  |  字數：800 內  |  語氣：中立  |  禁止：推測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429767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4434839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E  範例定調（一個範例省三輪來回）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937759"/>
            <a:ext cx="106984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「參考這份過去的成功範本：[貼上]」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548640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5669280"/>
            <a:ext cx="1069848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 spc="-30">
                <a:solidFill>
                  <a:srgbClr val="111111"/>
                </a:solidFill>
                <a:latin typeface="Microsoft JhengHei"/>
              </a:rPr>
              <a:t>沒有 E 沒關係。沒有 T + K + I？那 AI 一定瞎掰。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20 / 58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MVP FORMULA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69848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 spc="-30">
                <a:solidFill>
                  <a:srgbClr val="8A8A8A"/>
                </a:solidFill>
                <a:latin typeface="Microsoft JhengHei"/>
              </a:rPr>
              <a:t>趕時間？救命組合。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10698480" cy="1518877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8000" b="1" spc="-500" dirty="0">
                <a:solidFill>
                  <a:srgbClr val="111111"/>
                </a:solidFill>
                <a:latin typeface="Microsoft JhengHei"/>
              </a:rPr>
              <a:t>T  +  K  +  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86200"/>
            <a:ext cx="1069848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 spc="-30">
                <a:solidFill>
                  <a:srgbClr val="3A3A3A"/>
                </a:solidFill>
                <a:latin typeface="Microsoft JhengHei"/>
              </a:rPr>
              <a:t>任務  ·  驗收  ·  輸入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4846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5029200"/>
            <a:ext cx="35204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STRIKE 全寫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349240"/>
            <a:ext cx="352044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943600"/>
            <a:ext cx="35204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-10">
                <a:solidFill>
                  <a:srgbClr val="8A8A8A"/>
                </a:solidFill>
                <a:latin typeface="Microsoft JhengHei"/>
              </a:rPr>
              <a:t>滿分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5029200"/>
            <a:ext cx="35204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T + K + 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5349240"/>
            <a:ext cx="352044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600" b="1" spc="-120" dirty="0">
                <a:solidFill>
                  <a:srgbClr val="111111"/>
                </a:solidFill>
                <a:latin typeface="Microsoft JhengHei"/>
              </a:rPr>
              <a:t>80%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5943600"/>
            <a:ext cx="35204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-10">
                <a:solidFill>
                  <a:srgbClr val="8A8A8A"/>
                </a:solidFill>
                <a:latin typeface="Microsoft JhengHei"/>
              </a:rPr>
              <a:t>可用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5029200"/>
            <a:ext cx="35204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都沒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5349240"/>
            <a:ext cx="352044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10%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5943600"/>
            <a:ext cx="35204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-10">
                <a:solidFill>
                  <a:srgbClr val="8A8A8A"/>
                </a:solidFill>
                <a:latin typeface="Microsoft JhengHei"/>
              </a:rPr>
              <a:t>運氣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21 / 58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THREE ATTACK 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三層進攻策略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配對今天三個工具。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560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2697480"/>
            <a:ext cx="109728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00">
                <a:solidFill>
                  <a:srgbClr val="111111"/>
                </a:solidFill>
                <a:latin typeface="Microsoft JhengHei"/>
              </a:rPr>
              <a:t>L1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788920"/>
            <a:ext cx="27432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試探射擊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3246120"/>
            <a:ext cx="27432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Recon Fire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834640"/>
            <a:ext cx="3840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一句話丟出去，看 AI 能做什麼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834640"/>
            <a:ext cx="26517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00">
                <a:solidFill>
                  <a:srgbClr val="8A8A8A"/>
                </a:solidFill>
                <a:latin typeface="Consolas"/>
              </a:rPr>
              <a:t>→ AI Studio 快速驗證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361187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3749039"/>
            <a:ext cx="109728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00">
                <a:solidFill>
                  <a:srgbClr val="111111"/>
                </a:solidFill>
                <a:latin typeface="Microsoft JhengHei"/>
              </a:rPr>
              <a:t>L2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840479"/>
            <a:ext cx="27432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精準打擊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4297679"/>
            <a:ext cx="27432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Precision Strike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3886199"/>
            <a:ext cx="3840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 dirty="0" err="1">
                <a:solidFill>
                  <a:srgbClr val="3A3A3A"/>
                </a:solidFill>
                <a:latin typeface="Microsoft JhengHei"/>
              </a:rPr>
              <a:t>完整</a:t>
            </a:r>
            <a:r>
              <a:rPr sz="1400" b="0" spc="-10" dirty="0">
                <a:solidFill>
                  <a:srgbClr val="3A3A3A"/>
                </a:solidFill>
                <a:latin typeface="Microsoft JhengHei"/>
              </a:rPr>
              <a:t> STRIKE </a:t>
            </a:r>
            <a:r>
              <a:rPr sz="1400" b="0" spc="-10" dirty="0" err="1">
                <a:solidFill>
                  <a:srgbClr val="3A3A3A"/>
                </a:solidFill>
                <a:latin typeface="Microsoft JhengHei"/>
              </a:rPr>
              <a:t>六要素，一次到位</a:t>
            </a:r>
            <a:endParaRPr sz="1400" b="0" spc="-10" dirty="0">
              <a:solidFill>
                <a:srgbClr val="3A3A3A"/>
              </a:solidFill>
              <a:latin typeface="Microsoft JhengHe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869680" y="3886199"/>
            <a:ext cx="26517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00">
                <a:solidFill>
                  <a:srgbClr val="8A8A8A"/>
                </a:solidFill>
                <a:latin typeface="Consolas"/>
              </a:rPr>
              <a:t>→ PRD / Antigravity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" y="46634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4800600"/>
            <a:ext cx="109728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00">
                <a:solidFill>
                  <a:srgbClr val="111111"/>
                </a:solidFill>
                <a:latin typeface="Microsoft JhengHei"/>
              </a:rPr>
              <a:t>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4892040"/>
            <a:ext cx="27432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鏈式攻擊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5349240"/>
            <a:ext cx="27432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Chain Attack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7760" y="4937760"/>
            <a:ext cx="3840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複雜任務拆 3-5 步，前一步 → 下一步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4937760"/>
            <a:ext cx="26517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00">
                <a:solidFill>
                  <a:srgbClr val="8A8A8A"/>
                </a:solidFill>
                <a:latin typeface="Consolas"/>
              </a:rPr>
              <a:t>→ Gemini CLI 管道 &amp; 迭代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31520" y="5760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31520" y="589788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100">
                <a:solidFill>
                  <a:srgbClr val="8A8A8A"/>
                </a:solidFill>
                <a:latin typeface="Consolas"/>
              </a:rPr>
              <a:t>三變數快篩：歧義度  ·  風險度  ·  自動化度  →  10 秒決定打法。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22 / 58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THE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400" b="1" spc="-150">
                <a:solidFill>
                  <a:srgbClr val="111111"/>
                </a:solidFill>
                <a:latin typeface="Microsoft JhengHei"/>
              </a:rPr>
              <a:t>Google AI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瀏覽器裡的 AI 實驗場。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651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2834640"/>
            <a:ext cx="7315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788920"/>
            <a:ext cx="36576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 dirty="0" err="1">
                <a:solidFill>
                  <a:srgbClr val="111111"/>
                </a:solidFill>
                <a:latin typeface="Microsoft JhengHei"/>
              </a:rPr>
              <a:t>零安裝</a:t>
            </a:r>
            <a:endParaRPr sz="1800" b="1" spc="-30" dirty="0">
              <a:solidFill>
                <a:srgbClr val="111111"/>
              </a:solidFill>
              <a:latin typeface="Microsoft Jheng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669280" y="2834640"/>
            <a:ext cx="5760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3A3A3A"/>
                </a:solidFill>
                <a:latin typeface="Microsoft JhengHei"/>
              </a:rPr>
              <a:t>免費，直接用 Gemini 最新模型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337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520440"/>
            <a:ext cx="7315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474720"/>
            <a:ext cx="36576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 dirty="0">
                <a:solidFill>
                  <a:srgbClr val="111111"/>
                </a:solidFill>
                <a:latin typeface="Microsoft JhengHei"/>
              </a:rPr>
              <a:t>System Instruction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3520440"/>
            <a:ext cx="5760720" cy="31476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 dirty="0">
                <a:solidFill>
                  <a:srgbClr val="3A3A3A"/>
                </a:solidFill>
                <a:latin typeface="Microsoft JhengHei"/>
              </a:rPr>
              <a:t>放 S + R + </a:t>
            </a:r>
            <a:r>
              <a:rPr sz="1500" b="0" spc="-20" dirty="0" err="1">
                <a:solidFill>
                  <a:srgbClr val="3A3A3A"/>
                </a:solidFill>
                <a:latin typeface="Microsoft JhengHei"/>
              </a:rPr>
              <a:t>K（設一次用多次</a:t>
            </a:r>
            <a:r>
              <a:rPr sz="1500" b="0" spc="-20" dirty="0">
                <a:solidFill>
                  <a:srgbClr val="3A3A3A"/>
                </a:solidFill>
                <a:latin typeface="Microsoft JhengHei"/>
              </a:rPr>
              <a:t>）</a:t>
            </a:r>
            <a:r>
              <a:rPr lang="en-US" sz="1500" b="0" spc="-20" dirty="0">
                <a:solidFill>
                  <a:srgbClr val="3A3A3A"/>
                </a:solidFill>
                <a:latin typeface="Microsoft JhengHei"/>
              </a:rPr>
              <a:t>  </a:t>
            </a:r>
            <a:r>
              <a:rPr lang="zh-TW" altLang="en-US" sz="1500" b="0" spc="-20" dirty="0">
                <a:solidFill>
                  <a:srgbClr val="3A3A3A"/>
                </a:solidFill>
                <a:latin typeface="Microsoft JhengHei"/>
              </a:rPr>
              <a:t>寫成一個挖控模板</a:t>
            </a:r>
            <a:endParaRPr sz="1500" b="0" spc="-20" dirty="0">
              <a:solidFill>
                <a:srgbClr val="3A3A3A"/>
              </a:solidFill>
              <a:latin typeface="Microsoft JhengHei"/>
            </a:endParaRP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0233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206240"/>
            <a:ext cx="7315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160520"/>
            <a:ext cx="36576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 dirty="0">
                <a:solidFill>
                  <a:srgbClr val="111111"/>
                </a:solidFill>
                <a:latin typeface="Microsoft JhengHei"/>
              </a:rPr>
              <a:t>Prompt 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4206240"/>
            <a:ext cx="5760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 dirty="0" err="1">
                <a:solidFill>
                  <a:srgbClr val="3A3A3A"/>
                </a:solidFill>
                <a:latin typeface="Microsoft JhengHei"/>
              </a:rPr>
              <a:t>每次放</a:t>
            </a:r>
            <a:r>
              <a:rPr sz="1500" b="0" spc="-20" dirty="0">
                <a:solidFill>
                  <a:srgbClr val="3A3A3A"/>
                </a:solidFill>
                <a:latin typeface="Microsoft JhengHei"/>
              </a:rPr>
              <a:t> T + I + 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" y="4709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4892040"/>
            <a:ext cx="7315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00">
                <a:solidFill>
                  <a:srgbClr val="8A8A8A"/>
                </a:solidFill>
                <a:latin typeface="Consola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846320"/>
            <a:ext cx="36576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Compare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4892040"/>
            <a:ext cx="5760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3A3A3A"/>
                </a:solidFill>
                <a:latin typeface="Microsoft JhengHei"/>
              </a:rPr>
              <a:t>同一 prompt 比兩個模型 / 兩種寫法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31520" y="5715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1" spc="100">
                <a:solidFill>
                  <a:srgbClr val="111111"/>
                </a:solidFill>
                <a:latin typeface="Consolas"/>
              </a:rPr>
              <a:t>aistudio.google.com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23 / 58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18288" rIns="137160" bIns="18288" rtlCol="0" anchor="ctr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66678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>
              <a:lnSpc>
                <a:spcPct val="135000"/>
              </a:lnSpc>
            </a:pPr>
            <a:r>
              <a:rPr sz="3400" b="1" spc="-120" dirty="0" err="1">
                <a:solidFill>
                  <a:srgbClr val="111111"/>
                </a:solidFill>
                <a:latin typeface="Microsoft JhengHei"/>
              </a:rPr>
              <a:t>實作</a:t>
            </a:r>
            <a:r>
              <a:rPr sz="3400" b="1" spc="-120" dirty="0">
                <a:solidFill>
                  <a:srgbClr val="111111"/>
                </a:solidFill>
                <a:latin typeface="Microsoft JhengHei"/>
              </a:rPr>
              <a:t> 1：STRIKE </a:t>
            </a:r>
            <a:r>
              <a:rPr sz="3400" b="1" spc="-120" dirty="0" err="1">
                <a:solidFill>
                  <a:srgbClr val="111111"/>
                </a:solidFill>
                <a:latin typeface="Microsoft JhengHei"/>
              </a:rPr>
              <a:t>填空套版</a:t>
            </a:r>
            <a:endParaRPr sz="3400" b="1" spc="-120" dirty="0">
              <a:solidFill>
                <a:srgbClr val="111111"/>
              </a:solidFill>
              <a:latin typeface="Microsoft JhengHei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10698480" cy="338328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Ins="274320" bIns="182880" rtlCol="0" anchor="ctr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【S】我是 _____________ ，正在 _____________ 。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【T】請 [動詞] 一份 [產出物]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【R】你是 _____________（專業身分）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【I】[貼上你的資料 / 痛點描述]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【K】格式：___ ；字數：___ ；禁止：___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【E】參考格式：___</a:t>
            </a:r>
          </a:p>
          <a:p>
            <a:pPr algn="l">
              <a:lnSpc>
                <a:spcPct val="130000"/>
              </a:lnSpc>
            </a:pPr>
            <a:endParaRPr sz="1500">
              <a:solidFill>
                <a:srgbClr val="111111"/>
              </a:solidFill>
              <a:latin typeface="Consolas"/>
            </a:endParaRP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在 AI Studio 測 3 次，每次只改一格，看產出變化。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5715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25 分鐘  ·  關鍵：一次只改一格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24 / 58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18288" rIns="137160" bIns="18288" rtlCol="0" anchor="ctr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 dirty="0" err="1">
                <a:solidFill>
                  <a:srgbClr val="111111"/>
                </a:solidFill>
                <a:latin typeface="Microsoft JhengHei"/>
              </a:rPr>
              <a:t>實作</a:t>
            </a:r>
            <a:r>
              <a:rPr sz="3400" b="1" spc="-120" dirty="0">
                <a:solidFill>
                  <a:srgbClr val="111111"/>
                </a:solidFill>
                <a:latin typeface="Microsoft JhengHei"/>
              </a:rPr>
              <a:t> 2：用 STRIKE </a:t>
            </a:r>
            <a:r>
              <a:rPr sz="3400" b="1" spc="-120" dirty="0" err="1">
                <a:solidFill>
                  <a:srgbClr val="111111"/>
                </a:solidFill>
                <a:latin typeface="Microsoft JhengHei"/>
              </a:rPr>
              <a:t>寫出你的</a:t>
            </a:r>
            <a:r>
              <a:rPr sz="3400" b="1" spc="-120" dirty="0">
                <a:solidFill>
                  <a:srgbClr val="111111"/>
                </a:solidFill>
                <a:latin typeface="Microsoft JhengHei"/>
              </a:rPr>
              <a:t> PRD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5740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PRD 本身就是一份 L2 精準打擊。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06040"/>
            <a:ext cx="10698480" cy="310896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Ins="274320" bIns="182880" rtlCol="0" anchor="ctr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跟 AI 說：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"基於上面 STRIKE，請幫我寫一份產品規格文件（PRD）：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① 產品一句話（S + T）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② 目標使用者（S）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③ 功能清單（T 拆成 5 項以內）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④ 輸入 / 輸出範例（I + E）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⑤ 驗收標準（K：介面、技術限制、不做的事）"</a:t>
            </a:r>
          </a:p>
          <a:p>
            <a:pPr algn="l">
              <a:lnSpc>
                <a:spcPct val="130000"/>
              </a:lnSpc>
            </a:pPr>
            <a:endParaRPr sz="1300">
              <a:solidFill>
                <a:srgbClr val="111111"/>
              </a:solidFill>
              <a:latin typeface="Consolas"/>
            </a:endParaRP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把產出複製到共用文件，下午丟進 Antigravity。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5852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598932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20 分鐘  ·  砍得狠，下午才做得成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25 / 58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DEFENSE &amp;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 spc="-100">
                <a:solidFill>
                  <a:srgbClr val="111111"/>
                </a:solidFill>
                <a:latin typeface="Microsoft JhengHei"/>
              </a:rPr>
              <a:t>AI 會一本正經地胡說八道。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 spc="-100">
                <a:solidFill>
                  <a:srgbClr val="111111"/>
                </a:solidFill>
                <a:latin typeface="Microsoft JhengHei"/>
              </a:rPr>
              <a:t>三句話救你。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834640"/>
            <a:ext cx="3520440" cy="1371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3154680"/>
            <a:ext cx="32004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「為什麼？」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703320"/>
            <a:ext cx="3200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逼它交代推理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2834640"/>
            <a:ext cx="3520440" cy="1371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63440" y="3154680"/>
            <a:ext cx="32004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「還有其他方案嗎？」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703320"/>
            <a:ext cx="3200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打破第一直覺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834640"/>
            <a:ext cx="3520440" cy="1371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66760" y="3154680"/>
            <a:ext cx="32004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「幫我找出這段的漏洞」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3703320"/>
            <a:ext cx="3200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讓 AI 自攻自己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457200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47091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RECAP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074920"/>
            <a:ext cx="1069848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10">
                <a:solidFill>
                  <a:srgbClr val="3A3A3A"/>
                </a:solidFill>
                <a:latin typeface="Microsoft JhengHei"/>
              </a:rPr>
              <a:t>·  STRIKE 六字訣：S / T / R / I / K / 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394959"/>
            <a:ext cx="1069848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10">
                <a:solidFill>
                  <a:srgbClr val="3A3A3A"/>
                </a:solidFill>
                <a:latin typeface="Microsoft JhengHei"/>
              </a:rPr>
              <a:t>·  救命組合：T + K + I（80% 可用）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715000"/>
            <a:ext cx="1069848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10">
                <a:solidFill>
                  <a:srgbClr val="3A3A3A"/>
                </a:solidFill>
                <a:latin typeface="Microsoft JhengHei"/>
              </a:rPr>
              <a:t>·  打法選擇：L1 試探 · L2 精準 · L3 鏈式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035040"/>
            <a:ext cx="1069848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10">
                <a:solidFill>
                  <a:srgbClr val="3A3A3A"/>
                </a:solidFill>
                <a:latin typeface="Microsoft JhengHei"/>
              </a:rPr>
              <a:t>·  你手上有一份 PRD，下午變成可運行的東西。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26 / 58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MODULE M3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M3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037207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400" b="1" spc="-350" dirty="0">
                <a:solidFill>
                  <a:srgbClr val="111111"/>
                </a:solidFill>
                <a:latin typeface="Microsoft JhengHei"/>
              </a:rPr>
              <a:t>Antigravity · Vibe Coding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1463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spc="-40" dirty="0" err="1">
                <a:solidFill>
                  <a:srgbClr val="3A3A3A"/>
                </a:solidFill>
                <a:latin typeface="Microsoft JhengHei"/>
              </a:rPr>
              <a:t>你描述需求</a:t>
            </a:r>
            <a:r>
              <a:rPr sz="2600" b="0" spc="-40" dirty="0">
                <a:solidFill>
                  <a:srgbClr val="3A3A3A"/>
                </a:solidFill>
                <a:latin typeface="Microsoft JhengHei"/>
              </a:rPr>
              <a:t>  ·  AI </a:t>
            </a:r>
            <a:r>
              <a:rPr sz="2600" b="0" spc="-40" dirty="0" err="1">
                <a:solidFill>
                  <a:srgbClr val="3A3A3A"/>
                </a:solidFill>
                <a:latin typeface="Microsoft JhengHei"/>
              </a:rPr>
              <a:t>負責寫程式碼</a:t>
            </a:r>
            <a:r>
              <a:rPr sz="2600" b="0" spc="-40" dirty="0">
                <a:solidFill>
                  <a:srgbClr val="3A3A3A"/>
                </a:solidFill>
                <a:latin typeface="Microsoft JhengHei"/>
              </a:rPr>
              <a:t>。</a:t>
            </a:r>
          </a:p>
          <a:p>
            <a:pPr algn="l">
              <a:lnSpc>
                <a:spcPct val="140000"/>
              </a:lnSpc>
            </a:pPr>
            <a:r>
              <a:rPr sz="2600" b="0" spc="-40" dirty="0" err="1">
                <a:solidFill>
                  <a:srgbClr val="3A3A3A"/>
                </a:solidFill>
                <a:latin typeface="Microsoft JhengHei"/>
              </a:rPr>
              <a:t>這是今天的主場</a:t>
            </a:r>
            <a:r>
              <a:rPr sz="2600" b="0" spc="-40" dirty="0">
                <a:solidFill>
                  <a:srgbClr val="3A3A3A"/>
                </a:solidFill>
                <a:latin typeface="Microsoft JhengHei"/>
              </a:rPr>
              <a:t>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27 / 58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什麼是 Vibe Coding？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不寫程式碼，用自然語言描述你要什麼。AI 把你的想法變成可運行的產品。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92608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3063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156B4A"/>
                </a:solidFill>
                <a:latin typeface="Consolas"/>
              </a:rPr>
              <a:t>✓ YOUR JOB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3063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B45309"/>
                </a:solidFill>
                <a:latin typeface="Consolas"/>
              </a:rPr>
              <a:t>× NOT YOUR JOB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66160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 dirty="0" err="1">
                <a:solidFill>
                  <a:srgbClr val="111111"/>
                </a:solidFill>
                <a:latin typeface="Microsoft JhengHei"/>
              </a:rPr>
              <a:t>定義問題</a:t>
            </a:r>
            <a:endParaRPr sz="2000" b="1" spc="-30" dirty="0">
              <a:solidFill>
                <a:srgbClr val="111111"/>
              </a:solidFill>
              <a:latin typeface="Microsoft Jheng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263640" y="3566160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8A8A8A"/>
                </a:solidFill>
                <a:latin typeface="Microsoft JhengHei"/>
              </a:rPr>
              <a:t>寫程式碼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069080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 dirty="0" err="1">
                <a:solidFill>
                  <a:srgbClr val="111111"/>
                </a:solidFill>
                <a:latin typeface="Microsoft JhengHei"/>
              </a:rPr>
              <a:t>描述需求</a:t>
            </a:r>
            <a:endParaRPr sz="2000" b="1" spc="-30" dirty="0">
              <a:solidFill>
                <a:srgbClr val="111111"/>
              </a:solidFill>
              <a:latin typeface="Microsoft Jheng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263640" y="4069080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8A8A8A"/>
                </a:solidFill>
                <a:latin typeface="Microsoft JhengHei"/>
              </a:rPr>
              <a:t>記語法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72000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 dirty="0" err="1">
                <a:solidFill>
                  <a:srgbClr val="111111"/>
                </a:solidFill>
                <a:latin typeface="Microsoft JhengHei"/>
              </a:rPr>
              <a:t>驗證結果</a:t>
            </a:r>
            <a:endParaRPr sz="2000" b="1" spc="-30" dirty="0">
              <a:solidFill>
                <a:srgbClr val="111111"/>
              </a:solidFill>
              <a:latin typeface="Microsoft JhengHe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263640" y="4572000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8A8A8A"/>
                </a:solidFill>
                <a:latin typeface="Microsoft JhengHei"/>
              </a:rPr>
              <a:t>除 bug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074920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修正方向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074920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8A8A8A"/>
                </a:solidFill>
                <a:latin typeface="Microsoft JhengHei"/>
              </a:rPr>
              <a:t>看 stack trace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28 / 58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THE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400" b="1" spc="-150">
                <a:solidFill>
                  <a:srgbClr val="111111"/>
                </a:solidFill>
                <a:latin typeface="Microsoft JhengHei"/>
              </a:rPr>
              <a:t>Antigravity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Agent-first IDE。不是自動補全，是整個專案都幫你做。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8346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3017520"/>
            <a:ext cx="53035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你是任務管理者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3017520"/>
            <a:ext cx="53035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3A3A3A"/>
                </a:solidFill>
                <a:latin typeface="Microsoft JhengHei"/>
              </a:rPr>
              <a:t>AI 是開發者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6118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794760"/>
            <a:ext cx="53035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你描述需求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3794760"/>
            <a:ext cx="53035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3A3A3A"/>
                </a:solidFill>
                <a:latin typeface="Microsoft JhengHei"/>
              </a:rPr>
              <a:t>AI 規劃 + 寫程式碼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43891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4572000"/>
            <a:ext cx="53035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你看到每行改動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4572000"/>
            <a:ext cx="53035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3A3A3A"/>
                </a:solidFill>
                <a:latin typeface="Microsoft JhengHei"/>
              </a:rPr>
              <a:t>AI 解釋為什麼這樣寫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54864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 spc="150">
                <a:solidFill>
                  <a:srgbClr val="8A8A8A"/>
                </a:solidFill>
                <a:latin typeface="Consolas"/>
              </a:rPr>
              <a:t>Free · Public Preview  ·  antigravity.google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29 / 58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THE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Vibe Coding 五步流程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377440"/>
            <a:ext cx="914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2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331720"/>
            <a:ext cx="3200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描述需求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2377440"/>
            <a:ext cx="6217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用 M2 的 STRIKE（PRD = L2 精準打擊）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28803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063240"/>
            <a:ext cx="914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2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3200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看 AI 規劃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3063240"/>
            <a:ext cx="6217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AI 列出：做什麼檔案、用什麼技術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3566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3749040"/>
            <a:ext cx="914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2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703320"/>
            <a:ext cx="3200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看程式碼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3749040"/>
            <a:ext cx="6217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不用懂，但要看。不懂就問 AI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1520" y="42519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31520" y="4434840"/>
            <a:ext cx="914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200">
                <a:solidFill>
                  <a:srgbClr val="8A8A8A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389120"/>
            <a:ext cx="3200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測試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4434840"/>
            <a:ext cx="6217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 dirty="0" err="1">
                <a:solidFill>
                  <a:srgbClr val="8A8A8A"/>
                </a:solidFill>
                <a:latin typeface="Microsoft JhengHei"/>
              </a:rPr>
              <a:t>跑起來、點一點、貼資料試</a:t>
            </a:r>
            <a:endParaRPr sz="1400" b="0" spc="-20" dirty="0">
              <a:solidFill>
                <a:srgbClr val="8A8A8A"/>
              </a:solidFill>
              <a:latin typeface="Microsoft JhengHei"/>
            </a:endParaRPr>
          </a:p>
        </p:txBody>
      </p:sp>
      <p:cxnSp>
        <p:nvCxnSpPr>
          <p:cNvPr id="21" name="Connector 20"/>
          <p:cNvCxnSpPr/>
          <p:nvPr/>
        </p:nvCxnSpPr>
        <p:spPr>
          <a:xfrm>
            <a:off x="731520" y="4937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1520" y="5120640"/>
            <a:ext cx="914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200">
                <a:solidFill>
                  <a:srgbClr val="8A8A8A"/>
                </a:solidFill>
                <a:latin typeface="Consolas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074920"/>
            <a:ext cx="3200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自然語言修正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5120640"/>
            <a:ext cx="6217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「太擠」「加匯出」「顏色改深藍」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↻  回到 03、04 直到滿意。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30 / 58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THE MOST IMPORTANT MINDSET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5000" b="0" spc="-150">
                <a:solidFill>
                  <a:srgbClr val="8A8A8A"/>
                </a:solidFill>
                <a:latin typeface="Microsoft JhengHei"/>
              </a:rPr>
              <a:t>AI 做錯了，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10698480" cy="1037207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5400" b="1" spc="-300" dirty="0" err="1">
                <a:solidFill>
                  <a:srgbClr val="111111"/>
                </a:solidFill>
                <a:latin typeface="Microsoft JhengHei"/>
              </a:rPr>
              <a:t>不是去改</a:t>
            </a:r>
            <a:r>
              <a:rPr sz="5400" b="1" spc="-300" dirty="0">
                <a:solidFill>
                  <a:srgbClr val="111111"/>
                </a:solidFill>
                <a:latin typeface="Microsoft JhengHei"/>
              </a:rPr>
              <a:t> code，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297680"/>
            <a:ext cx="10698480" cy="1037207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5400" b="1" spc="-300" dirty="0" err="1">
                <a:solidFill>
                  <a:srgbClr val="111111"/>
                </a:solidFill>
                <a:latin typeface="Microsoft JhengHei"/>
              </a:rPr>
              <a:t>是去改描述</a:t>
            </a:r>
            <a:r>
              <a:rPr sz="5400" b="1" spc="-300" dirty="0">
                <a:solidFill>
                  <a:srgbClr val="111111"/>
                </a:solidFill>
                <a:latin typeface="Microsoft JhengHei"/>
              </a:rPr>
              <a:t>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31 / 58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HOW TO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自然語言修正範例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B45309"/>
                </a:solidFill>
                <a:latin typeface="Consolas"/>
              </a:rPr>
              <a:t>× DON'T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228600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156B4A"/>
                </a:solidFill>
                <a:latin typeface="Consolas"/>
              </a:rPr>
              <a:t>✓ DO THIS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8346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2999232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打開 .css 改色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999232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30">
                <a:solidFill>
                  <a:srgbClr val="111111"/>
                </a:solidFill>
                <a:latin typeface="Consolas"/>
              </a:rPr>
              <a:t>「首頁主色改成深藍 #1E40AF」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474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639312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去修 JS 邏輯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639312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30">
                <a:solidFill>
                  <a:srgbClr val="111111"/>
                </a:solidFill>
                <a:latin typeface="Consolas"/>
              </a:rPr>
              <a:t>「搜尋功能沒動作，請檢查」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1148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4279392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自己調排版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4279392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30">
                <a:solidFill>
                  <a:srgbClr val="111111"/>
                </a:solidFill>
                <a:latin typeface="Consolas"/>
              </a:rPr>
              <a:t>「卡片間距太擠，間隔加大 30%」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475487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4919471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複製 error 問它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4919471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30">
                <a:solidFill>
                  <a:srgbClr val="111111"/>
                </a:solidFill>
                <a:latin typeface="Consolas"/>
              </a:rPr>
              <a:t>「跑起來白畫面，請幫我找問題」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31520" y="539496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400" b="1" spc="-40">
                <a:solidFill>
                  <a:srgbClr val="111111"/>
                </a:solidFill>
                <a:latin typeface="Microsoft JhengHei"/>
              </a:rPr>
              <a:t>修正方向  ≠  修改程式碼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32 / 58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LIVE DEMO — 15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10698480" cy="1148391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6000" b="1" spc="-400" dirty="0">
                <a:solidFill>
                  <a:srgbClr val="111111"/>
                </a:solidFill>
                <a:latin typeface="Microsoft JhengHei"/>
              </a:rPr>
              <a:t>Demo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66160"/>
            <a:ext cx="1069848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 spc="-20" dirty="0" err="1">
                <a:solidFill>
                  <a:srgbClr val="3A3A3A"/>
                </a:solidFill>
                <a:latin typeface="Microsoft JhengHei"/>
              </a:rPr>
              <a:t>講師把一份</a:t>
            </a:r>
            <a:r>
              <a:rPr sz="1800" b="0" spc="-20" dirty="0">
                <a:solidFill>
                  <a:srgbClr val="3A3A3A"/>
                </a:solidFill>
                <a:latin typeface="Microsoft JhengHei"/>
              </a:rPr>
              <a:t> PRD </a:t>
            </a:r>
            <a:r>
              <a:rPr sz="1800" b="0" spc="-20" dirty="0" err="1">
                <a:solidFill>
                  <a:srgbClr val="3A3A3A"/>
                </a:solidFill>
                <a:latin typeface="Microsoft JhengHei"/>
              </a:rPr>
              <a:t>丟進</a:t>
            </a:r>
            <a:r>
              <a:rPr sz="1800" b="0" spc="-20" dirty="0">
                <a:solidFill>
                  <a:srgbClr val="3A3A3A"/>
                </a:solidFill>
                <a:latin typeface="Microsoft JhengHei"/>
              </a:rPr>
              <a:t> </a:t>
            </a:r>
            <a:r>
              <a:rPr sz="1800" b="0" spc="-20" dirty="0" err="1">
                <a:solidFill>
                  <a:srgbClr val="3A3A3A"/>
                </a:solidFill>
                <a:latin typeface="Microsoft JhengHei"/>
              </a:rPr>
              <a:t>Antigravity，全程走完五步流程，現場做出一個小工具</a:t>
            </a:r>
            <a:r>
              <a:rPr sz="1800" b="0" spc="-20" dirty="0">
                <a:solidFill>
                  <a:srgbClr val="3A3A3A"/>
                </a:solidFill>
                <a:latin typeface="Microsoft JhengHei"/>
              </a:rPr>
              <a:t>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86000" y="4846320"/>
            <a:ext cx="75895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502920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0" spc="150">
                <a:solidFill>
                  <a:srgbClr val="8A8A8A"/>
                </a:solidFill>
                <a:latin typeface="Consolas"/>
              </a:rPr>
              <a:t>學員記下：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440680"/>
            <a:ext cx="1069848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·  AI 怎麼規劃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760720"/>
            <a:ext cx="1069848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·  AI 的 code 大概長什麼樣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080760"/>
            <a:ext cx="1069848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·  講師怎麼「說話」修正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33 / 58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18288" rIns="137160" bIns="18288" rtlCol="0" anchor="ctr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實作：你的專案，你來做（第一輪）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25146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01   打開 Antigravity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02   建新專案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03   把你的 PRD 貼到第一個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04   讓 AI 規劃 → 看 code → 測試 → 修正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05   跑到一個「可以看的版本」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52578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卡關 2 分鐘以上：舉手。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5760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5897880"/>
            <a:ext cx="2743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973" y="6031653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30" dirty="0">
                <a:solidFill>
                  <a:srgbClr val="111111"/>
                </a:solidFill>
                <a:latin typeface="Microsoft JhengHei"/>
              </a:rPr>
              <a:t>60 </a:t>
            </a:r>
            <a:r>
              <a:rPr sz="2200" b="1" spc="-30" dirty="0" err="1">
                <a:solidFill>
                  <a:srgbClr val="111111"/>
                </a:solidFill>
                <a:latin typeface="Microsoft JhengHei"/>
              </a:rPr>
              <a:t>分鐘</a:t>
            </a:r>
            <a:endParaRPr sz="2200" b="1" spc="-30" dirty="0">
              <a:solidFill>
                <a:srgbClr val="111111"/>
              </a:solidFill>
              <a:latin typeface="Microsoft JhengHei"/>
            </a:endParaRP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34 / 58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COMMON ISSUES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常見問題  ×  處理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228600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RESPONSE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8346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2971800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AI 產出的 UI 超醜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971800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">
                <a:solidFill>
                  <a:srgbClr val="111111"/>
                </a:solidFill>
                <a:latin typeface="Consolas"/>
              </a:rPr>
              <a:t>「介面改得更簡潔現代，用 Tailwind」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429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566160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功能少了一塊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566160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">
                <a:solidFill>
                  <a:srgbClr val="111111"/>
                </a:solidFill>
                <a:latin typeface="Consolas"/>
              </a:rPr>
              <a:t>「請加上 XX 功能，規格同 PRD 第 N 項」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0233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4160520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跑起來錯誤訊息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4160520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">
                <a:solidFill>
                  <a:srgbClr val="111111"/>
                </a:solidFill>
                <a:latin typeface="Consolas"/>
              </a:rPr>
              <a:t>把訊息貼給 AI，請它修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4617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4754880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AI 一直繞圈圈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4754880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">
                <a:solidFill>
                  <a:srgbClr val="111111"/>
                </a:solidFill>
                <a:latin typeface="Consolas"/>
              </a:rPr>
              <a:t>重開新 chat，重新描述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31520" y="52120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31520" y="5349240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AI 做太多、加了沒要的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349240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">
                <a:solidFill>
                  <a:srgbClr val="111111"/>
                </a:solidFill>
                <a:latin typeface="Consolas"/>
              </a:rPr>
              <a:t>「請砍掉 XX 功能，我只要 YY」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35 / 58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18288" rIns="137160" bIns="18288" rtlCol="0" anchor="ctr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實作：加一個新功能（第二輪）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25146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選一個（或你自己想的）：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 dirty="0">
                <a:solidFill>
                  <a:srgbClr val="3A3A3A"/>
                </a:solidFill>
                <a:latin typeface="Microsoft JhengHei"/>
              </a:rPr>
              <a:t>□   </a:t>
            </a:r>
            <a:r>
              <a:rPr sz="1800" b="0" spc="-20" dirty="0" err="1">
                <a:solidFill>
                  <a:srgbClr val="3A3A3A"/>
                </a:solidFill>
                <a:latin typeface="Microsoft JhengHei"/>
              </a:rPr>
              <a:t>加匯出</a:t>
            </a:r>
            <a:r>
              <a:rPr sz="1800" b="0" spc="-20" dirty="0">
                <a:solidFill>
                  <a:srgbClr val="3A3A3A"/>
                </a:solidFill>
                <a:latin typeface="Microsoft JhengHei"/>
              </a:rPr>
              <a:t> CSV / 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加深色主題切換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 dirty="0">
                <a:solidFill>
                  <a:srgbClr val="3A3A3A"/>
                </a:solidFill>
                <a:latin typeface="Microsoft JhengHei"/>
              </a:rPr>
              <a:t>□   </a:t>
            </a:r>
            <a:r>
              <a:rPr sz="1800" b="0" spc="-20" dirty="0" err="1">
                <a:solidFill>
                  <a:srgbClr val="3A3A3A"/>
                </a:solidFill>
                <a:latin typeface="Microsoft JhengHei"/>
              </a:rPr>
              <a:t>加歷史紀錄</a:t>
            </a:r>
            <a:endParaRPr sz="1800" b="0" spc="-20" dirty="0">
              <a:solidFill>
                <a:srgbClr val="3A3A3A"/>
              </a:solidFill>
              <a:latin typeface="Microsoft Jheng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 dirty="0">
                <a:solidFill>
                  <a:srgbClr val="3A3A3A"/>
                </a:solidFill>
                <a:latin typeface="Microsoft JhengHei"/>
              </a:rPr>
              <a:t>□   </a:t>
            </a:r>
            <a:r>
              <a:rPr sz="1800" b="0" spc="-20" dirty="0" err="1">
                <a:solidFill>
                  <a:srgbClr val="3A3A3A"/>
                </a:solidFill>
                <a:latin typeface="Microsoft JhengHei"/>
              </a:rPr>
              <a:t>加搜尋</a:t>
            </a:r>
            <a:r>
              <a:rPr sz="1800" b="0" spc="-20" dirty="0">
                <a:solidFill>
                  <a:srgbClr val="3A3A3A"/>
                </a:solidFill>
                <a:latin typeface="Microsoft JhengHei"/>
              </a:rPr>
              <a:t> / </a:t>
            </a:r>
            <a:r>
              <a:rPr sz="1800" b="0" spc="-20" dirty="0" err="1">
                <a:solidFill>
                  <a:srgbClr val="3A3A3A"/>
                </a:solidFill>
                <a:latin typeface="Microsoft JhengHei"/>
              </a:rPr>
              <a:t>篩選</a:t>
            </a:r>
            <a:endParaRPr sz="1800" b="0" spc="-20" dirty="0">
              <a:solidFill>
                <a:srgbClr val="3A3A3A"/>
              </a:solidFill>
              <a:latin typeface="Microsoft Jheng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52578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完全用自然語言跟 Antigravity 說。迭代才是 Vibe Coding 的精髓。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5760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5897880"/>
            <a:ext cx="2743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002383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30" dirty="0">
                <a:solidFill>
                  <a:srgbClr val="111111"/>
                </a:solidFill>
                <a:latin typeface="Microsoft JhengHei"/>
              </a:rPr>
              <a:t>20 </a:t>
            </a:r>
            <a:r>
              <a:rPr sz="2200" b="1" spc="-30" dirty="0" err="1">
                <a:solidFill>
                  <a:srgbClr val="111111"/>
                </a:solidFill>
                <a:latin typeface="Microsoft JhengHei"/>
              </a:rPr>
              <a:t>分鐘</a:t>
            </a:r>
            <a:endParaRPr sz="2200" b="1" spc="-30" dirty="0">
              <a:solidFill>
                <a:srgbClr val="111111"/>
              </a:solidFill>
              <a:latin typeface="Microsoft JhengHei"/>
            </a:endParaRP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36 / 58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CHECKPOINT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10698480" cy="1148391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6000" b="1" spc="-250" dirty="0">
                <a:solidFill>
                  <a:srgbClr val="111111"/>
                </a:solidFill>
                <a:latin typeface="Microsoft JhengHei"/>
              </a:rPr>
              <a:t>CP2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 spc="-30">
                <a:solidFill>
                  <a:srgbClr val="3A3A3A"/>
                </a:solidFill>
                <a:latin typeface="Microsoft JhengHei"/>
              </a:rPr>
              <a:t>打開你的電腦，你能看到……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93192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4018280"/>
            <a:ext cx="10698480" cy="1371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1" spc="-40" dirty="0">
                <a:solidFill>
                  <a:srgbClr val="111111"/>
                </a:solidFill>
                <a:latin typeface="Microsoft JhengHei"/>
              </a:rPr>
              <a:t>□  </a:t>
            </a:r>
            <a:r>
              <a:rPr sz="2600" b="1" spc="-40" dirty="0" err="1">
                <a:solidFill>
                  <a:srgbClr val="111111"/>
                </a:solidFill>
                <a:latin typeface="Microsoft JhengHei"/>
              </a:rPr>
              <a:t>你的專案跑起來了</a:t>
            </a:r>
            <a:endParaRPr sz="2600" b="1" spc="-40" dirty="0">
              <a:solidFill>
                <a:srgbClr val="111111"/>
              </a:solidFill>
              <a:latin typeface="Microsoft JhengHei"/>
            </a:endParaRPr>
          </a:p>
          <a:p>
            <a:pPr algn="l">
              <a:lnSpc>
                <a:spcPct val="150000"/>
              </a:lnSpc>
            </a:pPr>
            <a:r>
              <a:rPr sz="2600" b="1" spc="-40" dirty="0">
                <a:solidFill>
                  <a:srgbClr val="111111"/>
                </a:solidFill>
                <a:latin typeface="Microsoft JhengHei"/>
              </a:rPr>
              <a:t>□  </a:t>
            </a:r>
            <a:r>
              <a:rPr sz="2600" b="1" spc="-40" dirty="0" err="1">
                <a:solidFill>
                  <a:srgbClr val="111111"/>
                </a:solidFill>
                <a:latin typeface="Microsoft JhengHei"/>
              </a:rPr>
              <a:t>可以貼資料</a:t>
            </a:r>
            <a:r>
              <a:rPr sz="2600" b="1" spc="-40" dirty="0">
                <a:solidFill>
                  <a:srgbClr val="111111"/>
                </a:solidFill>
                <a:latin typeface="Microsoft JhengHei"/>
              </a:rPr>
              <a:t> / </a:t>
            </a:r>
            <a:r>
              <a:rPr sz="2600" b="1" spc="-40" dirty="0" err="1">
                <a:solidFill>
                  <a:srgbClr val="111111"/>
                </a:solidFill>
                <a:latin typeface="Microsoft JhengHei"/>
              </a:rPr>
              <a:t>點按鈕試功能</a:t>
            </a:r>
            <a:endParaRPr sz="2600" b="1" spc="-40" dirty="0">
              <a:solidFill>
                <a:srgbClr val="111111"/>
              </a:solidFill>
              <a:latin typeface="Microsoft JhengHei"/>
            </a:endParaRPr>
          </a:p>
          <a:p>
            <a:pPr algn="l">
              <a:lnSpc>
                <a:spcPct val="150000"/>
              </a:lnSpc>
            </a:pPr>
            <a:r>
              <a:rPr sz="2600" b="1" spc="-40" dirty="0">
                <a:solidFill>
                  <a:srgbClr val="111111"/>
                </a:solidFill>
                <a:latin typeface="Microsoft JhengHei"/>
              </a:rPr>
              <a:t>□  </a:t>
            </a:r>
            <a:r>
              <a:rPr sz="2600" b="1" spc="-40" dirty="0" err="1">
                <a:solidFill>
                  <a:srgbClr val="111111"/>
                </a:solidFill>
                <a:latin typeface="Microsoft JhengHei"/>
              </a:rPr>
              <a:t>經過至少一次自然語言修正</a:t>
            </a:r>
            <a:endParaRPr sz="2600" b="1" spc="-40" dirty="0">
              <a:solidFill>
                <a:srgbClr val="111111"/>
              </a:solidFill>
              <a:latin typeface="Microsoft Jheng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00">
                <a:solidFill>
                  <a:srgbClr val="8A8A8A"/>
                </a:solidFill>
                <a:latin typeface="Consolas"/>
              </a:rPr>
              <a:t>寫得出來 → 過關    ·    寫不出來 → 舉手，我們一起再拆一次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37 / 58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M3 小結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286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423160"/>
            <a:ext cx="1069848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111111"/>
                </a:solidFill>
                <a:latin typeface="Microsoft JhengHei"/>
              </a:rPr>
              <a:t>·  Vibe Coding = 描述需求比寫 code 重要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9260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3063240"/>
            <a:ext cx="1069848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111111"/>
                </a:solidFill>
                <a:latin typeface="Microsoft JhengHei"/>
              </a:rPr>
              <a:t>·  AI 做錯 → 改描述，不是改 code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566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703320"/>
            <a:ext cx="1069848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111111"/>
                </a:solidFill>
                <a:latin typeface="Microsoft JhengHei"/>
              </a:rPr>
              <a:t>·  迭代才是精髓，一次成功只是運氣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42062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4343400"/>
            <a:ext cx="1069848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111111"/>
                </a:solidFill>
                <a:latin typeface="Microsoft JhengHei"/>
              </a:rPr>
              <a:t>·  你已經有一個可運行的小專案了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937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下一站：我們讓它變得更強 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☕  休息 10 分鐘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38 / 58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MODULE M4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M4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148391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6000" b="1" spc="-350" dirty="0">
                <a:solidFill>
                  <a:srgbClr val="111111"/>
                </a:solidFill>
                <a:latin typeface="Microsoft JhengHei"/>
              </a:rPr>
              <a:t>Gemini CLI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1463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從「介面操作」到「打字就走」。</a:t>
            </a:r>
          </a:p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你的手會比腦子先動。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39 / 58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THE TERMINAL IS FRIENDLY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終端機沒那麼可怕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終端機  =  用打字代替點滑鼠。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698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你已經會：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017520"/>
            <a:ext cx="10698480" cy="5486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Ins="274320" bIns="182880" rtlCol="0" anchor="ctr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打開網頁 → 輸入網址 → Enter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94760"/>
            <a:ext cx="10698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跟這個一樣，只是：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60520"/>
            <a:ext cx="10698480" cy="5486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Ins="274320" bIns="182880" rtlCol="0" anchor="ctr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打開終端 → 輸入指令 → 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892040"/>
            <a:ext cx="10698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三個指令你馬上就會：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257800"/>
            <a:ext cx="10698480" cy="10058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Ins="274320" bIns="182880" rtlCol="0" anchor="ctr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gemini "hello"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gemini "把這句翻成英文：今天天氣真好"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cat news.txt | gemini "用三句話摘要"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40 / 58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CONTINUITY ACROSS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你在 M2 學的 STRIKE，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可以直接當 CLI 指令用。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30175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3200400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貼到 AI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3200400"/>
            <a:ext cx="4572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>
                <a:solidFill>
                  <a:srgbClr val="8A8A8A"/>
                </a:solidFill>
                <a:latin typeface="Microsoft JhengHei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3200400"/>
            <a:ext cx="50292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40">
                <a:solidFill>
                  <a:srgbClr val="3A3A3A"/>
                </a:solidFill>
                <a:latin typeface="Microsoft JhengHei"/>
              </a:rPr>
              <a:t>瀏覽器看結果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79475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977639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丟進 Antigravity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3977639"/>
            <a:ext cx="4572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>
                <a:solidFill>
                  <a:srgbClr val="8A8A8A"/>
                </a:solidFill>
                <a:latin typeface="Microsoft JhengHei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977639"/>
            <a:ext cx="50292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40">
                <a:solidFill>
                  <a:srgbClr val="3A3A3A"/>
                </a:solidFill>
                <a:latin typeface="Microsoft JhengHei"/>
              </a:rPr>
              <a:t>IDE 裡做專案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572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754880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打進 Gemini CLI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4754880"/>
            <a:ext cx="4572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>
                <a:solidFill>
                  <a:srgbClr val="8A8A8A"/>
                </a:solidFill>
                <a:latin typeface="Microsoft JhengHei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754880"/>
            <a:ext cx="50292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40">
                <a:solidFill>
                  <a:srgbClr val="3A3A3A"/>
                </a:solidFill>
                <a:latin typeface="Microsoft JhengHei"/>
              </a:rPr>
              <a:t>終端機立刻跑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" y="548640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5669280"/>
            <a:ext cx="1069848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差別只在介面，不在 prompt。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41 / 58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FIVE COMMANDS TO USE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20" dirty="0" err="1">
                <a:solidFill>
                  <a:srgbClr val="111111"/>
                </a:solidFill>
                <a:latin typeface="Microsoft JhengHei"/>
              </a:rPr>
              <a:t>五個你馬上能用的指令</a:t>
            </a:r>
            <a:endParaRPr sz="3600" b="1" spc="-120" dirty="0">
              <a:solidFill>
                <a:srgbClr val="111111"/>
              </a:solidFill>
              <a:latin typeface="Microsoft JhengHei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745236" y="1691641"/>
            <a:ext cx="10698480" cy="46634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Ins="274320" bIns="182880" rtlCol="0" anchor="ctr"/>
          <a:lstStyle/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111111"/>
                </a:solidFill>
                <a:latin typeface="Consolas"/>
              </a:rPr>
              <a:t># 1. </a:t>
            </a:r>
            <a:r>
              <a:rPr sz="1300" dirty="0" err="1">
                <a:solidFill>
                  <a:srgbClr val="111111"/>
                </a:solidFill>
                <a:latin typeface="Consolas"/>
              </a:rPr>
              <a:t>直接問</a:t>
            </a:r>
            <a:endParaRPr sz="1300" dirty="0">
              <a:solidFill>
                <a:srgbClr val="111111"/>
              </a:solidFill>
              <a:latin typeface="Consolas"/>
            </a:endParaRPr>
          </a:p>
          <a:p>
            <a:pPr algn="l">
              <a:lnSpc>
                <a:spcPct val="130000"/>
              </a:lnSpc>
            </a:pPr>
            <a:r>
              <a:rPr sz="1300" dirty="0" err="1">
                <a:solidFill>
                  <a:srgbClr val="111111"/>
                </a:solidFill>
                <a:latin typeface="Consolas"/>
              </a:rPr>
              <a:t>gemini</a:t>
            </a:r>
            <a:r>
              <a:rPr sz="1300" dirty="0">
                <a:solidFill>
                  <a:srgbClr val="111111"/>
                </a:solidFill>
                <a:latin typeface="Consolas"/>
              </a:rPr>
              <a:t> "</a:t>
            </a:r>
            <a:r>
              <a:rPr sz="1300" dirty="0" err="1">
                <a:solidFill>
                  <a:srgbClr val="111111"/>
                </a:solidFill>
                <a:latin typeface="Consolas"/>
              </a:rPr>
              <a:t>幫我把這句中文翻成英文：你好嗎</a:t>
            </a:r>
            <a:r>
              <a:rPr sz="1300" dirty="0">
                <a:solidFill>
                  <a:srgbClr val="111111"/>
                </a:solidFill>
                <a:latin typeface="Consolas"/>
              </a:rPr>
              <a:t>"</a:t>
            </a:r>
          </a:p>
          <a:p>
            <a:pPr algn="l">
              <a:lnSpc>
                <a:spcPct val="130000"/>
              </a:lnSpc>
            </a:pPr>
            <a:endParaRPr sz="1300" dirty="0">
              <a:solidFill>
                <a:srgbClr val="111111"/>
              </a:solidFill>
              <a:latin typeface="Consolas"/>
            </a:endParaRPr>
          </a:p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111111"/>
                </a:solidFill>
                <a:latin typeface="Consolas"/>
              </a:rPr>
              <a:t># 2. </a:t>
            </a:r>
            <a:r>
              <a:rPr sz="1300" dirty="0" err="1">
                <a:solidFill>
                  <a:srgbClr val="111111"/>
                </a:solidFill>
                <a:latin typeface="Consolas"/>
              </a:rPr>
              <a:t>管道：把檔案丟給</a:t>
            </a:r>
            <a:r>
              <a:rPr sz="1300" dirty="0">
                <a:solidFill>
                  <a:srgbClr val="111111"/>
                </a:solidFill>
                <a:latin typeface="Consolas"/>
              </a:rPr>
              <a:t> AI</a:t>
            </a:r>
          </a:p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111111"/>
                </a:solidFill>
                <a:latin typeface="Consolas"/>
              </a:rPr>
              <a:t>cat news.txt | </a:t>
            </a:r>
            <a:r>
              <a:rPr sz="1300" dirty="0" err="1">
                <a:solidFill>
                  <a:srgbClr val="111111"/>
                </a:solidFill>
                <a:latin typeface="Consolas"/>
              </a:rPr>
              <a:t>gemini</a:t>
            </a:r>
            <a:r>
              <a:rPr sz="1300" dirty="0">
                <a:solidFill>
                  <a:srgbClr val="111111"/>
                </a:solidFill>
                <a:latin typeface="Consolas"/>
              </a:rPr>
              <a:t> "</a:t>
            </a:r>
            <a:r>
              <a:rPr sz="1300" dirty="0" err="1">
                <a:solidFill>
                  <a:srgbClr val="111111"/>
                </a:solidFill>
                <a:latin typeface="Consolas"/>
              </a:rPr>
              <a:t>用三句話摘要</a:t>
            </a:r>
            <a:r>
              <a:rPr sz="1300" dirty="0">
                <a:solidFill>
                  <a:srgbClr val="111111"/>
                </a:solidFill>
                <a:latin typeface="Consolas"/>
              </a:rPr>
              <a:t>"</a:t>
            </a:r>
          </a:p>
          <a:p>
            <a:pPr algn="l">
              <a:lnSpc>
                <a:spcPct val="130000"/>
              </a:lnSpc>
            </a:pPr>
            <a:endParaRPr sz="1300" dirty="0">
              <a:solidFill>
                <a:srgbClr val="111111"/>
              </a:solidFill>
              <a:latin typeface="Consolas"/>
            </a:endParaRPr>
          </a:p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111111"/>
                </a:solidFill>
                <a:latin typeface="Consolas"/>
              </a:rPr>
              <a:t># 3. </a:t>
            </a:r>
            <a:r>
              <a:rPr sz="1300" dirty="0" err="1">
                <a:solidFill>
                  <a:srgbClr val="111111"/>
                </a:solidFill>
                <a:latin typeface="Consolas"/>
              </a:rPr>
              <a:t>寫入輸出</a:t>
            </a:r>
            <a:endParaRPr sz="1300" dirty="0">
              <a:solidFill>
                <a:srgbClr val="111111"/>
              </a:solidFill>
              <a:latin typeface="Consolas"/>
            </a:endParaRPr>
          </a:p>
          <a:p>
            <a:pPr algn="l">
              <a:lnSpc>
                <a:spcPct val="130000"/>
              </a:lnSpc>
            </a:pPr>
            <a:r>
              <a:rPr sz="1300" dirty="0" err="1">
                <a:solidFill>
                  <a:srgbClr val="111111"/>
                </a:solidFill>
                <a:latin typeface="Consolas"/>
              </a:rPr>
              <a:t>gemini</a:t>
            </a:r>
            <a:r>
              <a:rPr sz="1300" dirty="0">
                <a:solidFill>
                  <a:srgbClr val="111111"/>
                </a:solidFill>
                <a:latin typeface="Consolas"/>
              </a:rPr>
              <a:t> "</a:t>
            </a:r>
            <a:r>
              <a:rPr sz="1300" dirty="0" err="1">
                <a:solidFill>
                  <a:srgbClr val="111111"/>
                </a:solidFill>
                <a:latin typeface="Consolas"/>
              </a:rPr>
              <a:t>這段</a:t>
            </a:r>
            <a:r>
              <a:rPr sz="1300" dirty="0">
                <a:solidFill>
                  <a:srgbClr val="111111"/>
                </a:solidFill>
                <a:latin typeface="Consolas"/>
              </a:rPr>
              <a:t> CSV </a:t>
            </a:r>
            <a:r>
              <a:rPr sz="1300" dirty="0" err="1">
                <a:solidFill>
                  <a:srgbClr val="111111"/>
                </a:solidFill>
                <a:latin typeface="Consolas"/>
              </a:rPr>
              <a:t>轉成</a:t>
            </a:r>
            <a:r>
              <a:rPr sz="1300" dirty="0">
                <a:solidFill>
                  <a:srgbClr val="111111"/>
                </a:solidFill>
                <a:latin typeface="Consolas"/>
              </a:rPr>
              <a:t> JSON" &lt; data.csv &gt; </a:t>
            </a:r>
            <a:r>
              <a:rPr sz="1300" dirty="0" err="1">
                <a:solidFill>
                  <a:srgbClr val="111111"/>
                </a:solidFill>
                <a:latin typeface="Consolas"/>
              </a:rPr>
              <a:t>data.json</a:t>
            </a:r>
            <a:endParaRPr sz="1300" dirty="0">
              <a:solidFill>
                <a:srgbClr val="111111"/>
              </a:solidFill>
              <a:latin typeface="Consolas"/>
            </a:endParaRPr>
          </a:p>
          <a:p>
            <a:pPr algn="l">
              <a:lnSpc>
                <a:spcPct val="130000"/>
              </a:lnSpc>
            </a:pPr>
            <a:endParaRPr sz="1300" dirty="0">
              <a:solidFill>
                <a:srgbClr val="111111"/>
              </a:solidFill>
              <a:latin typeface="Consolas"/>
            </a:endParaRPr>
          </a:p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111111"/>
                </a:solidFill>
                <a:latin typeface="Consolas"/>
              </a:rPr>
              <a:t># 4. 套 prompt </a:t>
            </a:r>
            <a:r>
              <a:rPr sz="1300" dirty="0" err="1">
                <a:solidFill>
                  <a:srgbClr val="111111"/>
                </a:solidFill>
                <a:latin typeface="Consolas"/>
              </a:rPr>
              <a:t>模板</a:t>
            </a:r>
            <a:endParaRPr sz="1300" dirty="0">
              <a:solidFill>
                <a:srgbClr val="111111"/>
              </a:solidFill>
              <a:latin typeface="Consolas"/>
            </a:endParaRPr>
          </a:p>
          <a:p>
            <a:pPr algn="l">
              <a:lnSpc>
                <a:spcPct val="130000"/>
              </a:lnSpc>
            </a:pPr>
            <a:r>
              <a:rPr sz="1300" dirty="0" err="1">
                <a:solidFill>
                  <a:srgbClr val="111111"/>
                </a:solidFill>
                <a:latin typeface="Consolas"/>
              </a:rPr>
              <a:t>gemini</a:t>
            </a:r>
            <a:r>
              <a:rPr sz="1300" dirty="0">
                <a:solidFill>
                  <a:srgbClr val="111111"/>
                </a:solidFill>
                <a:latin typeface="Consolas"/>
              </a:rPr>
              <a:t> "</a:t>
            </a:r>
            <a:r>
              <a:rPr sz="1300" dirty="0" err="1">
                <a:solidFill>
                  <a:srgbClr val="111111"/>
                </a:solidFill>
                <a:latin typeface="Consolas"/>
              </a:rPr>
              <a:t>你是編輯</a:t>
            </a:r>
            <a:r>
              <a:rPr sz="1300" dirty="0">
                <a:solidFill>
                  <a:srgbClr val="111111"/>
                </a:solidFill>
                <a:latin typeface="Consolas"/>
              </a:rPr>
              <a:t>(R)，</a:t>
            </a:r>
            <a:r>
              <a:rPr sz="1300" dirty="0" err="1">
                <a:solidFill>
                  <a:srgbClr val="111111"/>
                </a:solidFill>
                <a:latin typeface="Consolas"/>
              </a:rPr>
              <a:t>用五</a:t>
            </a:r>
            <a:r>
              <a:rPr lang="zh-TW" altLang="en-US" sz="1300" dirty="0">
                <a:solidFill>
                  <a:srgbClr val="111111"/>
                </a:solidFill>
                <a:latin typeface="Consolas"/>
              </a:rPr>
              <a:t>要格式</a:t>
            </a:r>
            <a:r>
              <a:rPr sz="1300" dirty="0">
                <a:solidFill>
                  <a:srgbClr val="111111"/>
                </a:solidFill>
                <a:latin typeface="Consolas"/>
              </a:rPr>
              <a:t>(K)</a:t>
            </a:r>
            <a:r>
              <a:rPr sz="1300" dirty="0" err="1">
                <a:solidFill>
                  <a:srgbClr val="111111"/>
                </a:solidFill>
                <a:latin typeface="Consolas"/>
              </a:rPr>
              <a:t>摘要</a:t>
            </a:r>
            <a:r>
              <a:rPr sz="1300" dirty="0">
                <a:solidFill>
                  <a:srgbClr val="111111"/>
                </a:solidFill>
                <a:latin typeface="Consolas"/>
              </a:rPr>
              <a:t>：$(cat input.txt)"</a:t>
            </a:r>
          </a:p>
          <a:p>
            <a:pPr algn="l">
              <a:lnSpc>
                <a:spcPct val="130000"/>
              </a:lnSpc>
            </a:pPr>
            <a:endParaRPr sz="1300" dirty="0">
              <a:solidFill>
                <a:srgbClr val="111111"/>
              </a:solidFill>
              <a:latin typeface="Consolas"/>
            </a:endParaRPr>
          </a:p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111111"/>
                </a:solidFill>
                <a:latin typeface="Consolas"/>
              </a:rPr>
              <a:t># 5. L3 </a:t>
            </a:r>
            <a:r>
              <a:rPr sz="1300" dirty="0" err="1">
                <a:solidFill>
                  <a:srgbClr val="111111"/>
                </a:solidFill>
                <a:latin typeface="Consolas"/>
              </a:rPr>
              <a:t>鏈式（前一步</a:t>
            </a:r>
            <a:r>
              <a:rPr sz="1300" dirty="0">
                <a:solidFill>
                  <a:srgbClr val="111111"/>
                </a:solidFill>
                <a:latin typeface="Consolas"/>
              </a:rPr>
              <a:t> | </a:t>
            </a:r>
            <a:r>
              <a:rPr sz="1300" dirty="0" err="1">
                <a:solidFill>
                  <a:srgbClr val="111111"/>
                </a:solidFill>
                <a:latin typeface="Consolas"/>
              </a:rPr>
              <a:t>後一步</a:t>
            </a:r>
            <a:r>
              <a:rPr sz="1300" dirty="0">
                <a:solidFill>
                  <a:srgbClr val="111111"/>
                </a:solidFill>
                <a:latin typeface="Consolas"/>
              </a:rPr>
              <a:t>）</a:t>
            </a:r>
          </a:p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111111"/>
                </a:solidFill>
                <a:latin typeface="Consolas"/>
              </a:rPr>
              <a:t>cat news.txt | </a:t>
            </a:r>
            <a:r>
              <a:rPr sz="1300" dirty="0" err="1">
                <a:solidFill>
                  <a:srgbClr val="111111"/>
                </a:solidFill>
                <a:latin typeface="Consolas"/>
              </a:rPr>
              <a:t>gemini</a:t>
            </a:r>
            <a:r>
              <a:rPr sz="1300" dirty="0">
                <a:solidFill>
                  <a:srgbClr val="111111"/>
                </a:solidFill>
                <a:latin typeface="Consolas"/>
              </a:rPr>
              <a:t> "</a:t>
            </a:r>
            <a:r>
              <a:rPr sz="1300" dirty="0" err="1">
                <a:solidFill>
                  <a:srgbClr val="111111"/>
                </a:solidFill>
                <a:latin typeface="Consolas"/>
              </a:rPr>
              <a:t>摘要</a:t>
            </a:r>
            <a:r>
              <a:rPr sz="1300" dirty="0">
                <a:solidFill>
                  <a:srgbClr val="111111"/>
                </a:solidFill>
                <a:latin typeface="Consolas"/>
              </a:rPr>
              <a:t>" | </a:t>
            </a:r>
            <a:r>
              <a:rPr sz="1300" dirty="0" err="1">
                <a:solidFill>
                  <a:srgbClr val="111111"/>
                </a:solidFill>
                <a:latin typeface="Consolas"/>
              </a:rPr>
              <a:t>gemini</a:t>
            </a:r>
            <a:r>
              <a:rPr sz="1300" dirty="0">
                <a:solidFill>
                  <a:srgbClr val="111111"/>
                </a:solidFill>
                <a:latin typeface="Consolas"/>
              </a:rPr>
              <a:t> "</a:t>
            </a:r>
            <a:r>
              <a:rPr sz="1300" dirty="0" err="1">
                <a:solidFill>
                  <a:srgbClr val="111111"/>
                </a:solidFill>
                <a:latin typeface="Consolas"/>
              </a:rPr>
              <a:t>翻成英文</a:t>
            </a:r>
            <a:r>
              <a:rPr sz="1300" dirty="0">
                <a:solidFill>
                  <a:srgbClr val="111111"/>
                </a:solidFill>
                <a:latin typeface="Consolas"/>
              </a:rPr>
              <a:t>"</a:t>
            </a:r>
          </a:p>
          <a:p>
            <a:pPr algn="l">
              <a:lnSpc>
                <a:spcPct val="130000"/>
              </a:lnSpc>
            </a:pPr>
            <a:endParaRPr sz="1300" dirty="0">
              <a:solidFill>
                <a:srgbClr val="111111"/>
              </a:solidFill>
              <a:latin typeface="Consolas"/>
            </a:endParaRPr>
          </a:p>
          <a:p>
            <a:pPr algn="l">
              <a:lnSpc>
                <a:spcPct val="130000"/>
              </a:lnSpc>
            </a:pPr>
            <a:r>
              <a:rPr sz="1300" dirty="0">
                <a:solidFill>
                  <a:srgbClr val="111111"/>
                </a:solidFill>
                <a:latin typeface="Consolas"/>
              </a:rPr>
              <a:t># </a:t>
            </a:r>
            <a:r>
              <a:rPr sz="1300" dirty="0" err="1">
                <a:solidFill>
                  <a:srgbClr val="111111"/>
                </a:solidFill>
                <a:latin typeface="Consolas"/>
              </a:rPr>
              <a:t>進階：互動模式</a:t>
            </a:r>
            <a:endParaRPr sz="1300" dirty="0">
              <a:solidFill>
                <a:srgbClr val="111111"/>
              </a:solidFill>
              <a:latin typeface="Consolas"/>
            </a:endParaRPr>
          </a:p>
          <a:p>
            <a:pPr algn="l">
              <a:lnSpc>
                <a:spcPct val="130000"/>
              </a:lnSpc>
            </a:pPr>
            <a:r>
              <a:rPr sz="1300" dirty="0" err="1">
                <a:solidFill>
                  <a:srgbClr val="111111"/>
                </a:solidFill>
                <a:latin typeface="Consolas"/>
              </a:rPr>
              <a:t>gemini</a:t>
            </a:r>
            <a:endParaRPr sz="1300" dirty="0">
              <a:solidFill>
                <a:srgbClr val="111111"/>
              </a:solidFill>
              <a:latin typeface="Consola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42 / 58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18288" rIns="137160" bIns="18288" rtlCol="0" anchor="ctr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實作：為你的專案加一點自動化（三選一）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25146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A.   把你專案的核心功能寫成一行指令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     例：summarize.sh news.txt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B.   寫一個自動產測試資料的腳本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     例：gen_data.sh 10  → 產 10 筆假資料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52578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C.   寫一個「每天跑一次」的小工具（不實際排程）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5760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5897880"/>
            <a:ext cx="2743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006253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30" dirty="0">
                <a:solidFill>
                  <a:srgbClr val="111111"/>
                </a:solidFill>
                <a:latin typeface="Microsoft JhengHei"/>
              </a:rPr>
              <a:t>30 </a:t>
            </a:r>
            <a:r>
              <a:rPr sz="2200" b="1" spc="-30" dirty="0" err="1">
                <a:solidFill>
                  <a:srgbClr val="111111"/>
                </a:solidFill>
                <a:latin typeface="Microsoft JhengHei"/>
              </a:rPr>
              <a:t>分鐘</a:t>
            </a:r>
            <a:endParaRPr sz="2200" b="1" spc="-30" dirty="0">
              <a:solidFill>
                <a:srgbClr val="111111"/>
              </a:solidFill>
              <a:latin typeface="Microsoft JhengHei"/>
            </a:endParaRP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43 / 58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TOOL DECISION TREE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三工具決策樹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我想做一件事，選什麼工具？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2651760"/>
            <a:ext cx="9966960" cy="23774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Ins="274320" bIns="182880" rtlCol="0" anchor="ctr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├─  在瀏覽器、想測想法               →   AI Studio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├─  做有介面的東西                   →   Antigravity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├─  把重複的事自動化                 →   Gemini CLI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├─  超大專案 / 多人協作              →   Antigravity（多 agent）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└─  馬上用、不想安裝                 →   AI Studio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53949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請 2-3 位學員分享：「我今天三個工具用下來，最驚喜的是 ___」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44 / 58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RECAP + CP3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M4 小結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304288"/>
            <a:ext cx="106984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·  終端機 = 打字的瀏覽器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6974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2807208"/>
            <a:ext cx="106984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·  Gemini CLI = AI Studio 的無介面版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2004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310128"/>
            <a:ext cx="106984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·  同一套 STRIKE，三工具通用；CLI 最適合 L3 鏈式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3703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3813048"/>
            <a:ext cx="106984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·  CLI 是你之後做「每天自動跑」的基礎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20624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43891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CHECKPOINT 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75488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400" b="1" spc="-40">
                <a:solidFill>
                  <a:srgbClr val="111111"/>
                </a:solidFill>
                <a:latin typeface="Microsoft JhengHei"/>
              </a:rPr>
              <a:t>能對旁邊的人口述：這三個工具我各自會用來做什麼。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GEMINI CLI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45 / 58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MODULE M5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M5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148391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6000" b="1" spc="-350" dirty="0" err="1">
                <a:solidFill>
                  <a:srgbClr val="111111"/>
                </a:solidFill>
                <a:latin typeface="Microsoft JhengHei"/>
              </a:rPr>
              <a:t>最後一哩路</a:t>
            </a:r>
            <a:endParaRPr sz="6000" b="1" spc="-350" dirty="0">
              <a:solidFill>
                <a:srgbClr val="111111"/>
              </a:solidFill>
              <a:latin typeface="Microsoft Jheng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1463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部署  ·  成果展示  ·  行動計畫。</a:t>
            </a:r>
          </a:p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做出來不算數，能打開網址才算。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46 / 58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M5 · THREE-STEP DEPLOY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快速部署三步驟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把你的 Antigravity 專案丟上網。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651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2880360"/>
            <a:ext cx="914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50">
                <a:solidFill>
                  <a:srgbClr val="111111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834640"/>
            <a:ext cx="91440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程式碼 push 到 GitHub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3337560"/>
            <a:ext cx="914400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Antigravity 有內建 Git 按鈕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6576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886200"/>
            <a:ext cx="914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50">
                <a:solidFill>
                  <a:srgbClr val="111111"/>
                </a:solidFill>
                <a:latin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3840480"/>
            <a:ext cx="91440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去 Cloudflare Pages / Vercel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4343400"/>
            <a:ext cx="914400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登入 → Import Git Repo → 選你的 repo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6634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892040"/>
            <a:ext cx="914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50">
                <a:solidFill>
                  <a:srgbClr val="111111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4846320"/>
            <a:ext cx="91440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自動部署 → 取得公開網址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5349240"/>
            <a:ext cx="914400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三步驟搞定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講師現場示範一次（15 min）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47 / 58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18288" rIns="137160" bIns="18288" rtlCol="0" anchor="ctr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130">
                <a:solidFill>
                  <a:srgbClr val="111111"/>
                </a:solidFill>
                <a:latin typeface="Microsoft JhengHei"/>
              </a:rPr>
              <a:t>自由時間：選一個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25146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把專案部署上線（跟著講師做）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打磨你的專案（加最後一個小功能）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寫你的 30 天行動卡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跟旁邊的人 demo 彼此的專案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助教隨時支援。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5760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5897880"/>
            <a:ext cx="2743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30" dirty="0">
                <a:solidFill>
                  <a:srgbClr val="111111"/>
                </a:solidFill>
                <a:latin typeface="Microsoft JhengHei"/>
              </a:rPr>
              <a:t>15 </a:t>
            </a:r>
            <a:r>
              <a:rPr sz="2200" b="1" spc="-30" dirty="0" err="1">
                <a:solidFill>
                  <a:srgbClr val="111111"/>
                </a:solidFill>
                <a:latin typeface="Microsoft JhengHei"/>
              </a:rPr>
              <a:t>分鐘</a:t>
            </a:r>
            <a:endParaRPr sz="2200" b="1" spc="-30" dirty="0">
              <a:solidFill>
                <a:srgbClr val="111111"/>
              </a:solidFill>
              <a:latin typeface="Microsoft JhengHei"/>
            </a:endParaRP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48 / 58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SHOWCASE · 15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10698480" cy="10972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0" b="1" spc="-250">
                <a:solidFill>
                  <a:srgbClr val="111111"/>
                </a:solidFill>
                <a:latin typeface="Microsoft JhengHei"/>
              </a:rPr>
              <a:t>成果展示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自願者上台 3 分鐘。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6576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840480"/>
            <a:ext cx="8229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794760"/>
            <a:ext cx="7772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111111"/>
                </a:solidFill>
                <a:latin typeface="Microsoft JhengHei"/>
              </a:rPr>
              <a:t>你做了什麼？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3840480"/>
            <a:ext cx="1828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1 min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2976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480560"/>
            <a:ext cx="8229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434840"/>
            <a:ext cx="7772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 dirty="0" err="1">
                <a:solidFill>
                  <a:srgbClr val="111111"/>
                </a:solidFill>
                <a:latin typeface="Microsoft JhengHei"/>
              </a:rPr>
              <a:t>最大的</a:t>
            </a:r>
            <a:r>
              <a:rPr sz="2000" b="0" spc="-30" dirty="0">
                <a:solidFill>
                  <a:srgbClr val="111111"/>
                </a:solidFill>
                <a:latin typeface="Microsoft JhengHei"/>
              </a:rPr>
              <a:t> AHA moment </a:t>
            </a:r>
            <a:r>
              <a:rPr sz="2000" b="0" spc="-30" dirty="0" err="1">
                <a:solidFill>
                  <a:srgbClr val="111111"/>
                </a:solidFill>
                <a:latin typeface="Microsoft JhengHei"/>
              </a:rPr>
              <a:t>是哪個</a:t>
            </a:r>
            <a:r>
              <a:rPr sz="2000" b="0" spc="-30" dirty="0">
                <a:solidFill>
                  <a:srgbClr val="111111"/>
                </a:solidFill>
                <a:latin typeface="Microsoft JhengHei"/>
              </a:rPr>
              <a:t>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4480560"/>
            <a:ext cx="1828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1 min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" y="4937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5120640"/>
            <a:ext cx="8229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074920"/>
            <a:ext cx="7772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111111"/>
                </a:solidFill>
                <a:latin typeface="Microsoft JhengHei"/>
              </a:rPr>
              <a:t>下一步你想做什麼？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5120640"/>
            <a:ext cx="1828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1 min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49 / 58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M5 · 30-DAY ACTION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30 天行動卡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回去之後，每週做一件事。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06040"/>
            <a:ext cx="5212080" cy="1691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7889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WEEK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63240"/>
            <a:ext cx="457200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工具內化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74720"/>
            <a:ext cx="4754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今天的專案加一個新功能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749040"/>
            <a:ext cx="4754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用 STRIKE 六字訣跑一次全新任務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023359"/>
            <a:ext cx="4754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用 Gemini CLI 做一件以前手動的事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606040"/>
            <a:ext cx="5212080" cy="1691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60" y="27889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WEEK 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063240"/>
            <a:ext cx="457200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新專案啟動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3474720"/>
            <a:ext cx="4754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找一個新痛點（跑物理量四問）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3749040"/>
            <a:ext cx="4754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用 AI Studio 寫新專案 PRD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4023359"/>
            <a:ext cx="4754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在 Antigravity 做出原型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434840"/>
            <a:ext cx="5212080" cy="1691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46177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WEEK 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892040"/>
            <a:ext cx="457200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分享 &amp; 回饋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303520"/>
            <a:ext cx="4754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把一個專案上線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577840"/>
            <a:ext cx="4754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找 1 位朋友用、收 3 點回饋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852159"/>
            <a:ext cx="4754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依回饋改一個功能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4434840"/>
            <a:ext cx="5212080" cy="1691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37960" y="46177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WEEK 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4892040"/>
            <a:ext cx="457200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沉澱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5303520"/>
            <a:ext cx="4754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寫筆記：三工具我各自什麼時候用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5577840"/>
            <a:ext cx="4754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寫一個「每天自動跑」CLI 腳本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5852159"/>
            <a:ext cx="4754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想：下個月我想做什麼？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50 / 58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M5 · WHAT YOU'RE TAKING HOME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今天你帶走了什麼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304288"/>
            <a:ext cx="914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286000"/>
            <a:ext cx="96012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一個可運行的小專案（選修已上線）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1520" y="26974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31520" y="2807208"/>
            <a:ext cx="914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88920"/>
            <a:ext cx="96012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你的 PRD（存在 Notion / HackMD）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32004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3310128"/>
            <a:ext cx="914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291840"/>
            <a:ext cx="96012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STRIKE 速查卡 + 追問三指令小卡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3703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3813048"/>
            <a:ext cx="914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794760"/>
            <a:ext cx="96012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工具選擇決策樹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1520" y="42062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31520" y="4315968"/>
            <a:ext cx="914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297680"/>
            <a:ext cx="96012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痛點物理量檢驗單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31520" y="4709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1520" y="4818888"/>
            <a:ext cx="914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00600"/>
            <a:ext cx="96012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30 天行動卡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31520" y="548640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31520" y="5669280"/>
            <a:ext cx="1069848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+  最重要的：你知道自己做得到。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51 / 58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1069848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800" b="0" spc="-50">
                <a:solidFill>
                  <a:srgbClr val="8A8A8A"/>
                </a:solidFill>
                <a:latin typeface="Microsoft JhengHei"/>
              </a:rPr>
              <a:t>AI 時代的贏家，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1069848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400" b="0" spc="-100">
                <a:solidFill>
                  <a:srgbClr val="111111"/>
                </a:solidFill>
                <a:latin typeface="Microsoft JhengHei"/>
              </a:rPr>
              <a:t>不是最會寫程式的人，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17520"/>
            <a:ext cx="1069848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400" b="0" spc="-100">
                <a:solidFill>
                  <a:srgbClr val="111111"/>
                </a:solidFill>
                <a:latin typeface="Microsoft JhengHei"/>
              </a:rPr>
              <a:t>不是最會用工具的人。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00400" y="3931920"/>
            <a:ext cx="576072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406908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而是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6607" y="441198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5000" b="1" spc="-180" dirty="0" err="1">
                <a:solidFill>
                  <a:srgbClr val="111111"/>
                </a:solidFill>
                <a:latin typeface="Microsoft JhengHei"/>
              </a:rPr>
              <a:t>最會定義問題的人</a:t>
            </a:r>
            <a:r>
              <a:rPr sz="5000" b="1" spc="-180" dirty="0">
                <a:solidFill>
                  <a:srgbClr val="111111"/>
                </a:solidFill>
                <a:latin typeface="Microsoft JhengHei"/>
              </a:rPr>
              <a:t>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518922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5000" b="1" spc="-180" dirty="0" err="1">
                <a:solidFill>
                  <a:srgbClr val="111111"/>
                </a:solidFill>
                <a:latin typeface="Microsoft JhengHei"/>
              </a:rPr>
              <a:t>能讓</a:t>
            </a:r>
            <a:r>
              <a:rPr sz="5000" b="1" spc="-180" dirty="0">
                <a:solidFill>
                  <a:srgbClr val="111111"/>
                </a:solidFill>
                <a:latin typeface="Microsoft JhengHei"/>
              </a:rPr>
              <a:t> AI </a:t>
            </a:r>
            <a:r>
              <a:rPr sz="5000" b="1" spc="-180" dirty="0" err="1">
                <a:solidFill>
                  <a:srgbClr val="111111"/>
                </a:solidFill>
                <a:latin typeface="Microsoft JhengHei"/>
              </a:rPr>
              <a:t>幫你解題的人</a:t>
            </a:r>
            <a:r>
              <a:rPr sz="5000" b="1" spc="-180" dirty="0">
                <a:solidFill>
                  <a:srgbClr val="111111"/>
                </a:solidFill>
                <a:latin typeface="Microsoft JhengHei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── 你今天已經跨出那一步。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52 / 58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62940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047923" y="662940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095847" y="662940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143771" y="662940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11887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THANK YOU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737360"/>
            <a:ext cx="10698480" cy="10972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6400" b="1" spc="-250">
                <a:solidFill>
                  <a:srgbClr val="111111"/>
                </a:solidFill>
                <a:latin typeface="Microsoft JhengHei"/>
              </a:rPr>
              <a:t>感謝你今天的一天。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743200" y="3383280"/>
            <a:ext cx="66751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3566160"/>
            <a:ext cx="106984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NEXT STEPS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023360"/>
            <a:ext cx="10698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spc="100">
                <a:solidFill>
                  <a:srgbClr val="111111"/>
                </a:solidFill>
                <a:latin typeface="Consolas"/>
              </a:rPr>
              <a:t>[ 你的 email 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434840"/>
            <a:ext cx="10698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spc="100">
                <a:solidFill>
                  <a:srgbClr val="111111"/>
                </a:solidFill>
                <a:latin typeface="Consolas"/>
              </a:rPr>
              <a:t>[ 學員社群 LINE / Discord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846320"/>
            <a:ext cx="10698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spc="100">
                <a:solidFill>
                  <a:srgbClr val="111111"/>
                </a:solidFill>
                <a:latin typeface="Consolas"/>
              </a:rPr>
              <a:t>[ 課程網頁 / 你的 Notion ]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743200" y="5486400"/>
            <a:ext cx="66751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下一場工作坊：Vibe Coding 進階  ·  部署實戰  ·  商業化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126480"/>
            <a:ext cx="10698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0" spc="-20">
                <a:solidFill>
                  <a:srgbClr val="3A3A3A"/>
                </a:solidFill>
                <a:latin typeface="Microsoft JhengHei"/>
              </a:rPr>
              <a:t>合照時間  📸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附錄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2801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0" b="1" spc="-250">
                <a:solidFill>
                  <a:srgbClr val="111111"/>
                </a:solidFill>
                <a:latin typeface="Microsoft JhengHei"/>
              </a:rPr>
              <a:t>三個備選 Demo 專案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20">
                <a:solidFill>
                  <a:srgbClr val="3A3A3A"/>
                </a:solidFill>
                <a:latin typeface="Microsoft JhengHei"/>
              </a:rPr>
              <a:t>講師 M3 現場 Demo 三選一  ·  學員選題亦可參考。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80560"/>
            <a:ext cx="109728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10">
                <a:solidFill>
                  <a:srgbClr val="8A8A8A"/>
                </a:solidFill>
                <a:latin typeface="Microsoft JhengHei"/>
              </a:rPr>
              <a:t>共同特徵：免費額度充裕  ·  介面單頁  ·  2 小時內可完成原型。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APPENDIX · DEMO CANDIDATES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54 / 58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DEMO A · NEWS SUMMARIZER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每日新聞 / 電子報 AI 摘要助手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8A8A8A"/>
                </a:solidFill>
                <a:latin typeface="Microsoft JhengHei"/>
              </a:rPr>
              <a:t>銜接性最佳的首選（教案原生示範）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5146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31520" y="267919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18288" rIns="137160" bIns="18288" rtlCol="0" anchor="ctr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AI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2679192"/>
            <a:ext cx="868680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寫 STRIKE prompt：新聞全文 → 3 點重點 + 關注角度 + 偏見提醒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2918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31520" y="345643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18288" rIns="137160" bIns="18288" rtlCol="0" anchor="ctr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ANTIGRAVITY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456432"/>
            <a:ext cx="868680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單頁網頁：貼新聞 → 按鈕 → 摘要卡片（可匯出 Markdown）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40690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1520" y="423367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18288" rIns="137160" bIns="18288" rtlCol="0" anchor="ctr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GEMINI 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4233672"/>
            <a:ext cx="868680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cat news.txt | gemini "摘要" | gemini "翻成英文"（L3 鏈式）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489204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502920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WHY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94960"/>
            <a:ext cx="10698480" cy="10058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教案 S16、S33 現成材料；Gemini 免費純文字額度綽綽有餘；L3 鏈式天然銜接 M4 CLI；30 人同時跑無壓力。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APPENDIX · DEMO CANDIDATES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55 / 58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DEMO B · MEETING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會議逐字稿 → 結構化會議紀錄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8A8A8A"/>
                </a:solidFill>
                <a:latin typeface="Microsoft JhengHei"/>
              </a:rPr>
              <a:t>上班族 AHA 最強、專業感最高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5146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31520" y="267919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18288" rIns="137160" bIns="18288" rtlCol="0" anchor="ctr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AI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2679192"/>
            <a:ext cx="868680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測 prompt：逐字稿 → 摘要 / 決議 / 待辦（含負責人）/ 未解議題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2918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31520" y="345643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18288" rIns="137160" bIns="18288" rtlCol="0" anchor="ctr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ANTIGRAVITY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456432"/>
            <a:ext cx="868680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網頁：貼逐字稿 → 產 Markdown 會議紀錄，一鍵複製到 Notion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40690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1520" y="423367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18288" rIns="137160" bIns="18288" rtlCol="0" anchor="ctr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GEMINI 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4233672"/>
            <a:ext cx="868680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批次處理多場會議：for f in meetings/*.txt; do gemini &lt; $f; done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489204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502920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WHY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94960"/>
            <a:ext cx="10698480" cy="10058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產出物可直接在公司用；對應 M2 [S16] 的對比範例；AHA 情緒曲線最強；只需準備 1-2 份逐字稿素材。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APPENDIX · DEMO CANDIDATES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56 / 58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DEMO C · PANTRY CHEF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冰箱食材 → 今晚煮什麼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8A8A8A"/>
                </a:solidFill>
                <a:latin typeface="Microsoft JhengHei"/>
              </a:rPr>
              <a:t>最生活化、最輕鬆，適合下午氣氛放鬆時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5146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31520" y="267919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18288" rIns="137160" bIns="18288" rtlCol="0" anchor="ctr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AI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2679192"/>
            <a:ext cx="868680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測 prompt：食材清單 + 口味偏好 → 3 道菜建議 + 步驟 + 缺什麼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2918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31520" y="345643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18288" rIns="137160" bIns="18288" rtlCol="0" anchor="ctr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ANTIGRAVITY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456432"/>
            <a:ext cx="868680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網頁：食材 checkbox + 時間限制 + 口味 → 食譜卡片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40690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1520" y="423367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18288" rIns="137160" bIns="18288" rtlCol="0" anchor="ctr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GEMINI 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4233672"/>
            <a:ext cx="868680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gemini "今晚煮什麼" --pantry fridge.txt（可定時每天 17:00 跑）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489204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502920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WHY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94960"/>
            <a:ext cx="10698480" cy="10058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情境輕鬆，學員放鬆；現場可問「你冰箱有什麼？」互動感強；token 消耗極低；最貼近生活第 3 點需求。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APPENDIX · DEMO CANDIDATES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57 / 58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APPENDIX ·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備選 Demo 比較速查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286000"/>
            <a:ext cx="21945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專案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286000"/>
            <a:ext cx="13716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專業性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286000"/>
            <a:ext cx="13716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生活化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286000"/>
            <a:ext cx="14630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免費額度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286000"/>
            <a:ext cx="13716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銜接性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286000"/>
            <a:ext cx="29260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建議用途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27432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3108960"/>
            <a:ext cx="21945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spc="-20">
                <a:solidFill>
                  <a:srgbClr val="111111"/>
                </a:solidFill>
                <a:latin typeface="Microsoft JhengHei"/>
              </a:rPr>
              <a:t>A  新聞摘要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108960"/>
            <a:ext cx="13716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108960"/>
            <a:ext cx="13716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3108960"/>
            <a:ext cx="146304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3108960"/>
            <a:ext cx="13716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3108960"/>
            <a:ext cx="2926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講師主 Demo（推薦）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31520" y="3703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31520" y="4023360"/>
            <a:ext cx="21945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spc="-20">
                <a:solidFill>
                  <a:srgbClr val="111111"/>
                </a:solidFill>
                <a:latin typeface="Microsoft JhengHei"/>
              </a:rPr>
              <a:t>B  會議紀錄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4023360"/>
            <a:ext cx="13716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4023360"/>
            <a:ext cx="13716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4023360"/>
            <a:ext cx="146304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4023360"/>
            <a:ext cx="13716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4023360"/>
            <a:ext cx="2926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學員選題（上班族）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31520" y="4617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31520" y="4937760"/>
            <a:ext cx="21945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spc="-20">
                <a:solidFill>
                  <a:srgbClr val="111111"/>
                </a:solidFill>
                <a:latin typeface="Microsoft JhengHei"/>
              </a:rPr>
              <a:t>C  冰箱食材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4937760"/>
            <a:ext cx="13716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4937760"/>
            <a:ext cx="13716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0" y="4937760"/>
            <a:ext cx="146304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0" y="4937760"/>
            <a:ext cx="13716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4937760"/>
            <a:ext cx="2926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下午氣氛放鬆備案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31520" y="55321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1" spc="-30">
                <a:solidFill>
                  <a:srgbClr val="111111"/>
                </a:solidFill>
                <a:latin typeface="Microsoft JhengHei"/>
              </a:rPr>
              <a:t>我的建議：主 Demo 用 A 新聞摘要，備案 C 冰箱食材應付氣氛變化。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APPENDIX · DEMO CANDIDATES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58 / 58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</TotalTime>
  <Words>2937</Words>
  <Application>Microsoft Office PowerPoint</Application>
  <PresentationFormat>寬螢幕</PresentationFormat>
  <Paragraphs>792</Paragraphs>
  <Slides>58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58</vt:i4>
      </vt:variant>
    </vt:vector>
  </HeadingPairs>
  <TitlesOfParts>
    <vt:vector size="64" baseType="lpstr">
      <vt:lpstr>微軟正黑體</vt:lpstr>
      <vt:lpstr>微軟正黑體</vt:lpstr>
      <vt:lpstr>Arial</vt:lpstr>
      <vt:lpstr>Calibri</vt:lpstr>
      <vt:lpstr>Consolas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陳冠瑋(KuanWei Chen)</cp:lastModifiedBy>
  <cp:revision>6</cp:revision>
  <dcterms:created xsi:type="dcterms:W3CDTF">2013-01-27T09:14:16Z</dcterms:created>
  <dcterms:modified xsi:type="dcterms:W3CDTF">2026-05-03T02:38:54Z</dcterms:modified>
  <cp:category/>
</cp:coreProperties>
</file>